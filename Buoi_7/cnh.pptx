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304" r:id="rId2"/>
    <p:sldId id="256" r:id="rId3"/>
    <p:sldId id="295" r:id="rId4"/>
    <p:sldId id="258" r:id="rId5"/>
    <p:sldId id="259" r:id="rId6"/>
    <p:sldId id="260" r:id="rId7"/>
    <p:sldId id="296" r:id="rId8"/>
    <p:sldId id="261" r:id="rId9"/>
    <p:sldId id="279" r:id="rId10"/>
    <p:sldId id="280" r:id="rId11"/>
    <p:sldId id="281" r:id="rId12"/>
    <p:sldId id="282" r:id="rId13"/>
    <p:sldId id="284" r:id="rId14"/>
    <p:sldId id="297" r:id="rId15"/>
    <p:sldId id="285" r:id="rId16"/>
    <p:sldId id="298" r:id="rId17"/>
    <p:sldId id="286" r:id="rId18"/>
    <p:sldId id="299" r:id="rId19"/>
    <p:sldId id="288" r:id="rId20"/>
    <p:sldId id="300" r:id="rId21"/>
    <p:sldId id="301" r:id="rId22"/>
    <p:sldId id="302" r:id="rId23"/>
    <p:sldId id="303" r:id="rId24"/>
    <p:sldId id="289" r:id="rId25"/>
    <p:sldId id="290" r:id="rId26"/>
    <p:sldId id="291" r:id="rId27"/>
    <p:sldId id="292"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279" autoAdjust="0"/>
    <p:restoredTop sz="94660"/>
  </p:normalViewPr>
  <p:slideViewPr>
    <p:cSldViewPr>
      <p:cViewPr varScale="1">
        <p:scale>
          <a:sx n="65" d="100"/>
          <a:sy n="65" d="100"/>
        </p:scale>
        <p:origin x="1386"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file:///C:\Users\vaio\Desktop\Elasticity.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vaio\Desktop\Elasticity.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vaio\Desktop\Pro-poor\Th&#7847;y%20B&#7843;o\POOR_GROWTH.xls"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849731769558416E-2"/>
          <c:y val="2.9955034095143478E-2"/>
          <c:w val="0.91341284337756257"/>
          <c:h val="0.94008993180971301"/>
        </c:manualLayout>
      </c:layout>
      <c:scatterChart>
        <c:scatterStyle val="lineMarker"/>
        <c:varyColors val="0"/>
        <c:ser>
          <c:idx val="1"/>
          <c:order val="1"/>
          <c:xVal>
            <c:numRef>
              <c:f>P0!$K$71:$K$72</c:f>
              <c:numCache>
                <c:formatCode>General</c:formatCode>
                <c:ptCount val="2"/>
                <c:pt idx="0">
                  <c:v>5</c:v>
                </c:pt>
                <c:pt idx="1">
                  <c:v>40</c:v>
                </c:pt>
              </c:numCache>
            </c:numRef>
          </c:xVal>
          <c:yVal>
            <c:numRef>
              <c:f>P0!$L$71:$L$72</c:f>
              <c:numCache>
                <c:formatCode>0.0</c:formatCode>
                <c:ptCount val="2"/>
                <c:pt idx="0">
                  <c:v>-2.0008164549697067</c:v>
                </c:pt>
                <c:pt idx="1">
                  <c:v>-2.0008164549697067</c:v>
                </c:pt>
              </c:numCache>
            </c:numRef>
          </c:yVal>
          <c:smooth val="0"/>
          <c:extLst>
            <c:ext xmlns:c16="http://schemas.microsoft.com/office/drawing/2014/chart" uri="{C3380CC4-5D6E-409C-BE32-E72D297353CC}">
              <c16:uniqueId val="{00000000-9DD2-4A08-93FE-C1A3ADE0B54A}"/>
            </c:ext>
          </c:extLst>
        </c:ser>
        <c:ser>
          <c:idx val="2"/>
          <c:order val="2"/>
          <c:xVal>
            <c:numRef>
              <c:f>P0!$I$71:$I$72</c:f>
              <c:numCache>
                <c:formatCode>General</c:formatCode>
                <c:ptCount val="2"/>
                <c:pt idx="0">
                  <c:v>24.4</c:v>
                </c:pt>
                <c:pt idx="1">
                  <c:v>24.4</c:v>
                </c:pt>
              </c:numCache>
            </c:numRef>
          </c:xVal>
          <c:yVal>
            <c:numRef>
              <c:f>P0!$J$71:$J$72</c:f>
              <c:numCache>
                <c:formatCode>General</c:formatCode>
                <c:ptCount val="2"/>
                <c:pt idx="0">
                  <c:v>-10</c:v>
                </c:pt>
                <c:pt idx="1">
                  <c:v>8</c:v>
                </c:pt>
              </c:numCache>
            </c:numRef>
          </c:yVal>
          <c:smooth val="0"/>
          <c:extLst>
            <c:ext xmlns:c16="http://schemas.microsoft.com/office/drawing/2014/chart" uri="{C3380CC4-5D6E-409C-BE32-E72D297353CC}">
              <c16:uniqueId val="{00000001-9DD2-4A08-93FE-C1A3ADE0B54A}"/>
            </c:ext>
          </c:extLst>
        </c:ser>
        <c:ser>
          <c:idx val="0"/>
          <c:order val="0"/>
          <c:spPr>
            <a:ln w="28575">
              <a:noFill/>
            </a:ln>
          </c:spPr>
          <c:dLbls>
            <c:dLbl>
              <c:idx val="0"/>
              <c:tx>
                <c:rich>
                  <a:bodyPr/>
                  <a:lstStyle/>
                  <a:p>
                    <a:r>
                      <a:rPr lang="en-US" sz="800" baseline="0"/>
                      <a:t>Hà Nội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DD2-4A08-93FE-C1A3ADE0B54A}"/>
                </c:ext>
              </c:extLst>
            </c:dLbl>
            <c:dLbl>
              <c:idx val="1"/>
              <c:tx>
                <c:rich>
                  <a:bodyPr/>
                  <a:lstStyle/>
                  <a:p>
                    <a:r>
                      <a:rPr lang="en-US" sz="800" baseline="0"/>
                      <a:t>Vĩnh Phúc</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DD2-4A08-93FE-C1A3ADE0B54A}"/>
                </c:ext>
              </c:extLst>
            </c:dLbl>
            <c:dLbl>
              <c:idx val="2"/>
              <c:tx>
                <c:rich>
                  <a:bodyPr/>
                  <a:lstStyle/>
                  <a:p>
                    <a:r>
                      <a:rPr lang="en-US" sz="800" baseline="0"/>
                      <a:t>Quảng Ninh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DD2-4A08-93FE-C1A3ADE0B54A}"/>
                </c:ext>
              </c:extLst>
            </c:dLbl>
            <c:dLbl>
              <c:idx val="3"/>
              <c:tx>
                <c:rich>
                  <a:bodyPr/>
                  <a:lstStyle/>
                  <a:p>
                    <a:r>
                      <a:rPr lang="vi-VN" sz="800" baseline="0"/>
                      <a:t>Hải Dương</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DD2-4A08-93FE-C1A3ADE0B54A}"/>
                </c:ext>
              </c:extLst>
            </c:dLbl>
            <c:dLbl>
              <c:idx val="4"/>
              <c:tx>
                <c:rich>
                  <a:bodyPr/>
                  <a:lstStyle/>
                  <a:p>
                    <a:r>
                      <a:rPr lang="en-US" sz="800" baseline="0"/>
                      <a:t>Hải Phòng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DD2-4A08-93FE-C1A3ADE0B54A}"/>
                </c:ext>
              </c:extLst>
            </c:dLbl>
            <c:dLbl>
              <c:idx val="5"/>
              <c:tx>
                <c:rich>
                  <a:bodyPr/>
                  <a:lstStyle/>
                  <a:p>
                    <a:r>
                      <a:rPr lang="vi-VN" sz="800" baseline="0"/>
                      <a:t>Hưng Yên</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DD2-4A08-93FE-C1A3ADE0B54A}"/>
                </c:ext>
              </c:extLst>
            </c:dLbl>
            <c:dLbl>
              <c:idx val="6"/>
              <c:tx>
                <c:rich>
                  <a:bodyPr/>
                  <a:lstStyle/>
                  <a:p>
                    <a:r>
                      <a:rPr lang="en-US" sz="800" baseline="0"/>
                      <a:t>Thái Bình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DD2-4A08-93FE-C1A3ADE0B54A}"/>
                </c:ext>
              </c:extLst>
            </c:dLbl>
            <c:dLbl>
              <c:idx val="7"/>
              <c:tx>
                <c:rich>
                  <a:bodyPr/>
                  <a:lstStyle/>
                  <a:p>
                    <a:r>
                      <a:rPr lang="en-US" sz="800" baseline="0"/>
                      <a:t>Hà Nam</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DD2-4A08-93FE-C1A3ADE0B54A}"/>
                </c:ext>
              </c:extLst>
            </c:dLbl>
            <c:dLbl>
              <c:idx val="8"/>
              <c:tx>
                <c:rich>
                  <a:bodyPr/>
                  <a:lstStyle/>
                  <a:p>
                    <a:r>
                      <a:rPr lang="en-US" sz="800" baseline="0"/>
                      <a:t>Nam Định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DD2-4A08-93FE-C1A3ADE0B54A}"/>
                </c:ext>
              </c:extLst>
            </c:dLbl>
            <c:dLbl>
              <c:idx val="9"/>
              <c:tx>
                <c:rich>
                  <a:bodyPr/>
                  <a:lstStyle/>
                  <a:p>
                    <a:r>
                      <a:rPr lang="en-US" sz="800" baseline="0"/>
                      <a:t>Ninh Bình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DD2-4A08-93FE-C1A3ADE0B54A}"/>
                </c:ext>
              </c:extLst>
            </c:dLbl>
            <c:dLbl>
              <c:idx val="10"/>
              <c:tx>
                <c:rich>
                  <a:bodyPr/>
                  <a:lstStyle/>
                  <a:p>
                    <a:r>
                      <a:rPr lang="en-US" sz="800" baseline="0"/>
                      <a:t>Hà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9DD2-4A08-93FE-C1A3ADE0B54A}"/>
                </c:ext>
              </c:extLst>
            </c:dLbl>
            <c:dLbl>
              <c:idx val="11"/>
              <c:tx>
                <c:rich>
                  <a:bodyPr/>
                  <a:lstStyle/>
                  <a:p>
                    <a:r>
                      <a:rPr lang="en-US" sz="800" baseline="0"/>
                      <a:t>Cao Bằng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9DD2-4A08-93FE-C1A3ADE0B54A}"/>
                </c:ext>
              </c:extLst>
            </c:dLbl>
            <c:dLbl>
              <c:idx val="12"/>
              <c:tx>
                <c:rich>
                  <a:bodyPr/>
                  <a:lstStyle/>
                  <a:p>
                    <a:r>
                      <a:rPr lang="en-US" sz="800" baseline="0"/>
                      <a:t>Bắc Cạn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DD2-4A08-93FE-C1A3ADE0B54A}"/>
                </c:ext>
              </c:extLst>
            </c:dLbl>
            <c:dLbl>
              <c:idx val="13"/>
              <c:tx>
                <c:rich>
                  <a:bodyPr/>
                  <a:lstStyle/>
                  <a:p>
                    <a:r>
                      <a:rPr lang="en-US" sz="800" baseline="0"/>
                      <a:t>Tuyên Quang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9DD2-4A08-93FE-C1A3ADE0B54A}"/>
                </c:ext>
              </c:extLst>
            </c:dLbl>
            <c:dLbl>
              <c:idx val="14"/>
              <c:tx>
                <c:rich>
                  <a:bodyPr/>
                  <a:lstStyle/>
                  <a:p>
                    <a:r>
                      <a:rPr lang="en-US" sz="800" baseline="0"/>
                      <a:t>Lào Cai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9DD2-4A08-93FE-C1A3ADE0B54A}"/>
                </c:ext>
              </c:extLst>
            </c:dLbl>
            <c:dLbl>
              <c:idx val="15"/>
              <c:tx>
                <c:rich>
                  <a:bodyPr/>
                  <a:lstStyle/>
                  <a:p>
                    <a:r>
                      <a:rPr lang="en-US" sz="800" baseline="0"/>
                      <a:t>Yên Bái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9DD2-4A08-93FE-C1A3ADE0B54A}"/>
                </c:ext>
              </c:extLst>
            </c:dLbl>
            <c:dLbl>
              <c:idx val="16"/>
              <c:tx>
                <c:rich>
                  <a:bodyPr/>
                  <a:lstStyle/>
                  <a:p>
                    <a:r>
                      <a:rPr lang="en-US" sz="800" baseline="0"/>
                      <a:t>Thái Nguyên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9DD2-4A08-93FE-C1A3ADE0B54A}"/>
                </c:ext>
              </c:extLst>
            </c:dLbl>
            <c:dLbl>
              <c:idx val="17"/>
              <c:tx>
                <c:rich>
                  <a:bodyPr/>
                  <a:lstStyle/>
                  <a:p>
                    <a:r>
                      <a:rPr lang="vi-VN" sz="800" baseline="0"/>
                      <a:t>Lạng Sơn</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9DD2-4A08-93FE-C1A3ADE0B54A}"/>
                </c:ext>
              </c:extLst>
            </c:dLbl>
            <c:dLbl>
              <c:idx val="18"/>
              <c:tx>
                <c:rich>
                  <a:bodyPr/>
                  <a:lstStyle/>
                  <a:p>
                    <a:r>
                      <a:rPr lang="en-US" sz="800" baseline="0"/>
                      <a:t>Bắc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9DD2-4A08-93FE-C1A3ADE0B54A}"/>
                </c:ext>
              </c:extLst>
            </c:dLbl>
            <c:dLbl>
              <c:idx val="19"/>
              <c:tx>
                <c:rich>
                  <a:bodyPr/>
                  <a:lstStyle/>
                  <a:p>
                    <a:r>
                      <a:rPr lang="en-US" sz="800" baseline="0"/>
                      <a:t>Phú Thọ</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9DD2-4A08-93FE-C1A3ADE0B54A}"/>
                </c:ext>
              </c:extLst>
            </c:dLbl>
            <c:dLbl>
              <c:idx val="20"/>
              <c:tx>
                <c:rich>
                  <a:bodyPr/>
                  <a:lstStyle/>
                  <a:p>
                    <a:r>
                      <a:rPr lang="en-US" sz="800" baseline="0"/>
                      <a:t>Điện Biên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9DD2-4A08-93FE-C1A3ADE0B54A}"/>
                </c:ext>
              </c:extLst>
            </c:dLbl>
            <c:dLbl>
              <c:idx val="21"/>
              <c:tx>
                <c:rich>
                  <a:bodyPr/>
                  <a:lstStyle/>
                  <a:p>
                    <a:r>
                      <a:rPr lang="en-US" sz="800" baseline="0"/>
                      <a:t>Lai Châu</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9DD2-4A08-93FE-C1A3ADE0B54A}"/>
                </c:ext>
              </c:extLst>
            </c:dLbl>
            <c:dLbl>
              <c:idx val="22"/>
              <c:tx>
                <c:rich>
                  <a:bodyPr/>
                  <a:lstStyle/>
                  <a:p>
                    <a:r>
                      <a:rPr lang="vi-VN" sz="800" baseline="0"/>
                      <a:t>Sơn La</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9DD2-4A08-93FE-C1A3ADE0B54A}"/>
                </c:ext>
              </c:extLst>
            </c:dLbl>
            <c:dLbl>
              <c:idx val="23"/>
              <c:tx>
                <c:rich>
                  <a:bodyPr/>
                  <a:lstStyle/>
                  <a:p>
                    <a:r>
                      <a:rPr lang="en-US" sz="800" baseline="0"/>
                      <a:t>Hòa Bình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9DD2-4A08-93FE-C1A3ADE0B54A}"/>
                </c:ext>
              </c:extLst>
            </c:dLbl>
            <c:dLbl>
              <c:idx val="24"/>
              <c:tx>
                <c:rich>
                  <a:bodyPr/>
                  <a:lstStyle/>
                  <a:p>
                    <a:r>
                      <a:rPr lang="en-US" sz="800" baseline="0"/>
                      <a:t>Thanh Hóa</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9DD2-4A08-93FE-C1A3ADE0B54A}"/>
                </c:ext>
              </c:extLst>
            </c:dLbl>
            <c:dLbl>
              <c:idx val="25"/>
              <c:tx>
                <c:rich>
                  <a:bodyPr/>
                  <a:lstStyle/>
                  <a:p>
                    <a:r>
                      <a:rPr lang="en-US" sz="800" baseline="0"/>
                      <a:t>Nghệ An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9DD2-4A08-93FE-C1A3ADE0B54A}"/>
                </c:ext>
              </c:extLst>
            </c:dLbl>
            <c:dLbl>
              <c:idx val="26"/>
              <c:tx>
                <c:rich>
                  <a:bodyPr/>
                  <a:lstStyle/>
                  <a:p>
                    <a:r>
                      <a:rPr lang="en-US" sz="800" baseline="0"/>
                      <a:t>Hà Tĩnh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9DD2-4A08-93FE-C1A3ADE0B54A}"/>
                </c:ext>
              </c:extLst>
            </c:dLbl>
            <c:dLbl>
              <c:idx val="27"/>
              <c:tx>
                <c:rich>
                  <a:bodyPr/>
                  <a:lstStyle/>
                  <a:p>
                    <a:r>
                      <a:rPr lang="en-US" sz="800" baseline="0"/>
                      <a:t>Quảng Bình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9DD2-4A08-93FE-C1A3ADE0B54A}"/>
                </c:ext>
              </c:extLst>
            </c:dLbl>
            <c:dLbl>
              <c:idx val="28"/>
              <c:tx>
                <c:rich>
                  <a:bodyPr/>
                  <a:lstStyle/>
                  <a:p>
                    <a:r>
                      <a:rPr lang="en-US" sz="800" baseline="0"/>
                      <a:t>Quảng Trị</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9DD2-4A08-93FE-C1A3ADE0B54A}"/>
                </c:ext>
              </c:extLst>
            </c:dLbl>
            <c:dLbl>
              <c:idx val="29"/>
              <c:tx>
                <c:rich>
                  <a:bodyPr/>
                  <a:lstStyle/>
                  <a:p>
                    <a:r>
                      <a:rPr lang="en-US" sz="800" baseline="0"/>
                      <a:t>Thừa Thiên - Huế</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9DD2-4A08-93FE-C1A3ADE0B54A}"/>
                </c:ext>
              </c:extLst>
            </c:dLbl>
            <c:dLbl>
              <c:idx val="30"/>
              <c:tx>
                <c:rich>
                  <a:bodyPr/>
                  <a:lstStyle/>
                  <a:p>
                    <a:r>
                      <a:rPr lang="en-US" sz="800" baseline="0"/>
                      <a:t>Quảng Nam</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9DD2-4A08-93FE-C1A3ADE0B54A}"/>
                </c:ext>
              </c:extLst>
            </c:dLbl>
            <c:dLbl>
              <c:idx val="31"/>
              <c:tx>
                <c:rich>
                  <a:bodyPr/>
                  <a:lstStyle/>
                  <a:p>
                    <a:r>
                      <a:rPr lang="en-US" sz="800" baseline="0"/>
                      <a:t>Bình Định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9DD2-4A08-93FE-C1A3ADE0B54A}"/>
                </c:ext>
              </c:extLst>
            </c:dLbl>
            <c:dLbl>
              <c:idx val="32"/>
              <c:tx>
                <c:rich>
                  <a:bodyPr/>
                  <a:lstStyle/>
                  <a:p>
                    <a:r>
                      <a:rPr lang="en-US" sz="800" baseline="0"/>
                      <a:t>Phú Yên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9DD2-4A08-93FE-C1A3ADE0B54A}"/>
                </c:ext>
              </c:extLst>
            </c:dLbl>
            <c:dLbl>
              <c:idx val="33"/>
              <c:tx>
                <c:rich>
                  <a:bodyPr/>
                  <a:lstStyle/>
                  <a:p>
                    <a:r>
                      <a:rPr lang="en-US" sz="800" baseline="0"/>
                      <a:t>Khánh Hòa</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9DD2-4A08-93FE-C1A3ADE0B54A}"/>
                </c:ext>
              </c:extLst>
            </c:dLbl>
            <c:dLbl>
              <c:idx val="34"/>
              <c:tx>
                <c:rich>
                  <a:bodyPr/>
                  <a:lstStyle/>
                  <a:p>
                    <a:r>
                      <a:rPr lang="en-US" sz="800" baseline="0"/>
                      <a:t>Ninh Thuận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9DD2-4A08-93FE-C1A3ADE0B54A}"/>
                </c:ext>
              </c:extLst>
            </c:dLbl>
            <c:dLbl>
              <c:idx val="35"/>
              <c:tx>
                <c:rich>
                  <a:bodyPr/>
                  <a:lstStyle/>
                  <a:p>
                    <a:r>
                      <a:rPr lang="en-US" sz="800" baseline="0"/>
                      <a:t>Bình Thuận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9DD2-4A08-93FE-C1A3ADE0B54A}"/>
                </c:ext>
              </c:extLst>
            </c:dLbl>
            <c:dLbl>
              <c:idx val="36"/>
              <c:tx>
                <c:rich>
                  <a:bodyPr/>
                  <a:lstStyle/>
                  <a:p>
                    <a:r>
                      <a:rPr lang="en-US" sz="800" baseline="0"/>
                      <a:t>Kon Tum</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9DD2-4A08-93FE-C1A3ADE0B54A}"/>
                </c:ext>
              </c:extLst>
            </c:dLbl>
            <c:dLbl>
              <c:idx val="37"/>
              <c:tx>
                <c:rich>
                  <a:bodyPr/>
                  <a:lstStyle/>
                  <a:p>
                    <a:r>
                      <a:rPr lang="en-US" sz="800" baseline="0"/>
                      <a:t>Gia Lai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9DD2-4A08-93FE-C1A3ADE0B54A}"/>
                </c:ext>
              </c:extLst>
            </c:dLbl>
            <c:dLbl>
              <c:idx val="38"/>
              <c:tx>
                <c:rich>
                  <a:bodyPr/>
                  <a:lstStyle/>
                  <a:p>
                    <a:r>
                      <a:rPr lang="en-US" sz="800" baseline="0"/>
                      <a:t>Đắk Lắk</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9DD2-4A08-93FE-C1A3ADE0B54A}"/>
                </c:ext>
              </c:extLst>
            </c:dLbl>
            <c:dLbl>
              <c:idx val="39"/>
              <c:tx>
                <c:rich>
                  <a:bodyPr/>
                  <a:lstStyle/>
                  <a:p>
                    <a:r>
                      <a:rPr lang="en-US" sz="800" baseline="0"/>
                      <a:t>Đắk Nông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9DD2-4A08-93FE-C1A3ADE0B54A}"/>
                </c:ext>
              </c:extLst>
            </c:dLbl>
            <c:dLbl>
              <c:idx val="40"/>
              <c:tx>
                <c:rich>
                  <a:bodyPr/>
                  <a:lstStyle/>
                  <a:p>
                    <a:r>
                      <a:rPr lang="en-US" sz="800" baseline="0"/>
                      <a:t>Lâm Đồng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9DD2-4A08-93FE-C1A3ADE0B54A}"/>
                </c:ext>
              </c:extLst>
            </c:dLbl>
            <c:dLbl>
              <c:idx val="41"/>
              <c:tx>
                <c:rich>
                  <a:bodyPr/>
                  <a:lstStyle/>
                  <a:p>
                    <a:r>
                      <a:rPr lang="vi-VN" sz="800" baseline="0"/>
                      <a:t>Bình Phước</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9DD2-4A08-93FE-C1A3ADE0B54A}"/>
                </c:ext>
              </c:extLst>
            </c:dLbl>
            <c:dLbl>
              <c:idx val="42"/>
              <c:tx>
                <c:rich>
                  <a:bodyPr/>
                  <a:lstStyle/>
                  <a:p>
                    <a:r>
                      <a:rPr lang="en-US" sz="800" baseline="0"/>
                      <a:t>Tây Ninh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9DD2-4A08-93FE-C1A3ADE0B54A}"/>
                </c:ext>
              </c:extLst>
            </c:dLbl>
            <c:dLbl>
              <c:idx val="43"/>
              <c:tx>
                <c:rich>
                  <a:bodyPr/>
                  <a:lstStyle/>
                  <a:p>
                    <a:r>
                      <a:rPr lang="vi-VN" sz="800" baseline="0"/>
                      <a:t>Bình Dương</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9DD2-4A08-93FE-C1A3ADE0B54A}"/>
                </c:ext>
              </c:extLst>
            </c:dLbl>
            <c:dLbl>
              <c:idx val="44"/>
              <c:tx>
                <c:rich>
                  <a:bodyPr/>
                  <a:lstStyle/>
                  <a:p>
                    <a:r>
                      <a:rPr lang="en-US" sz="800" baseline="0"/>
                      <a:t>Đồng Nai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9DD2-4A08-93FE-C1A3ADE0B54A}"/>
                </c:ext>
              </c:extLst>
            </c:dLbl>
            <c:dLbl>
              <c:idx val="45"/>
              <c:tx>
                <c:rich>
                  <a:bodyPr/>
                  <a:lstStyle/>
                  <a:p>
                    <a:r>
                      <a:rPr lang="en-US" sz="800" baseline="0"/>
                      <a:t>Bà Rịa - Vũng Tàu</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9DD2-4A08-93FE-C1A3ADE0B54A}"/>
                </c:ext>
              </c:extLst>
            </c:dLbl>
            <c:dLbl>
              <c:idx val="46"/>
              <c:tx>
                <c:rich>
                  <a:bodyPr/>
                  <a:lstStyle/>
                  <a:p>
                    <a:r>
                      <a:rPr lang="en-US" sz="800" baseline="0"/>
                      <a:t>TP.HCM</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9DD2-4A08-93FE-C1A3ADE0B54A}"/>
                </c:ext>
              </c:extLst>
            </c:dLbl>
            <c:dLbl>
              <c:idx val="47"/>
              <c:tx>
                <c:rich>
                  <a:bodyPr/>
                  <a:lstStyle/>
                  <a:p>
                    <a:r>
                      <a:rPr lang="en-US" sz="800" baseline="0"/>
                      <a:t>Long An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9DD2-4A08-93FE-C1A3ADE0B54A}"/>
                </c:ext>
              </c:extLst>
            </c:dLbl>
            <c:dLbl>
              <c:idx val="48"/>
              <c:tx>
                <c:rich>
                  <a:bodyPr/>
                  <a:lstStyle/>
                  <a:p>
                    <a:r>
                      <a:rPr lang="en-US" sz="800" baseline="0"/>
                      <a:t>Tiền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9DD2-4A08-93FE-C1A3ADE0B54A}"/>
                </c:ext>
              </c:extLst>
            </c:dLbl>
            <c:dLbl>
              <c:idx val="49"/>
              <c:tx>
                <c:rich>
                  <a:bodyPr/>
                  <a:lstStyle/>
                  <a:p>
                    <a:r>
                      <a:rPr lang="en-US" sz="800" baseline="0"/>
                      <a:t>Bến Tre</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9DD2-4A08-93FE-C1A3ADE0B54A}"/>
                </c:ext>
              </c:extLst>
            </c:dLbl>
            <c:dLbl>
              <c:idx val="50"/>
              <c:tx>
                <c:rich>
                  <a:bodyPr/>
                  <a:lstStyle/>
                  <a:p>
                    <a:r>
                      <a:rPr lang="en-US" sz="800" baseline="0"/>
                      <a:t>Trà Vinh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9DD2-4A08-93FE-C1A3ADE0B54A}"/>
                </c:ext>
              </c:extLst>
            </c:dLbl>
            <c:dLbl>
              <c:idx val="51"/>
              <c:tx>
                <c:rich>
                  <a:bodyPr/>
                  <a:lstStyle/>
                  <a:p>
                    <a:r>
                      <a:rPr lang="en-US" sz="800" baseline="0"/>
                      <a:t>Vĩnh Long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9DD2-4A08-93FE-C1A3ADE0B54A}"/>
                </c:ext>
              </c:extLst>
            </c:dLbl>
            <c:dLbl>
              <c:idx val="52"/>
              <c:tx>
                <c:rich>
                  <a:bodyPr/>
                  <a:lstStyle/>
                  <a:p>
                    <a:r>
                      <a:rPr lang="en-US" sz="800" baseline="0"/>
                      <a:t>Đồng Tháp</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9DD2-4A08-93FE-C1A3ADE0B54A}"/>
                </c:ext>
              </c:extLst>
            </c:dLbl>
            <c:dLbl>
              <c:idx val="53"/>
              <c:tx>
                <c:rich>
                  <a:bodyPr/>
                  <a:lstStyle/>
                  <a:p>
                    <a:r>
                      <a:rPr lang="en-US" sz="800" baseline="0"/>
                      <a:t>An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9DD2-4A08-93FE-C1A3ADE0B54A}"/>
                </c:ext>
              </c:extLst>
            </c:dLbl>
            <c:dLbl>
              <c:idx val="54"/>
              <c:tx>
                <c:rich>
                  <a:bodyPr/>
                  <a:lstStyle/>
                  <a:p>
                    <a:r>
                      <a:rPr lang="en-US" sz="800" baseline="0"/>
                      <a:t>Kiên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9DD2-4A08-93FE-C1A3ADE0B54A}"/>
                </c:ext>
              </c:extLst>
            </c:dLbl>
            <c:dLbl>
              <c:idx val="55"/>
              <c:tx>
                <c:rich>
                  <a:bodyPr/>
                  <a:lstStyle/>
                  <a:p>
                    <a:r>
                      <a:rPr lang="vi-VN" sz="800" baseline="0"/>
                      <a:t>Cần Thơ</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9DD2-4A08-93FE-C1A3ADE0B54A}"/>
                </c:ext>
              </c:extLst>
            </c:dLbl>
            <c:dLbl>
              <c:idx val="56"/>
              <c:tx>
                <c:rich>
                  <a:bodyPr/>
                  <a:lstStyle/>
                  <a:p>
                    <a:r>
                      <a:rPr lang="en-US" sz="800" baseline="0"/>
                      <a:t>Hậu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9DD2-4A08-93FE-C1A3ADE0B54A}"/>
                </c:ext>
              </c:extLst>
            </c:dLbl>
            <c:dLbl>
              <c:idx val="57"/>
              <c:tx>
                <c:rich>
                  <a:bodyPr/>
                  <a:lstStyle/>
                  <a:p>
                    <a:r>
                      <a:rPr lang="en-US" sz="800" baseline="0"/>
                      <a:t>Sóc Trăng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9DD2-4A08-93FE-C1A3ADE0B54A}"/>
                </c:ext>
              </c:extLst>
            </c:dLbl>
            <c:dLbl>
              <c:idx val="58"/>
              <c:tx>
                <c:rich>
                  <a:bodyPr/>
                  <a:lstStyle/>
                  <a:p>
                    <a:r>
                      <a:rPr lang="en-US" sz="800" baseline="0"/>
                      <a:t>Bạc Liêu</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9DD2-4A08-93FE-C1A3ADE0B54A}"/>
                </c:ext>
              </c:extLst>
            </c:dLbl>
            <c:dLbl>
              <c:idx val="59"/>
              <c:tx>
                <c:rich>
                  <a:bodyPr/>
                  <a:lstStyle/>
                  <a:p>
                    <a:r>
                      <a:rPr lang="en-US" sz="800" baseline="0"/>
                      <a:t>Cà Mau</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D-9DD2-4A08-93FE-C1A3ADE0B54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P0!$I$2:$I$61</c:f>
              <c:numCache>
                <c:formatCode>0.0</c:formatCode>
                <c:ptCount val="60"/>
                <c:pt idx="0">
                  <c:v>31.934142994805686</c:v>
                </c:pt>
                <c:pt idx="1">
                  <c:v>25.038696574362763</c:v>
                </c:pt>
                <c:pt idx="2">
                  <c:v>20.598479088328784</c:v>
                </c:pt>
                <c:pt idx="3">
                  <c:v>16.394042877576734</c:v>
                </c:pt>
                <c:pt idx="4">
                  <c:v>18.378203488258503</c:v>
                </c:pt>
                <c:pt idx="5">
                  <c:v>22.016401609925328</c:v>
                </c:pt>
                <c:pt idx="6">
                  <c:v>36.198790883999585</c:v>
                </c:pt>
                <c:pt idx="7">
                  <c:v>38.114419472196168</c:v>
                </c:pt>
                <c:pt idx="8">
                  <c:v>23.01070046863833</c:v>
                </c:pt>
                <c:pt idx="9">
                  <c:v>36.907091852110085</c:v>
                </c:pt>
                <c:pt idx="10">
                  <c:v>15.85479284279115</c:v>
                </c:pt>
                <c:pt idx="11">
                  <c:v>14.453946898224595</c:v>
                </c:pt>
                <c:pt idx="12">
                  <c:v>22.241995680819631</c:v>
                </c:pt>
                <c:pt idx="13">
                  <c:v>29.592357610268223</c:v>
                </c:pt>
                <c:pt idx="14">
                  <c:v>25.351687959324</c:v>
                </c:pt>
                <c:pt idx="15">
                  <c:v>30.933352815032542</c:v>
                </c:pt>
                <c:pt idx="16">
                  <c:v>17.747303791872703</c:v>
                </c:pt>
                <c:pt idx="17">
                  <c:v>21.56469264898011</c:v>
                </c:pt>
                <c:pt idx="18">
                  <c:v>25.547990298974387</c:v>
                </c:pt>
                <c:pt idx="19">
                  <c:v>19.700353817034362</c:v>
                </c:pt>
                <c:pt idx="20">
                  <c:v>34.182460163851722</c:v>
                </c:pt>
                <c:pt idx="21">
                  <c:v>23.688936419034494</c:v>
                </c:pt>
                <c:pt idx="22">
                  <c:v>24.434499849932529</c:v>
                </c:pt>
                <c:pt idx="23">
                  <c:v>22.626409834178819</c:v>
                </c:pt>
                <c:pt idx="24">
                  <c:v>27.89330410009439</c:v>
                </c:pt>
                <c:pt idx="25">
                  <c:v>28.485630314080897</c:v>
                </c:pt>
                <c:pt idx="26">
                  <c:v>26.761534882173457</c:v>
                </c:pt>
                <c:pt idx="27">
                  <c:v>29.557877417321315</c:v>
                </c:pt>
                <c:pt idx="28">
                  <c:v>30.48201231875278</c:v>
                </c:pt>
                <c:pt idx="29">
                  <c:v>30.610826778299291</c:v>
                </c:pt>
                <c:pt idx="30">
                  <c:v>29.880685060892031</c:v>
                </c:pt>
                <c:pt idx="31">
                  <c:v>17.810342678310892</c:v>
                </c:pt>
                <c:pt idx="32">
                  <c:v>29.976545994188211</c:v>
                </c:pt>
                <c:pt idx="33">
                  <c:v>20.904171603633213</c:v>
                </c:pt>
                <c:pt idx="34">
                  <c:v>9.425108001901366</c:v>
                </c:pt>
                <c:pt idx="35">
                  <c:v>17.755656490749825</c:v>
                </c:pt>
                <c:pt idx="36">
                  <c:v>28.462366765246763</c:v>
                </c:pt>
                <c:pt idx="37">
                  <c:v>23.173651407640659</c:v>
                </c:pt>
                <c:pt idx="38">
                  <c:v>32.574555558156007</c:v>
                </c:pt>
                <c:pt idx="39">
                  <c:v>21.928791653550853</c:v>
                </c:pt>
                <c:pt idx="40">
                  <c:v>24.143779292982202</c:v>
                </c:pt>
                <c:pt idx="41">
                  <c:v>27.224639807884923</c:v>
                </c:pt>
                <c:pt idx="42">
                  <c:v>28.383281965514875</c:v>
                </c:pt>
                <c:pt idx="43">
                  <c:v>34.355196608911598</c:v>
                </c:pt>
                <c:pt idx="44">
                  <c:v>22.507285481450335</c:v>
                </c:pt>
                <c:pt idx="45">
                  <c:v>11.860864001716777</c:v>
                </c:pt>
                <c:pt idx="46">
                  <c:v>26.206220297749084</c:v>
                </c:pt>
                <c:pt idx="47">
                  <c:v>25.51301898377541</c:v>
                </c:pt>
                <c:pt idx="48">
                  <c:v>18.940605388033003</c:v>
                </c:pt>
                <c:pt idx="49">
                  <c:v>18.169289166797657</c:v>
                </c:pt>
                <c:pt idx="50">
                  <c:v>11.788658933160843</c:v>
                </c:pt>
                <c:pt idx="51">
                  <c:v>20.897136344723904</c:v>
                </c:pt>
                <c:pt idx="52">
                  <c:v>25.183032937848669</c:v>
                </c:pt>
                <c:pt idx="53">
                  <c:v>29.720372926831526</c:v>
                </c:pt>
                <c:pt idx="54">
                  <c:v>20.844518756220651</c:v>
                </c:pt>
                <c:pt idx="55">
                  <c:v>23.866403282267498</c:v>
                </c:pt>
                <c:pt idx="56">
                  <c:v>18.69430165131633</c:v>
                </c:pt>
                <c:pt idx="57">
                  <c:v>28.549579861023606</c:v>
                </c:pt>
                <c:pt idx="58">
                  <c:v>12.129922192917771</c:v>
                </c:pt>
                <c:pt idx="59">
                  <c:v>31.693542261198029</c:v>
                </c:pt>
              </c:numCache>
            </c:numRef>
          </c:xVal>
          <c:yVal>
            <c:numRef>
              <c:f>P0!$J$2:$J$61</c:f>
              <c:numCache>
                <c:formatCode>0.0</c:formatCode>
                <c:ptCount val="60"/>
                <c:pt idx="0">
                  <c:v>-2.6139750615051005</c:v>
                </c:pt>
                <c:pt idx="1">
                  <c:v>-2.4888051741037636</c:v>
                </c:pt>
                <c:pt idx="2">
                  <c:v>1.6845578737041891</c:v>
                </c:pt>
                <c:pt idx="3">
                  <c:v>-3.7528033649912027</c:v>
                </c:pt>
                <c:pt idx="4">
                  <c:v>-0.64424312651929838</c:v>
                </c:pt>
                <c:pt idx="5">
                  <c:v>-4.0583442193871235</c:v>
                </c:pt>
                <c:pt idx="6">
                  <c:v>-0.84110978828086835</c:v>
                </c:pt>
                <c:pt idx="7">
                  <c:v>-2.4575034632560122</c:v>
                </c:pt>
                <c:pt idx="8">
                  <c:v>-2.1542750749902377</c:v>
                </c:pt>
                <c:pt idx="9">
                  <c:v>-1.2306768767582061</c:v>
                </c:pt>
                <c:pt idx="10">
                  <c:v>1.0789312848214926E-2</c:v>
                </c:pt>
                <c:pt idx="11">
                  <c:v>-3.1480050896435126</c:v>
                </c:pt>
                <c:pt idx="12">
                  <c:v>-3.3139672629499288</c:v>
                </c:pt>
                <c:pt idx="13">
                  <c:v>-0.6487874810871016</c:v>
                </c:pt>
                <c:pt idx="14">
                  <c:v>-0.66678410531097665</c:v>
                </c:pt>
                <c:pt idx="15">
                  <c:v>-6.9618700370809167E-2</c:v>
                </c:pt>
                <c:pt idx="16">
                  <c:v>-4.753708980052779</c:v>
                </c:pt>
                <c:pt idx="17">
                  <c:v>-1.1066103385129897</c:v>
                </c:pt>
                <c:pt idx="18">
                  <c:v>-2.0532740999068357</c:v>
                </c:pt>
                <c:pt idx="19">
                  <c:v>-3.1183860249627817</c:v>
                </c:pt>
                <c:pt idx="20">
                  <c:v>-0.32771028589206058</c:v>
                </c:pt>
                <c:pt idx="21">
                  <c:v>-1.3076616571960709</c:v>
                </c:pt>
                <c:pt idx="22">
                  <c:v>-1.2486697357633758</c:v>
                </c:pt>
                <c:pt idx="23">
                  <c:v>-1.2831662859211099</c:v>
                </c:pt>
                <c:pt idx="24">
                  <c:v>-2.4516633598604387</c:v>
                </c:pt>
                <c:pt idx="25">
                  <c:v>-2.0587015538369275</c:v>
                </c:pt>
                <c:pt idx="26">
                  <c:v>-2.9191991562588377</c:v>
                </c:pt>
                <c:pt idx="27">
                  <c:v>-2.1736705153105542</c:v>
                </c:pt>
                <c:pt idx="28">
                  <c:v>1.7879816565975459</c:v>
                </c:pt>
                <c:pt idx="29">
                  <c:v>-1.934296041102558</c:v>
                </c:pt>
                <c:pt idx="30">
                  <c:v>-1.7098194670891051</c:v>
                </c:pt>
                <c:pt idx="31">
                  <c:v>-5.4124029358511763</c:v>
                </c:pt>
                <c:pt idx="32">
                  <c:v>-2.9059922732948777</c:v>
                </c:pt>
                <c:pt idx="33">
                  <c:v>-1.6140550520722541</c:v>
                </c:pt>
                <c:pt idx="34">
                  <c:v>-6.1517856395034443</c:v>
                </c:pt>
                <c:pt idx="35">
                  <c:v>1.1156916114853777</c:v>
                </c:pt>
                <c:pt idx="36">
                  <c:v>-0.35840372447607793</c:v>
                </c:pt>
                <c:pt idx="37">
                  <c:v>-1.4160027935406498</c:v>
                </c:pt>
                <c:pt idx="38">
                  <c:v>-0.67845580748824674</c:v>
                </c:pt>
                <c:pt idx="39">
                  <c:v>1.2036407900232378</c:v>
                </c:pt>
                <c:pt idx="40">
                  <c:v>-2.9925294571191743</c:v>
                </c:pt>
                <c:pt idx="41">
                  <c:v>-3.3572080468593408</c:v>
                </c:pt>
                <c:pt idx="42">
                  <c:v>-1.7328317300553258</c:v>
                </c:pt>
                <c:pt idx="43">
                  <c:v>-2.9107677984896294</c:v>
                </c:pt>
                <c:pt idx="44">
                  <c:v>4.7443332936237352</c:v>
                </c:pt>
                <c:pt idx="45">
                  <c:v>-8.4310889987041158</c:v>
                </c:pt>
                <c:pt idx="46">
                  <c:v>7.2430197125737079</c:v>
                </c:pt>
                <c:pt idx="47">
                  <c:v>-3.6199609518996603</c:v>
                </c:pt>
                <c:pt idx="48">
                  <c:v>-2.9906967720349846</c:v>
                </c:pt>
                <c:pt idx="49">
                  <c:v>-4.2532559588048304</c:v>
                </c:pt>
                <c:pt idx="50">
                  <c:v>-4.1130929763597432</c:v>
                </c:pt>
                <c:pt idx="51">
                  <c:v>-4.4536712020556992</c:v>
                </c:pt>
                <c:pt idx="52">
                  <c:v>-3.2057338181216433</c:v>
                </c:pt>
                <c:pt idx="53">
                  <c:v>-2.1432762296629648</c:v>
                </c:pt>
                <c:pt idx="54">
                  <c:v>-1.5836848758683608</c:v>
                </c:pt>
                <c:pt idx="55">
                  <c:v>-4.189990373383945</c:v>
                </c:pt>
                <c:pt idx="56">
                  <c:v>-3.8596099431575537</c:v>
                </c:pt>
                <c:pt idx="57">
                  <c:v>-1.7147077038148628</c:v>
                </c:pt>
                <c:pt idx="58">
                  <c:v>-5.1852904898570094</c:v>
                </c:pt>
                <c:pt idx="59">
                  <c:v>-2.0290697057423852</c:v>
                </c:pt>
              </c:numCache>
            </c:numRef>
          </c:yVal>
          <c:smooth val="0"/>
          <c:extLst>
            <c:ext xmlns:c16="http://schemas.microsoft.com/office/drawing/2014/chart" uri="{C3380CC4-5D6E-409C-BE32-E72D297353CC}">
              <c16:uniqueId val="{0000003E-9DD2-4A08-93FE-C1A3ADE0B54A}"/>
            </c:ext>
          </c:extLst>
        </c:ser>
        <c:dLbls>
          <c:showLegendKey val="0"/>
          <c:showVal val="0"/>
          <c:showCatName val="0"/>
          <c:showSerName val="0"/>
          <c:showPercent val="0"/>
          <c:showBubbleSize val="0"/>
        </c:dLbls>
        <c:axId val="72875008"/>
        <c:axId val="72893568"/>
      </c:scatterChart>
      <c:valAx>
        <c:axId val="72875008"/>
        <c:scaling>
          <c:orientation val="minMax"/>
          <c:max val="40"/>
          <c:min val="5"/>
        </c:scaling>
        <c:delete val="0"/>
        <c:axPos val="b"/>
        <c:majorGridlines/>
        <c:title>
          <c:tx>
            <c:rich>
              <a:bodyPr/>
              <a:lstStyle/>
              <a:p>
                <a:pPr>
                  <a:defRPr/>
                </a:pPr>
                <a:r>
                  <a:rPr lang="en-US">
                    <a:latin typeface="Times New Roman" panose="02020603050405020304" pitchFamily="18" charset="0"/>
                    <a:cs typeface="Times New Roman" panose="02020603050405020304" pitchFamily="18" charset="0"/>
                  </a:rPr>
                  <a:t>Tăng</a:t>
                </a:r>
                <a:r>
                  <a:rPr lang="en-US" baseline="0">
                    <a:latin typeface="Times New Roman" panose="02020603050405020304" pitchFamily="18" charset="0"/>
                    <a:cs typeface="Times New Roman" panose="02020603050405020304" pitchFamily="18" charset="0"/>
                  </a:rPr>
                  <a:t> trưởng kinh tế (2010 - 2008)</a:t>
                </a:r>
                <a:endParaRPr lang="en-US">
                  <a:latin typeface="Times New Roman" panose="02020603050405020304" pitchFamily="18" charset="0"/>
                  <a:cs typeface="Times New Roman" panose="02020603050405020304" pitchFamily="18" charset="0"/>
                </a:endParaRPr>
              </a:p>
            </c:rich>
          </c:tx>
          <c:layout>
            <c:manualLayout>
              <c:xMode val="edge"/>
              <c:yMode val="edge"/>
              <c:x val="0.71987759822648845"/>
              <c:y val="0.39238796020158501"/>
            </c:manualLayout>
          </c:layout>
          <c:overlay val="0"/>
        </c:title>
        <c:numFmt formatCode="General" sourceLinked="1"/>
        <c:majorTickMark val="out"/>
        <c:minorTickMark val="none"/>
        <c:tickLblPos val="nextTo"/>
        <c:crossAx val="72893568"/>
        <c:crosses val="autoZero"/>
        <c:crossBetween val="midCat"/>
      </c:valAx>
      <c:valAx>
        <c:axId val="72893568"/>
        <c:scaling>
          <c:orientation val="minMax"/>
          <c:max val="8"/>
          <c:min val="-10"/>
        </c:scaling>
        <c:delete val="0"/>
        <c:axPos val="l"/>
        <c:majorGridlines/>
        <c:title>
          <c:tx>
            <c:rich>
              <a:bodyPr rot="0" vert="horz"/>
              <a:lstStyle/>
              <a:p>
                <a:pPr>
                  <a:defRPr/>
                </a:pPr>
                <a:r>
                  <a:rPr lang="en-US">
                    <a:latin typeface="Times New Roman" panose="02020603050405020304" pitchFamily="18" charset="0"/>
                    <a:cs typeface="Times New Roman" panose="02020603050405020304" pitchFamily="18" charset="0"/>
                  </a:rPr>
                  <a:t>Hệ</a:t>
                </a:r>
                <a:r>
                  <a:rPr lang="en-US" baseline="0">
                    <a:latin typeface="Times New Roman" panose="02020603050405020304" pitchFamily="18" charset="0"/>
                    <a:cs typeface="Times New Roman" panose="02020603050405020304" pitchFamily="18" charset="0"/>
                  </a:rPr>
                  <a:t> số co giãn tỷ lệ nghèo theo tăng trưởng (%)</a:t>
                </a:r>
                <a:endParaRPr lang="en-US">
                  <a:latin typeface="Times New Roman" panose="02020603050405020304" pitchFamily="18" charset="0"/>
                  <a:cs typeface="Times New Roman" panose="02020603050405020304" pitchFamily="18" charset="0"/>
                </a:endParaRPr>
              </a:p>
            </c:rich>
          </c:tx>
          <c:layout>
            <c:manualLayout>
              <c:xMode val="edge"/>
              <c:yMode val="edge"/>
              <c:x val="7.516260571590902E-2"/>
              <c:y val="5.0499859574491567E-2"/>
            </c:manualLayout>
          </c:layout>
          <c:overlay val="0"/>
        </c:title>
        <c:numFmt formatCode="0.0" sourceLinked="1"/>
        <c:majorTickMark val="out"/>
        <c:minorTickMark val="none"/>
        <c:tickLblPos val="nextTo"/>
        <c:crossAx val="72875008"/>
        <c:crosses val="autoZero"/>
        <c:crossBetween val="midCat"/>
      </c:valAx>
    </c:plotArea>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7774360652567617E-2"/>
          <c:y val="3.6226430994380873E-2"/>
          <c:w val="0.90030906257891863"/>
          <c:h val="0.8805695741861822"/>
        </c:manualLayout>
      </c:layout>
      <c:scatterChart>
        <c:scatterStyle val="lineMarker"/>
        <c:varyColors val="0"/>
        <c:ser>
          <c:idx val="1"/>
          <c:order val="1"/>
          <c:xVal>
            <c:numRef>
              <c:f>'P1'!$G$68:$G$69</c:f>
              <c:numCache>
                <c:formatCode>0.0</c:formatCode>
                <c:ptCount val="2"/>
                <c:pt idx="0">
                  <c:v>24.350173573052359</c:v>
                </c:pt>
                <c:pt idx="1">
                  <c:v>24.350173573052359</c:v>
                </c:pt>
              </c:numCache>
            </c:numRef>
          </c:xVal>
          <c:yVal>
            <c:numRef>
              <c:f>'P1'!$H$68:$H$69</c:f>
              <c:numCache>
                <c:formatCode>General</c:formatCode>
                <c:ptCount val="2"/>
                <c:pt idx="0">
                  <c:v>-10</c:v>
                </c:pt>
                <c:pt idx="1">
                  <c:v>8</c:v>
                </c:pt>
              </c:numCache>
            </c:numRef>
          </c:yVal>
          <c:smooth val="0"/>
          <c:extLst>
            <c:ext xmlns:c16="http://schemas.microsoft.com/office/drawing/2014/chart" uri="{C3380CC4-5D6E-409C-BE32-E72D297353CC}">
              <c16:uniqueId val="{00000000-FCD8-4A16-8871-877338E8754F}"/>
            </c:ext>
          </c:extLst>
        </c:ser>
        <c:ser>
          <c:idx val="2"/>
          <c:order val="2"/>
          <c:xVal>
            <c:numRef>
              <c:f>'P1'!$I$68:$I$69</c:f>
              <c:numCache>
                <c:formatCode>General</c:formatCode>
                <c:ptCount val="2"/>
                <c:pt idx="0">
                  <c:v>5</c:v>
                </c:pt>
                <c:pt idx="1">
                  <c:v>40</c:v>
                </c:pt>
              </c:numCache>
            </c:numRef>
          </c:xVal>
          <c:yVal>
            <c:numRef>
              <c:f>'P1'!$J$68:$J$69</c:f>
              <c:numCache>
                <c:formatCode>0.0</c:formatCode>
                <c:ptCount val="2"/>
                <c:pt idx="0">
                  <c:v>-2.5177449114901171</c:v>
                </c:pt>
                <c:pt idx="1">
                  <c:v>-2.5177449114901171</c:v>
                </c:pt>
              </c:numCache>
            </c:numRef>
          </c:yVal>
          <c:smooth val="0"/>
          <c:extLst>
            <c:ext xmlns:c16="http://schemas.microsoft.com/office/drawing/2014/chart" uri="{C3380CC4-5D6E-409C-BE32-E72D297353CC}">
              <c16:uniqueId val="{00000001-FCD8-4A16-8871-877338E8754F}"/>
            </c:ext>
          </c:extLst>
        </c:ser>
        <c:ser>
          <c:idx val="0"/>
          <c:order val="0"/>
          <c:spPr>
            <a:ln w="28575">
              <a:noFill/>
            </a:ln>
          </c:spPr>
          <c:dLbls>
            <c:dLbl>
              <c:idx val="0"/>
              <c:tx>
                <c:rich>
                  <a:bodyPr/>
                  <a:lstStyle/>
                  <a:p>
                    <a:r>
                      <a:rPr lang="en-US" sz="800" baseline="0"/>
                      <a:t>Hà Nội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CD8-4A16-8871-877338E8754F}"/>
                </c:ext>
              </c:extLst>
            </c:dLbl>
            <c:dLbl>
              <c:idx val="1"/>
              <c:tx>
                <c:rich>
                  <a:bodyPr/>
                  <a:lstStyle/>
                  <a:p>
                    <a:r>
                      <a:rPr lang="en-US" sz="800" baseline="0"/>
                      <a:t>Vĩnh Phúc</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CD8-4A16-8871-877338E8754F}"/>
                </c:ext>
              </c:extLst>
            </c:dLbl>
            <c:dLbl>
              <c:idx val="2"/>
              <c:tx>
                <c:rich>
                  <a:bodyPr/>
                  <a:lstStyle/>
                  <a:p>
                    <a:r>
                      <a:rPr lang="en-US" sz="800" baseline="0"/>
                      <a:t>Quảng Ninh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CD8-4A16-8871-877338E8754F}"/>
                </c:ext>
              </c:extLst>
            </c:dLbl>
            <c:dLbl>
              <c:idx val="3"/>
              <c:tx>
                <c:rich>
                  <a:bodyPr/>
                  <a:lstStyle/>
                  <a:p>
                    <a:r>
                      <a:rPr lang="vi-VN" sz="800" baseline="0"/>
                      <a:t>Hải Dương</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CD8-4A16-8871-877338E8754F}"/>
                </c:ext>
              </c:extLst>
            </c:dLbl>
            <c:dLbl>
              <c:idx val="4"/>
              <c:tx>
                <c:rich>
                  <a:bodyPr/>
                  <a:lstStyle/>
                  <a:p>
                    <a:r>
                      <a:rPr lang="en-US" sz="800" baseline="0"/>
                      <a:t>Hải Phòng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CD8-4A16-8871-877338E8754F}"/>
                </c:ext>
              </c:extLst>
            </c:dLbl>
            <c:dLbl>
              <c:idx val="5"/>
              <c:tx>
                <c:rich>
                  <a:bodyPr/>
                  <a:lstStyle/>
                  <a:p>
                    <a:r>
                      <a:rPr lang="vi-VN" sz="800" baseline="0"/>
                      <a:t>Hưng Yên</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CD8-4A16-8871-877338E8754F}"/>
                </c:ext>
              </c:extLst>
            </c:dLbl>
            <c:dLbl>
              <c:idx val="6"/>
              <c:tx>
                <c:rich>
                  <a:bodyPr/>
                  <a:lstStyle/>
                  <a:p>
                    <a:r>
                      <a:rPr lang="en-US" sz="800" baseline="0"/>
                      <a:t>Thái Bình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FCD8-4A16-8871-877338E8754F}"/>
                </c:ext>
              </c:extLst>
            </c:dLbl>
            <c:dLbl>
              <c:idx val="7"/>
              <c:tx>
                <c:rich>
                  <a:bodyPr/>
                  <a:lstStyle/>
                  <a:p>
                    <a:r>
                      <a:rPr lang="en-US" sz="800" baseline="0"/>
                      <a:t>Hà Nam</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FCD8-4A16-8871-877338E8754F}"/>
                </c:ext>
              </c:extLst>
            </c:dLbl>
            <c:dLbl>
              <c:idx val="8"/>
              <c:tx>
                <c:rich>
                  <a:bodyPr/>
                  <a:lstStyle/>
                  <a:p>
                    <a:r>
                      <a:rPr lang="en-US" sz="800" baseline="0"/>
                      <a:t>Nam Định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FCD8-4A16-8871-877338E8754F}"/>
                </c:ext>
              </c:extLst>
            </c:dLbl>
            <c:dLbl>
              <c:idx val="9"/>
              <c:tx>
                <c:rich>
                  <a:bodyPr/>
                  <a:lstStyle/>
                  <a:p>
                    <a:r>
                      <a:rPr lang="en-US" sz="800" baseline="0"/>
                      <a:t>Ninh Bình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CD8-4A16-8871-877338E8754F}"/>
                </c:ext>
              </c:extLst>
            </c:dLbl>
            <c:dLbl>
              <c:idx val="10"/>
              <c:tx>
                <c:rich>
                  <a:bodyPr/>
                  <a:lstStyle/>
                  <a:p>
                    <a:r>
                      <a:rPr lang="en-US" sz="800" baseline="0"/>
                      <a:t>Hà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CD8-4A16-8871-877338E8754F}"/>
                </c:ext>
              </c:extLst>
            </c:dLbl>
            <c:dLbl>
              <c:idx val="11"/>
              <c:tx>
                <c:rich>
                  <a:bodyPr/>
                  <a:lstStyle/>
                  <a:p>
                    <a:r>
                      <a:rPr lang="en-US" sz="800" baseline="0"/>
                      <a:t>Cao Bằng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FCD8-4A16-8871-877338E8754F}"/>
                </c:ext>
              </c:extLst>
            </c:dLbl>
            <c:dLbl>
              <c:idx val="12"/>
              <c:tx>
                <c:rich>
                  <a:bodyPr/>
                  <a:lstStyle/>
                  <a:p>
                    <a:r>
                      <a:rPr lang="en-US" sz="800" baseline="0"/>
                      <a:t>Bắc Cạn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FCD8-4A16-8871-877338E8754F}"/>
                </c:ext>
              </c:extLst>
            </c:dLbl>
            <c:dLbl>
              <c:idx val="13"/>
              <c:tx>
                <c:rich>
                  <a:bodyPr/>
                  <a:lstStyle/>
                  <a:p>
                    <a:r>
                      <a:rPr lang="en-US" sz="800" baseline="0"/>
                      <a:t>Tuyên Quang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FCD8-4A16-8871-877338E8754F}"/>
                </c:ext>
              </c:extLst>
            </c:dLbl>
            <c:dLbl>
              <c:idx val="14"/>
              <c:tx>
                <c:rich>
                  <a:bodyPr/>
                  <a:lstStyle/>
                  <a:p>
                    <a:r>
                      <a:rPr lang="en-US" sz="800" baseline="0"/>
                      <a:t>Lào Cai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FCD8-4A16-8871-877338E8754F}"/>
                </c:ext>
              </c:extLst>
            </c:dLbl>
            <c:dLbl>
              <c:idx val="15"/>
              <c:tx>
                <c:rich>
                  <a:bodyPr/>
                  <a:lstStyle/>
                  <a:p>
                    <a:r>
                      <a:rPr lang="en-US" sz="800" baseline="0"/>
                      <a:t>Yên Bái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FCD8-4A16-8871-877338E8754F}"/>
                </c:ext>
              </c:extLst>
            </c:dLbl>
            <c:dLbl>
              <c:idx val="16"/>
              <c:tx>
                <c:rich>
                  <a:bodyPr/>
                  <a:lstStyle/>
                  <a:p>
                    <a:r>
                      <a:rPr lang="en-US" sz="800" baseline="0"/>
                      <a:t>Thái Nguyên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FCD8-4A16-8871-877338E8754F}"/>
                </c:ext>
              </c:extLst>
            </c:dLbl>
            <c:dLbl>
              <c:idx val="17"/>
              <c:tx>
                <c:rich>
                  <a:bodyPr/>
                  <a:lstStyle/>
                  <a:p>
                    <a:r>
                      <a:rPr lang="vi-VN" sz="800" baseline="0"/>
                      <a:t>Lạng Sơn</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FCD8-4A16-8871-877338E8754F}"/>
                </c:ext>
              </c:extLst>
            </c:dLbl>
            <c:dLbl>
              <c:idx val="18"/>
              <c:tx>
                <c:rich>
                  <a:bodyPr/>
                  <a:lstStyle/>
                  <a:p>
                    <a:r>
                      <a:rPr lang="en-US" sz="800" baseline="0"/>
                      <a:t>Bắc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FCD8-4A16-8871-877338E8754F}"/>
                </c:ext>
              </c:extLst>
            </c:dLbl>
            <c:dLbl>
              <c:idx val="19"/>
              <c:tx>
                <c:rich>
                  <a:bodyPr/>
                  <a:lstStyle/>
                  <a:p>
                    <a:r>
                      <a:rPr lang="en-US" sz="800" baseline="0"/>
                      <a:t>Phú Thọ</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FCD8-4A16-8871-877338E8754F}"/>
                </c:ext>
              </c:extLst>
            </c:dLbl>
            <c:dLbl>
              <c:idx val="20"/>
              <c:tx>
                <c:rich>
                  <a:bodyPr/>
                  <a:lstStyle/>
                  <a:p>
                    <a:r>
                      <a:rPr lang="en-US" sz="800" baseline="0"/>
                      <a:t>Điện Biên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FCD8-4A16-8871-877338E8754F}"/>
                </c:ext>
              </c:extLst>
            </c:dLbl>
            <c:dLbl>
              <c:idx val="21"/>
              <c:tx>
                <c:rich>
                  <a:bodyPr/>
                  <a:lstStyle/>
                  <a:p>
                    <a:r>
                      <a:rPr lang="en-US" sz="800" baseline="0"/>
                      <a:t>Lai Châu</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FCD8-4A16-8871-877338E8754F}"/>
                </c:ext>
              </c:extLst>
            </c:dLbl>
            <c:dLbl>
              <c:idx val="22"/>
              <c:tx>
                <c:rich>
                  <a:bodyPr/>
                  <a:lstStyle/>
                  <a:p>
                    <a:r>
                      <a:rPr lang="vi-VN" sz="800" baseline="0"/>
                      <a:t>Sơn La</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FCD8-4A16-8871-877338E8754F}"/>
                </c:ext>
              </c:extLst>
            </c:dLbl>
            <c:dLbl>
              <c:idx val="23"/>
              <c:tx>
                <c:rich>
                  <a:bodyPr/>
                  <a:lstStyle/>
                  <a:p>
                    <a:r>
                      <a:rPr lang="en-US" sz="800" baseline="0"/>
                      <a:t>Hòa Bình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FCD8-4A16-8871-877338E8754F}"/>
                </c:ext>
              </c:extLst>
            </c:dLbl>
            <c:dLbl>
              <c:idx val="24"/>
              <c:tx>
                <c:rich>
                  <a:bodyPr/>
                  <a:lstStyle/>
                  <a:p>
                    <a:r>
                      <a:rPr lang="en-US" sz="800" baseline="0"/>
                      <a:t>Thanh Hóa</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FCD8-4A16-8871-877338E8754F}"/>
                </c:ext>
              </c:extLst>
            </c:dLbl>
            <c:dLbl>
              <c:idx val="25"/>
              <c:tx>
                <c:rich>
                  <a:bodyPr/>
                  <a:lstStyle/>
                  <a:p>
                    <a:r>
                      <a:rPr lang="en-US" sz="800" baseline="0"/>
                      <a:t>Nghệ An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FCD8-4A16-8871-877338E8754F}"/>
                </c:ext>
              </c:extLst>
            </c:dLbl>
            <c:dLbl>
              <c:idx val="26"/>
              <c:tx>
                <c:rich>
                  <a:bodyPr/>
                  <a:lstStyle/>
                  <a:p>
                    <a:r>
                      <a:rPr lang="en-US" sz="800" baseline="0"/>
                      <a:t>Hà Tĩnh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FCD8-4A16-8871-877338E8754F}"/>
                </c:ext>
              </c:extLst>
            </c:dLbl>
            <c:dLbl>
              <c:idx val="27"/>
              <c:tx>
                <c:rich>
                  <a:bodyPr/>
                  <a:lstStyle/>
                  <a:p>
                    <a:r>
                      <a:rPr lang="en-US" sz="800" baseline="0"/>
                      <a:t>Quảng Bình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FCD8-4A16-8871-877338E8754F}"/>
                </c:ext>
              </c:extLst>
            </c:dLbl>
            <c:dLbl>
              <c:idx val="28"/>
              <c:tx>
                <c:rich>
                  <a:bodyPr/>
                  <a:lstStyle/>
                  <a:p>
                    <a:r>
                      <a:rPr lang="en-US" sz="800" baseline="0"/>
                      <a:t>Quảng Trị</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FCD8-4A16-8871-877338E8754F}"/>
                </c:ext>
              </c:extLst>
            </c:dLbl>
            <c:dLbl>
              <c:idx val="29"/>
              <c:tx>
                <c:rich>
                  <a:bodyPr/>
                  <a:lstStyle/>
                  <a:p>
                    <a:r>
                      <a:rPr lang="en-US" sz="800" baseline="0"/>
                      <a:t>Thừa Thiên - Huế</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FCD8-4A16-8871-877338E8754F}"/>
                </c:ext>
              </c:extLst>
            </c:dLbl>
            <c:dLbl>
              <c:idx val="30"/>
              <c:tx>
                <c:rich>
                  <a:bodyPr/>
                  <a:lstStyle/>
                  <a:p>
                    <a:r>
                      <a:rPr lang="en-US" sz="800" baseline="0"/>
                      <a:t>Quảng Nam</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FCD8-4A16-8871-877338E8754F}"/>
                </c:ext>
              </c:extLst>
            </c:dLbl>
            <c:dLbl>
              <c:idx val="31"/>
              <c:tx>
                <c:rich>
                  <a:bodyPr/>
                  <a:lstStyle/>
                  <a:p>
                    <a:r>
                      <a:rPr lang="en-US" sz="800" baseline="0"/>
                      <a:t>Bình Định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FCD8-4A16-8871-877338E8754F}"/>
                </c:ext>
              </c:extLst>
            </c:dLbl>
            <c:dLbl>
              <c:idx val="32"/>
              <c:tx>
                <c:rich>
                  <a:bodyPr/>
                  <a:lstStyle/>
                  <a:p>
                    <a:r>
                      <a:rPr lang="en-US" sz="800" baseline="0"/>
                      <a:t>Phú Yên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FCD8-4A16-8871-877338E8754F}"/>
                </c:ext>
              </c:extLst>
            </c:dLbl>
            <c:dLbl>
              <c:idx val="33"/>
              <c:tx>
                <c:rich>
                  <a:bodyPr/>
                  <a:lstStyle/>
                  <a:p>
                    <a:r>
                      <a:rPr lang="en-US" sz="800" baseline="0"/>
                      <a:t>Khánh Hòa</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FCD8-4A16-8871-877338E8754F}"/>
                </c:ext>
              </c:extLst>
            </c:dLbl>
            <c:dLbl>
              <c:idx val="34"/>
              <c:tx>
                <c:rich>
                  <a:bodyPr/>
                  <a:lstStyle/>
                  <a:p>
                    <a:r>
                      <a:rPr lang="en-US" sz="800" baseline="0"/>
                      <a:t>Ninh Thuận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FCD8-4A16-8871-877338E8754F}"/>
                </c:ext>
              </c:extLst>
            </c:dLbl>
            <c:dLbl>
              <c:idx val="35"/>
              <c:tx>
                <c:rich>
                  <a:bodyPr/>
                  <a:lstStyle/>
                  <a:p>
                    <a:r>
                      <a:rPr lang="en-US" sz="800" baseline="0"/>
                      <a:t>Bình Thuận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FCD8-4A16-8871-877338E8754F}"/>
                </c:ext>
              </c:extLst>
            </c:dLbl>
            <c:dLbl>
              <c:idx val="36"/>
              <c:tx>
                <c:rich>
                  <a:bodyPr/>
                  <a:lstStyle/>
                  <a:p>
                    <a:r>
                      <a:rPr lang="en-US" sz="800" baseline="0"/>
                      <a:t>Kon Tum</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FCD8-4A16-8871-877338E8754F}"/>
                </c:ext>
              </c:extLst>
            </c:dLbl>
            <c:dLbl>
              <c:idx val="37"/>
              <c:tx>
                <c:rich>
                  <a:bodyPr/>
                  <a:lstStyle/>
                  <a:p>
                    <a:r>
                      <a:rPr lang="en-US" sz="800" baseline="0"/>
                      <a:t>Gia Lai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FCD8-4A16-8871-877338E8754F}"/>
                </c:ext>
              </c:extLst>
            </c:dLbl>
            <c:dLbl>
              <c:idx val="38"/>
              <c:tx>
                <c:rich>
                  <a:bodyPr/>
                  <a:lstStyle/>
                  <a:p>
                    <a:r>
                      <a:rPr lang="en-US" sz="800" baseline="0"/>
                      <a:t>Đắk Lắk</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FCD8-4A16-8871-877338E8754F}"/>
                </c:ext>
              </c:extLst>
            </c:dLbl>
            <c:dLbl>
              <c:idx val="39"/>
              <c:tx>
                <c:rich>
                  <a:bodyPr/>
                  <a:lstStyle/>
                  <a:p>
                    <a:r>
                      <a:rPr lang="en-US" sz="800" baseline="0"/>
                      <a:t>Đắk Nông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FCD8-4A16-8871-877338E8754F}"/>
                </c:ext>
              </c:extLst>
            </c:dLbl>
            <c:dLbl>
              <c:idx val="40"/>
              <c:tx>
                <c:rich>
                  <a:bodyPr/>
                  <a:lstStyle/>
                  <a:p>
                    <a:r>
                      <a:rPr lang="en-US" sz="800" baseline="0"/>
                      <a:t>Lâm Đồng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FCD8-4A16-8871-877338E8754F}"/>
                </c:ext>
              </c:extLst>
            </c:dLbl>
            <c:dLbl>
              <c:idx val="41"/>
              <c:tx>
                <c:rich>
                  <a:bodyPr/>
                  <a:lstStyle/>
                  <a:p>
                    <a:r>
                      <a:rPr lang="vi-VN" sz="800" baseline="0"/>
                      <a:t>Bình Phước</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FCD8-4A16-8871-877338E8754F}"/>
                </c:ext>
              </c:extLst>
            </c:dLbl>
            <c:dLbl>
              <c:idx val="42"/>
              <c:tx>
                <c:rich>
                  <a:bodyPr/>
                  <a:lstStyle/>
                  <a:p>
                    <a:r>
                      <a:rPr lang="en-US" sz="800" baseline="0"/>
                      <a:t>Tây Ninh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FCD8-4A16-8871-877338E8754F}"/>
                </c:ext>
              </c:extLst>
            </c:dLbl>
            <c:dLbl>
              <c:idx val="43"/>
              <c:tx>
                <c:rich>
                  <a:bodyPr/>
                  <a:lstStyle/>
                  <a:p>
                    <a:r>
                      <a:rPr lang="vi-VN" sz="800" baseline="0"/>
                      <a:t>Bình Dương</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FCD8-4A16-8871-877338E8754F}"/>
                </c:ext>
              </c:extLst>
            </c:dLbl>
            <c:dLbl>
              <c:idx val="44"/>
              <c:tx>
                <c:rich>
                  <a:bodyPr/>
                  <a:lstStyle/>
                  <a:p>
                    <a:r>
                      <a:rPr lang="en-US" sz="800" baseline="0"/>
                      <a:t>Đồng Nai</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FCD8-4A16-8871-877338E8754F}"/>
                </c:ext>
              </c:extLst>
            </c:dLbl>
            <c:dLbl>
              <c:idx val="45"/>
              <c:tx>
                <c:rich>
                  <a:bodyPr/>
                  <a:lstStyle/>
                  <a:p>
                    <a:r>
                      <a:rPr lang="en-US" sz="800" baseline="0"/>
                      <a:t>Bà Rịa - Vũng Tàu</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FCD8-4A16-8871-877338E8754F}"/>
                </c:ext>
              </c:extLst>
            </c:dLbl>
            <c:dLbl>
              <c:idx val="46"/>
              <c:tx>
                <c:rich>
                  <a:bodyPr/>
                  <a:lstStyle/>
                  <a:p>
                    <a:r>
                      <a:rPr lang="en-US" sz="800" baseline="0"/>
                      <a:t>Long An</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FCD8-4A16-8871-877338E8754F}"/>
                </c:ext>
              </c:extLst>
            </c:dLbl>
            <c:dLbl>
              <c:idx val="47"/>
              <c:tx>
                <c:rich>
                  <a:bodyPr/>
                  <a:lstStyle/>
                  <a:p>
                    <a:r>
                      <a:rPr lang="en-US" sz="800" baseline="0"/>
                      <a:t>Tiền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FCD8-4A16-8871-877338E8754F}"/>
                </c:ext>
              </c:extLst>
            </c:dLbl>
            <c:dLbl>
              <c:idx val="48"/>
              <c:tx>
                <c:rich>
                  <a:bodyPr/>
                  <a:lstStyle/>
                  <a:p>
                    <a:r>
                      <a:rPr lang="en-US" sz="800" baseline="0"/>
                      <a:t>Bến Tre</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FCD8-4A16-8871-877338E8754F}"/>
                </c:ext>
              </c:extLst>
            </c:dLbl>
            <c:dLbl>
              <c:idx val="49"/>
              <c:tx>
                <c:rich>
                  <a:bodyPr/>
                  <a:lstStyle/>
                  <a:p>
                    <a:r>
                      <a:rPr lang="en-US" sz="800" baseline="0"/>
                      <a:t>Trà Vinh</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FCD8-4A16-8871-877338E8754F}"/>
                </c:ext>
              </c:extLst>
            </c:dLbl>
            <c:dLbl>
              <c:idx val="50"/>
              <c:tx>
                <c:rich>
                  <a:bodyPr/>
                  <a:lstStyle/>
                  <a:p>
                    <a:r>
                      <a:rPr lang="en-US" sz="800" baseline="0"/>
                      <a:t>Vĩnh Long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FCD8-4A16-8871-877338E8754F}"/>
                </c:ext>
              </c:extLst>
            </c:dLbl>
            <c:dLbl>
              <c:idx val="51"/>
              <c:tx>
                <c:rich>
                  <a:bodyPr/>
                  <a:lstStyle/>
                  <a:p>
                    <a:r>
                      <a:rPr lang="en-US" sz="800" baseline="0"/>
                      <a:t>Đồng Tháp</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FCD8-4A16-8871-877338E8754F}"/>
                </c:ext>
              </c:extLst>
            </c:dLbl>
            <c:dLbl>
              <c:idx val="52"/>
              <c:tx>
                <c:rich>
                  <a:bodyPr/>
                  <a:lstStyle/>
                  <a:p>
                    <a:r>
                      <a:rPr lang="en-US" sz="800" baseline="0"/>
                      <a:t>An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FCD8-4A16-8871-877338E8754F}"/>
                </c:ext>
              </c:extLst>
            </c:dLbl>
            <c:dLbl>
              <c:idx val="53"/>
              <c:tx>
                <c:rich>
                  <a:bodyPr/>
                  <a:lstStyle/>
                  <a:p>
                    <a:r>
                      <a:rPr lang="en-US" sz="800" baseline="0"/>
                      <a:t>Kiên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FCD8-4A16-8871-877338E8754F}"/>
                </c:ext>
              </c:extLst>
            </c:dLbl>
            <c:dLbl>
              <c:idx val="54"/>
              <c:tx>
                <c:rich>
                  <a:bodyPr/>
                  <a:lstStyle/>
                  <a:p>
                    <a:r>
                      <a:rPr lang="vi-VN" sz="800" baseline="0"/>
                      <a:t>Cần Thơ</a:t>
                    </a:r>
                    <a:endParaRPr lang="vi-VN"/>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FCD8-4A16-8871-877338E8754F}"/>
                </c:ext>
              </c:extLst>
            </c:dLbl>
            <c:dLbl>
              <c:idx val="55"/>
              <c:tx>
                <c:rich>
                  <a:bodyPr/>
                  <a:lstStyle/>
                  <a:p>
                    <a:r>
                      <a:rPr lang="en-US" sz="800" baseline="0"/>
                      <a:t>Hậu Giang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FCD8-4A16-8871-877338E8754F}"/>
                </c:ext>
              </c:extLst>
            </c:dLbl>
            <c:dLbl>
              <c:idx val="56"/>
              <c:tx>
                <c:rich>
                  <a:bodyPr/>
                  <a:lstStyle/>
                  <a:p>
                    <a:r>
                      <a:rPr lang="en-US" sz="800" baseline="0"/>
                      <a:t>Sóc Trăng</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FCD8-4A16-8871-877338E8754F}"/>
                </c:ext>
              </c:extLst>
            </c:dLbl>
            <c:dLbl>
              <c:idx val="57"/>
              <c:tx>
                <c:rich>
                  <a:bodyPr/>
                  <a:lstStyle/>
                  <a:p>
                    <a:r>
                      <a:rPr lang="en-US" sz="800" baseline="0"/>
                      <a:t>Bạc Liêu</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FCD8-4A16-8871-877338E8754F}"/>
                </c:ext>
              </c:extLst>
            </c:dLbl>
            <c:dLbl>
              <c:idx val="58"/>
              <c:tx>
                <c:rich>
                  <a:bodyPr/>
                  <a:lstStyle/>
                  <a:p>
                    <a:r>
                      <a:rPr lang="en-US" sz="800" baseline="0"/>
                      <a:t>Cà Mau</a:t>
                    </a:r>
                    <a:endParaRPr lang="en-US"/>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C-FCD8-4A16-8871-877338E8754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'P1'!$I$2:$I$60</c:f>
              <c:numCache>
                <c:formatCode>0.0</c:formatCode>
                <c:ptCount val="59"/>
                <c:pt idx="0">
                  <c:v>31.934142994805686</c:v>
                </c:pt>
                <c:pt idx="1">
                  <c:v>25.038696574362763</c:v>
                </c:pt>
                <c:pt idx="2">
                  <c:v>20.598479088328784</c:v>
                </c:pt>
                <c:pt idx="3">
                  <c:v>16.394042877576734</c:v>
                </c:pt>
                <c:pt idx="4">
                  <c:v>18.378203488258503</c:v>
                </c:pt>
                <c:pt idx="5">
                  <c:v>22.016401609925328</c:v>
                </c:pt>
                <c:pt idx="6">
                  <c:v>36.198790883999585</c:v>
                </c:pt>
                <c:pt idx="7">
                  <c:v>38.114419472196168</c:v>
                </c:pt>
                <c:pt idx="8">
                  <c:v>23.01070046863833</c:v>
                </c:pt>
                <c:pt idx="9">
                  <c:v>36.907091852110085</c:v>
                </c:pt>
                <c:pt idx="10">
                  <c:v>15.85479284279115</c:v>
                </c:pt>
                <c:pt idx="11">
                  <c:v>14.453946898224595</c:v>
                </c:pt>
                <c:pt idx="12">
                  <c:v>22.241995680819631</c:v>
                </c:pt>
                <c:pt idx="13">
                  <c:v>29.592357610268223</c:v>
                </c:pt>
                <c:pt idx="14">
                  <c:v>25.351687959324</c:v>
                </c:pt>
                <c:pt idx="15">
                  <c:v>30.933352815032542</c:v>
                </c:pt>
                <c:pt idx="16">
                  <c:v>17.747303791872703</c:v>
                </c:pt>
                <c:pt idx="17">
                  <c:v>21.56469264898011</c:v>
                </c:pt>
                <c:pt idx="18">
                  <c:v>25.547990298974387</c:v>
                </c:pt>
                <c:pt idx="19">
                  <c:v>19.700353817034362</c:v>
                </c:pt>
                <c:pt idx="20">
                  <c:v>34.182460163851722</c:v>
                </c:pt>
                <c:pt idx="21">
                  <c:v>23.688936419034494</c:v>
                </c:pt>
                <c:pt idx="22">
                  <c:v>24.434499849932529</c:v>
                </c:pt>
                <c:pt idx="23">
                  <c:v>22.626409834178819</c:v>
                </c:pt>
                <c:pt idx="24">
                  <c:v>27.89330410009439</c:v>
                </c:pt>
                <c:pt idx="25">
                  <c:v>28.485630314080897</c:v>
                </c:pt>
                <c:pt idx="26">
                  <c:v>26.761534882173457</c:v>
                </c:pt>
                <c:pt idx="27">
                  <c:v>29.557877417321315</c:v>
                </c:pt>
                <c:pt idx="28">
                  <c:v>30.48201231875278</c:v>
                </c:pt>
                <c:pt idx="29">
                  <c:v>30.610826778299291</c:v>
                </c:pt>
                <c:pt idx="30">
                  <c:v>29.880685060892031</c:v>
                </c:pt>
                <c:pt idx="31">
                  <c:v>17.810342678310892</c:v>
                </c:pt>
                <c:pt idx="32">
                  <c:v>29.976545994188211</c:v>
                </c:pt>
                <c:pt idx="33">
                  <c:v>20.904171603633213</c:v>
                </c:pt>
                <c:pt idx="34">
                  <c:v>9.425108001901366</c:v>
                </c:pt>
                <c:pt idx="35">
                  <c:v>17.755656490749825</c:v>
                </c:pt>
                <c:pt idx="36">
                  <c:v>28.462366765246763</c:v>
                </c:pt>
                <c:pt idx="37">
                  <c:v>23.173651407640659</c:v>
                </c:pt>
                <c:pt idx="38">
                  <c:v>32.574555558156007</c:v>
                </c:pt>
                <c:pt idx="39">
                  <c:v>21.928791653550853</c:v>
                </c:pt>
                <c:pt idx="40">
                  <c:v>24.143779292982202</c:v>
                </c:pt>
                <c:pt idx="41">
                  <c:v>27.224639807884923</c:v>
                </c:pt>
                <c:pt idx="42">
                  <c:v>28.383281965514875</c:v>
                </c:pt>
                <c:pt idx="43">
                  <c:v>34.355196608911598</c:v>
                </c:pt>
                <c:pt idx="44">
                  <c:v>22.507285481450335</c:v>
                </c:pt>
                <c:pt idx="45">
                  <c:v>11.860864001716777</c:v>
                </c:pt>
                <c:pt idx="46">
                  <c:v>25.51301898377541</c:v>
                </c:pt>
                <c:pt idx="47">
                  <c:v>18.940605388033003</c:v>
                </c:pt>
                <c:pt idx="48">
                  <c:v>18.169289166797657</c:v>
                </c:pt>
                <c:pt idx="49">
                  <c:v>11.788658933160843</c:v>
                </c:pt>
                <c:pt idx="50">
                  <c:v>20.897136344723904</c:v>
                </c:pt>
                <c:pt idx="51">
                  <c:v>25.183032937848669</c:v>
                </c:pt>
                <c:pt idx="52">
                  <c:v>29.720372926831526</c:v>
                </c:pt>
                <c:pt idx="53">
                  <c:v>20.844518756220651</c:v>
                </c:pt>
                <c:pt idx="54">
                  <c:v>23.866403282267498</c:v>
                </c:pt>
                <c:pt idx="55">
                  <c:v>18.69430165131633</c:v>
                </c:pt>
                <c:pt idx="56">
                  <c:v>28.549579861023606</c:v>
                </c:pt>
                <c:pt idx="57">
                  <c:v>12.129922192917771</c:v>
                </c:pt>
                <c:pt idx="58">
                  <c:v>31.693542261198029</c:v>
                </c:pt>
              </c:numCache>
            </c:numRef>
          </c:xVal>
          <c:yVal>
            <c:numRef>
              <c:f>'P1'!$J$2:$J$60</c:f>
              <c:numCache>
                <c:formatCode>0.0</c:formatCode>
                <c:ptCount val="59"/>
                <c:pt idx="0">
                  <c:v>-2.8273751115064236</c:v>
                </c:pt>
                <c:pt idx="1">
                  <c:v>-3.2104786515890105</c:v>
                </c:pt>
                <c:pt idx="2">
                  <c:v>-1.660073215733544</c:v>
                </c:pt>
                <c:pt idx="3">
                  <c:v>-4.2388495562251673</c:v>
                </c:pt>
                <c:pt idx="4">
                  <c:v>-1.6791924773546238</c:v>
                </c:pt>
                <c:pt idx="5">
                  <c:v>-3.8333702222150454</c:v>
                </c:pt>
                <c:pt idx="6">
                  <c:v>-0.53966206399549943</c:v>
                </c:pt>
                <c:pt idx="7">
                  <c:v>-2.352946454303527</c:v>
                </c:pt>
                <c:pt idx="8">
                  <c:v>-2.7521255602705552</c:v>
                </c:pt>
                <c:pt idx="9">
                  <c:v>-0.90509468301612261</c:v>
                </c:pt>
                <c:pt idx="10">
                  <c:v>-0.31416764213340731</c:v>
                </c:pt>
                <c:pt idx="11">
                  <c:v>-4.2728513409066116</c:v>
                </c:pt>
                <c:pt idx="12">
                  <c:v>-3.9100496423226847</c:v>
                </c:pt>
                <c:pt idx="13">
                  <c:v>-1.3286776489287102</c:v>
                </c:pt>
                <c:pt idx="14">
                  <c:v>-2.0137129242122933</c:v>
                </c:pt>
                <c:pt idx="15">
                  <c:v>-0.60114653684851316</c:v>
                </c:pt>
                <c:pt idx="16">
                  <c:v>-4.7664138571112273</c:v>
                </c:pt>
                <c:pt idx="17">
                  <c:v>-0.62340112514878065</c:v>
                </c:pt>
                <c:pt idx="18">
                  <c:v>-2.5932775038449241</c:v>
                </c:pt>
                <c:pt idx="19">
                  <c:v>-3.4931241463099987</c:v>
                </c:pt>
                <c:pt idx="20">
                  <c:v>-0.26280988330318988</c:v>
                </c:pt>
                <c:pt idx="21">
                  <c:v>-1.8692486276186129</c:v>
                </c:pt>
                <c:pt idx="22">
                  <c:v>-1.3967628957955822</c:v>
                </c:pt>
                <c:pt idx="23">
                  <c:v>-1.7161891814122201</c:v>
                </c:pt>
                <c:pt idx="24">
                  <c:v>-3.0439755794881438</c:v>
                </c:pt>
                <c:pt idx="25">
                  <c:v>-2.0033427614804822</c:v>
                </c:pt>
                <c:pt idx="26">
                  <c:v>-3.2721728293070131</c:v>
                </c:pt>
                <c:pt idx="27">
                  <c:v>-2.2625398352993211</c:v>
                </c:pt>
                <c:pt idx="28">
                  <c:v>2.8044317600907682</c:v>
                </c:pt>
                <c:pt idx="29">
                  <c:v>-2.4463786714830809</c:v>
                </c:pt>
                <c:pt idx="30">
                  <c:v>-1.66577080073954</c:v>
                </c:pt>
                <c:pt idx="31">
                  <c:v>-5.4357998264421363</c:v>
                </c:pt>
                <c:pt idx="32">
                  <c:v>-3.0991010375902697</c:v>
                </c:pt>
                <c:pt idx="33">
                  <c:v>2.851187083646468E-2</c:v>
                </c:pt>
                <c:pt idx="34">
                  <c:v>-7.4213973186926534</c:v>
                </c:pt>
                <c:pt idx="35">
                  <c:v>-1.5525980824315502</c:v>
                </c:pt>
                <c:pt idx="36">
                  <c:v>-0.57821674692089997</c:v>
                </c:pt>
                <c:pt idx="37">
                  <c:v>-1.926325757788995</c:v>
                </c:pt>
                <c:pt idx="38">
                  <c:v>-0.89848708130785215</c:v>
                </c:pt>
                <c:pt idx="39">
                  <c:v>-1.3065468574736632</c:v>
                </c:pt>
                <c:pt idx="40">
                  <c:v>-3.4624129758529989</c:v>
                </c:pt>
                <c:pt idx="41">
                  <c:v>-2.6450142751386192</c:v>
                </c:pt>
                <c:pt idx="42">
                  <c:v>-2.550749535071243</c:v>
                </c:pt>
                <c:pt idx="43">
                  <c:v>-2.9107677984896294</c:v>
                </c:pt>
                <c:pt idx="44">
                  <c:v>5.9367389124698953</c:v>
                </c:pt>
                <c:pt idx="45">
                  <c:v>-8.4310889987041158</c:v>
                </c:pt>
                <c:pt idx="46">
                  <c:v>-3.8536483807127757</c:v>
                </c:pt>
                <c:pt idx="47">
                  <c:v>-3.7643155295723432</c:v>
                </c:pt>
                <c:pt idx="48">
                  <c:v>-5.0998801494801693</c:v>
                </c:pt>
                <c:pt idx="49">
                  <c:v>-6.6044662988814045</c:v>
                </c:pt>
                <c:pt idx="50">
                  <c:v>-4.4352432044499395</c:v>
                </c:pt>
                <c:pt idx="51">
                  <c:v>-2.7326755452424609</c:v>
                </c:pt>
                <c:pt idx="52">
                  <c:v>-1.3727111873980764</c:v>
                </c:pt>
                <c:pt idx="53">
                  <c:v>-1.7170799093985061</c:v>
                </c:pt>
                <c:pt idx="54">
                  <c:v>-4.189990373383945</c:v>
                </c:pt>
                <c:pt idx="55">
                  <c:v>-3.2005596779630512</c:v>
                </c:pt>
                <c:pt idx="56">
                  <c:v>-1.6913289649557592</c:v>
                </c:pt>
                <c:pt idx="57">
                  <c:v>-6.2590915344587579</c:v>
                </c:pt>
                <c:pt idx="58">
                  <c:v>-2.3219538436084393</c:v>
                </c:pt>
              </c:numCache>
            </c:numRef>
          </c:yVal>
          <c:smooth val="0"/>
          <c:extLst>
            <c:ext xmlns:c16="http://schemas.microsoft.com/office/drawing/2014/chart" uri="{C3380CC4-5D6E-409C-BE32-E72D297353CC}">
              <c16:uniqueId val="{0000003D-FCD8-4A16-8871-877338E8754F}"/>
            </c:ext>
          </c:extLst>
        </c:ser>
        <c:dLbls>
          <c:showLegendKey val="0"/>
          <c:showVal val="0"/>
          <c:showCatName val="0"/>
          <c:showSerName val="0"/>
          <c:showPercent val="0"/>
          <c:showBubbleSize val="0"/>
        </c:dLbls>
        <c:axId val="73452160"/>
        <c:axId val="74658560"/>
      </c:scatterChart>
      <c:valAx>
        <c:axId val="73452160"/>
        <c:scaling>
          <c:orientation val="minMax"/>
          <c:max val="40"/>
          <c:min val="5"/>
        </c:scaling>
        <c:delete val="0"/>
        <c:axPos val="b"/>
        <c:title>
          <c:tx>
            <c:rich>
              <a:bodyPr/>
              <a:lstStyle/>
              <a:p>
                <a:pPr>
                  <a:defRPr/>
                </a:pPr>
                <a:r>
                  <a:rPr lang="en-US">
                    <a:latin typeface="Times New Roman" panose="02020603050405020304" pitchFamily="18" charset="0"/>
                    <a:cs typeface="Times New Roman" panose="02020603050405020304" pitchFamily="18" charset="0"/>
                  </a:rPr>
                  <a:t>Tăng</a:t>
                </a:r>
                <a:r>
                  <a:rPr lang="en-US" baseline="0">
                    <a:latin typeface="Times New Roman" panose="02020603050405020304" pitchFamily="18" charset="0"/>
                    <a:cs typeface="Times New Roman" panose="02020603050405020304" pitchFamily="18" charset="0"/>
                  </a:rPr>
                  <a:t> trưởng kinh tế (2008 - 2010)</a:t>
                </a:r>
                <a:endParaRPr lang="en-US">
                  <a:latin typeface="Times New Roman" panose="02020603050405020304" pitchFamily="18" charset="0"/>
                  <a:cs typeface="Times New Roman" panose="02020603050405020304" pitchFamily="18" charset="0"/>
                </a:endParaRPr>
              </a:p>
            </c:rich>
          </c:tx>
          <c:layout>
            <c:manualLayout>
              <c:xMode val="edge"/>
              <c:yMode val="edge"/>
              <c:x val="0.75437047008817393"/>
              <c:y val="0.36306513394211731"/>
            </c:manualLayout>
          </c:layout>
          <c:overlay val="0"/>
        </c:title>
        <c:numFmt formatCode="0.0" sourceLinked="1"/>
        <c:majorTickMark val="out"/>
        <c:minorTickMark val="none"/>
        <c:tickLblPos val="nextTo"/>
        <c:crossAx val="74658560"/>
        <c:crosses val="autoZero"/>
        <c:crossBetween val="midCat"/>
      </c:valAx>
      <c:valAx>
        <c:axId val="74658560"/>
        <c:scaling>
          <c:orientation val="minMax"/>
          <c:max val="8"/>
          <c:min val="-10"/>
        </c:scaling>
        <c:delete val="0"/>
        <c:axPos val="l"/>
        <c:majorGridlines/>
        <c:title>
          <c:tx>
            <c:rich>
              <a:bodyPr rot="0" vert="horz"/>
              <a:lstStyle/>
              <a:p>
                <a:pPr>
                  <a:defRPr/>
                </a:pPr>
                <a:r>
                  <a:rPr lang="en-US">
                    <a:latin typeface="Times New Roman" panose="02020603050405020304" pitchFamily="18" charset="0"/>
                    <a:cs typeface="Times New Roman" panose="02020603050405020304" pitchFamily="18" charset="0"/>
                  </a:rPr>
                  <a:t>Hệ</a:t>
                </a:r>
                <a:r>
                  <a:rPr lang="en-US" baseline="0">
                    <a:latin typeface="Times New Roman" panose="02020603050405020304" pitchFamily="18" charset="0"/>
                    <a:cs typeface="Times New Roman" panose="02020603050405020304" pitchFamily="18" charset="0"/>
                  </a:rPr>
                  <a:t> số co giãn hố sâu nghèo theo tăng trưởng (%)</a:t>
                </a:r>
                <a:endParaRPr lang="en-US">
                  <a:latin typeface="Times New Roman" panose="02020603050405020304" pitchFamily="18" charset="0"/>
                  <a:cs typeface="Times New Roman" panose="02020603050405020304" pitchFamily="18" charset="0"/>
                </a:endParaRPr>
              </a:p>
            </c:rich>
          </c:tx>
          <c:layout>
            <c:manualLayout>
              <c:xMode val="edge"/>
              <c:yMode val="edge"/>
              <c:x val="8.3729133858267746E-2"/>
              <c:y val="2.7738183103781157E-2"/>
            </c:manualLayout>
          </c:layout>
          <c:overlay val="0"/>
        </c:title>
        <c:numFmt formatCode="#,##0.0" sourceLinked="0"/>
        <c:majorTickMark val="out"/>
        <c:minorTickMark val="none"/>
        <c:tickLblPos val="nextTo"/>
        <c:crossAx val="73452160"/>
        <c:crosses val="autoZero"/>
        <c:crossBetween val="midCat"/>
      </c:valAx>
    </c:plotArea>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5.9071746021333582E-2"/>
          <c:y val="3.4187897413516251E-2"/>
          <c:w val="0.91104447461455185"/>
          <c:h val="0.88511914070787256"/>
        </c:manualLayout>
      </c:layout>
      <c:scatterChart>
        <c:scatterStyle val="lineMarker"/>
        <c:varyColors val="0"/>
        <c:ser>
          <c:idx val="2"/>
          <c:order val="2"/>
          <c:xVal>
            <c:numRef>
              <c:f>'P2'!$H$66:$H$67</c:f>
              <c:numCache>
                <c:formatCode>General</c:formatCode>
                <c:ptCount val="2"/>
                <c:pt idx="0">
                  <c:v>0</c:v>
                </c:pt>
                <c:pt idx="1">
                  <c:v>40</c:v>
                </c:pt>
              </c:numCache>
            </c:numRef>
          </c:xVal>
          <c:yVal>
            <c:numRef>
              <c:f>'P2'!$I$66:$I$67</c:f>
              <c:numCache>
                <c:formatCode>0.0</c:formatCode>
                <c:ptCount val="2"/>
                <c:pt idx="0">
                  <c:v>-60.126712862868672</c:v>
                </c:pt>
                <c:pt idx="1">
                  <c:v>-60.126712862868672</c:v>
                </c:pt>
              </c:numCache>
            </c:numRef>
          </c:yVal>
          <c:smooth val="0"/>
          <c:extLst>
            <c:ext xmlns:c16="http://schemas.microsoft.com/office/drawing/2014/chart" uri="{C3380CC4-5D6E-409C-BE32-E72D297353CC}">
              <c16:uniqueId val="{00000000-B26F-447D-8254-6760C4BBEF10}"/>
            </c:ext>
          </c:extLst>
        </c:ser>
        <c:ser>
          <c:idx val="1"/>
          <c:order val="1"/>
          <c:xVal>
            <c:numRef>
              <c:f>'P2'!$J$66:$J$67</c:f>
              <c:numCache>
                <c:formatCode>0.0</c:formatCode>
                <c:ptCount val="2"/>
                <c:pt idx="0">
                  <c:v>24.381947505666187</c:v>
                </c:pt>
                <c:pt idx="1">
                  <c:v>24.381947505666187</c:v>
                </c:pt>
              </c:numCache>
            </c:numRef>
          </c:xVal>
          <c:yVal>
            <c:numRef>
              <c:f>'P2'!$K$66:$K$67</c:f>
              <c:numCache>
                <c:formatCode>General</c:formatCode>
                <c:ptCount val="2"/>
                <c:pt idx="0">
                  <c:v>-100</c:v>
                </c:pt>
                <c:pt idx="1">
                  <c:v>80</c:v>
                </c:pt>
              </c:numCache>
            </c:numRef>
          </c:yVal>
          <c:smooth val="0"/>
          <c:extLst>
            <c:ext xmlns:c16="http://schemas.microsoft.com/office/drawing/2014/chart" uri="{C3380CC4-5D6E-409C-BE32-E72D297353CC}">
              <c16:uniqueId val="{00000001-B26F-447D-8254-6760C4BBEF10}"/>
            </c:ext>
          </c:extLst>
        </c:ser>
        <c:ser>
          <c:idx val="0"/>
          <c:order val="0"/>
          <c:spPr>
            <a:ln w="28575">
              <a:noFill/>
            </a:ln>
          </c:spPr>
          <c:dLbls>
            <c:dLbl>
              <c:idx val="0"/>
              <c:tx>
                <c:rich>
                  <a:bodyPr/>
                  <a:lstStyle/>
                  <a:p>
                    <a:r>
                      <a:rPr lang="en-US"/>
                      <a:t>Hà Nội</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26F-447D-8254-6760C4BBEF10}"/>
                </c:ext>
              </c:extLst>
            </c:dLbl>
            <c:dLbl>
              <c:idx val="1"/>
              <c:tx>
                <c:rich>
                  <a:bodyPr/>
                  <a:lstStyle/>
                  <a:p>
                    <a:r>
                      <a:rPr lang="en-US"/>
                      <a:t>Vĩnh Phúc</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26F-447D-8254-6760C4BBEF10}"/>
                </c:ext>
              </c:extLst>
            </c:dLbl>
            <c:dLbl>
              <c:idx val="2"/>
              <c:tx>
                <c:rich>
                  <a:bodyPr/>
                  <a:lstStyle/>
                  <a:p>
                    <a:r>
                      <a:rPr lang="en-US"/>
                      <a:t>Quảng Ninh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26F-447D-8254-6760C4BBEF10}"/>
                </c:ext>
              </c:extLst>
            </c:dLbl>
            <c:dLbl>
              <c:idx val="3"/>
              <c:tx>
                <c:rich>
                  <a:bodyPr/>
                  <a:lstStyle/>
                  <a:p>
                    <a:r>
                      <a:rPr lang="vi-VN"/>
                      <a:t>Hải Dương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26F-447D-8254-6760C4BBEF10}"/>
                </c:ext>
              </c:extLst>
            </c:dLbl>
            <c:dLbl>
              <c:idx val="4"/>
              <c:tx>
                <c:rich>
                  <a:bodyPr/>
                  <a:lstStyle/>
                  <a:p>
                    <a:r>
                      <a:rPr lang="en-US"/>
                      <a:t>Hải Phòng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26F-447D-8254-6760C4BBEF10}"/>
                </c:ext>
              </c:extLst>
            </c:dLbl>
            <c:dLbl>
              <c:idx val="5"/>
              <c:tx>
                <c:rich>
                  <a:bodyPr/>
                  <a:lstStyle/>
                  <a:p>
                    <a:r>
                      <a:rPr lang="vi-VN"/>
                      <a:t>Hưng Yên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26F-447D-8254-6760C4BBEF10}"/>
                </c:ext>
              </c:extLst>
            </c:dLbl>
            <c:dLbl>
              <c:idx val="6"/>
              <c:tx>
                <c:rich>
                  <a:bodyPr/>
                  <a:lstStyle/>
                  <a:p>
                    <a:r>
                      <a:rPr lang="en-US"/>
                      <a:t>Thái Bình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B26F-447D-8254-6760C4BBEF10}"/>
                </c:ext>
              </c:extLst>
            </c:dLbl>
            <c:dLbl>
              <c:idx val="7"/>
              <c:tx>
                <c:rich>
                  <a:bodyPr/>
                  <a:lstStyle/>
                  <a:p>
                    <a:r>
                      <a:rPr lang="en-US"/>
                      <a:t>Hà Nam</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B26F-447D-8254-6760C4BBEF10}"/>
                </c:ext>
              </c:extLst>
            </c:dLbl>
            <c:dLbl>
              <c:idx val="8"/>
              <c:tx>
                <c:rich>
                  <a:bodyPr/>
                  <a:lstStyle/>
                  <a:p>
                    <a:r>
                      <a:rPr lang="en-US"/>
                      <a:t>Nam Định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B26F-447D-8254-6760C4BBEF10}"/>
                </c:ext>
              </c:extLst>
            </c:dLbl>
            <c:dLbl>
              <c:idx val="9"/>
              <c:tx>
                <c:rich>
                  <a:bodyPr/>
                  <a:lstStyle/>
                  <a:p>
                    <a:r>
                      <a:rPr lang="en-US"/>
                      <a:t>Ninh Bình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B26F-447D-8254-6760C4BBEF10}"/>
                </c:ext>
              </c:extLst>
            </c:dLbl>
            <c:dLbl>
              <c:idx val="10"/>
              <c:tx>
                <c:rich>
                  <a:bodyPr/>
                  <a:lstStyle/>
                  <a:p>
                    <a:r>
                      <a:rPr lang="en-US"/>
                      <a:t>Hà Giang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B26F-447D-8254-6760C4BBEF10}"/>
                </c:ext>
              </c:extLst>
            </c:dLbl>
            <c:dLbl>
              <c:idx val="11"/>
              <c:tx>
                <c:rich>
                  <a:bodyPr/>
                  <a:lstStyle/>
                  <a:p>
                    <a:r>
                      <a:rPr lang="en-US"/>
                      <a:t>Cao Bằng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B26F-447D-8254-6760C4BBEF10}"/>
                </c:ext>
              </c:extLst>
            </c:dLbl>
            <c:dLbl>
              <c:idx val="12"/>
              <c:tx>
                <c:rich>
                  <a:bodyPr/>
                  <a:lstStyle/>
                  <a:p>
                    <a:r>
                      <a:rPr lang="en-US"/>
                      <a:t>Bắc Cạn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B26F-447D-8254-6760C4BBEF10}"/>
                </c:ext>
              </c:extLst>
            </c:dLbl>
            <c:dLbl>
              <c:idx val="13"/>
              <c:tx>
                <c:rich>
                  <a:bodyPr/>
                  <a:lstStyle/>
                  <a:p>
                    <a:r>
                      <a:rPr lang="en-US"/>
                      <a:t>Tuyên Quang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B26F-447D-8254-6760C4BBEF10}"/>
                </c:ext>
              </c:extLst>
            </c:dLbl>
            <c:dLbl>
              <c:idx val="14"/>
              <c:tx>
                <c:rich>
                  <a:bodyPr/>
                  <a:lstStyle/>
                  <a:p>
                    <a:r>
                      <a:rPr lang="en-US"/>
                      <a:t>Lào Cai</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B26F-447D-8254-6760C4BBEF10}"/>
                </c:ext>
              </c:extLst>
            </c:dLbl>
            <c:dLbl>
              <c:idx val="15"/>
              <c:tx>
                <c:rich>
                  <a:bodyPr/>
                  <a:lstStyle/>
                  <a:p>
                    <a:r>
                      <a:rPr lang="en-US"/>
                      <a:t>Yên Bái</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B26F-447D-8254-6760C4BBEF10}"/>
                </c:ext>
              </c:extLst>
            </c:dLbl>
            <c:dLbl>
              <c:idx val="16"/>
              <c:tx>
                <c:rich>
                  <a:bodyPr/>
                  <a:lstStyle/>
                  <a:p>
                    <a:r>
                      <a:rPr lang="en-US"/>
                      <a:t>Thái Nguyên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B26F-447D-8254-6760C4BBEF10}"/>
                </c:ext>
              </c:extLst>
            </c:dLbl>
            <c:dLbl>
              <c:idx val="17"/>
              <c:tx>
                <c:rich>
                  <a:bodyPr/>
                  <a:lstStyle/>
                  <a:p>
                    <a:r>
                      <a:rPr lang="vi-VN"/>
                      <a:t>Lạng Sơn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B26F-447D-8254-6760C4BBEF10}"/>
                </c:ext>
              </c:extLst>
            </c:dLbl>
            <c:dLbl>
              <c:idx val="18"/>
              <c:tx>
                <c:rich>
                  <a:bodyPr/>
                  <a:lstStyle/>
                  <a:p>
                    <a:r>
                      <a:rPr lang="en-US"/>
                      <a:t>Bắc Giang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4-B26F-447D-8254-6760C4BBEF10}"/>
                </c:ext>
              </c:extLst>
            </c:dLbl>
            <c:dLbl>
              <c:idx val="19"/>
              <c:tx>
                <c:rich>
                  <a:bodyPr/>
                  <a:lstStyle/>
                  <a:p>
                    <a:r>
                      <a:rPr lang="en-US"/>
                      <a:t>Phú Thọ</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B26F-447D-8254-6760C4BBEF10}"/>
                </c:ext>
              </c:extLst>
            </c:dLbl>
            <c:dLbl>
              <c:idx val="20"/>
              <c:tx>
                <c:rich>
                  <a:bodyPr/>
                  <a:lstStyle/>
                  <a:p>
                    <a:r>
                      <a:rPr lang="en-US"/>
                      <a:t>Điện Biên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B26F-447D-8254-6760C4BBEF10}"/>
                </c:ext>
              </c:extLst>
            </c:dLbl>
            <c:dLbl>
              <c:idx val="21"/>
              <c:tx>
                <c:rich>
                  <a:bodyPr/>
                  <a:lstStyle/>
                  <a:p>
                    <a:r>
                      <a:rPr lang="en-US"/>
                      <a:t>Lai Châu</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B26F-447D-8254-6760C4BBEF10}"/>
                </c:ext>
              </c:extLst>
            </c:dLbl>
            <c:dLbl>
              <c:idx val="22"/>
              <c:tx>
                <c:rich>
                  <a:bodyPr/>
                  <a:lstStyle/>
                  <a:p>
                    <a:r>
                      <a:rPr lang="vi-VN"/>
                      <a:t>Sơn La</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B26F-447D-8254-6760C4BBEF10}"/>
                </c:ext>
              </c:extLst>
            </c:dLbl>
            <c:dLbl>
              <c:idx val="23"/>
              <c:tx>
                <c:rich>
                  <a:bodyPr/>
                  <a:lstStyle/>
                  <a:p>
                    <a:r>
                      <a:rPr lang="en-US"/>
                      <a:t>Hòa Bình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B26F-447D-8254-6760C4BBEF10}"/>
                </c:ext>
              </c:extLst>
            </c:dLbl>
            <c:dLbl>
              <c:idx val="24"/>
              <c:tx>
                <c:rich>
                  <a:bodyPr/>
                  <a:lstStyle/>
                  <a:p>
                    <a:r>
                      <a:rPr lang="en-US"/>
                      <a:t>Thanh Hóa</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B26F-447D-8254-6760C4BBEF10}"/>
                </c:ext>
              </c:extLst>
            </c:dLbl>
            <c:dLbl>
              <c:idx val="25"/>
              <c:tx>
                <c:rich>
                  <a:bodyPr/>
                  <a:lstStyle/>
                  <a:p>
                    <a:r>
                      <a:rPr lang="en-US"/>
                      <a:t>Nghệ An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B26F-447D-8254-6760C4BBEF10}"/>
                </c:ext>
              </c:extLst>
            </c:dLbl>
            <c:dLbl>
              <c:idx val="26"/>
              <c:tx>
                <c:rich>
                  <a:bodyPr/>
                  <a:lstStyle/>
                  <a:p>
                    <a:r>
                      <a:rPr lang="en-US"/>
                      <a:t>Hà Tĩnh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B26F-447D-8254-6760C4BBEF10}"/>
                </c:ext>
              </c:extLst>
            </c:dLbl>
            <c:dLbl>
              <c:idx val="27"/>
              <c:tx>
                <c:rich>
                  <a:bodyPr/>
                  <a:lstStyle/>
                  <a:p>
                    <a:r>
                      <a:rPr lang="en-US"/>
                      <a:t>Quảng Bình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B26F-447D-8254-6760C4BBEF10}"/>
                </c:ext>
              </c:extLst>
            </c:dLbl>
            <c:dLbl>
              <c:idx val="28"/>
              <c:tx>
                <c:rich>
                  <a:bodyPr/>
                  <a:lstStyle/>
                  <a:p>
                    <a:r>
                      <a:rPr lang="en-US"/>
                      <a:t>Quảng Trị</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B26F-447D-8254-6760C4BBEF10}"/>
                </c:ext>
              </c:extLst>
            </c:dLbl>
            <c:dLbl>
              <c:idx val="29"/>
              <c:tx>
                <c:rich>
                  <a:bodyPr/>
                  <a:lstStyle/>
                  <a:p>
                    <a:r>
                      <a:rPr lang="en-US"/>
                      <a:t>Thừa Thiên-Huế</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B26F-447D-8254-6760C4BBEF10}"/>
                </c:ext>
              </c:extLst>
            </c:dLbl>
            <c:dLbl>
              <c:idx val="30"/>
              <c:tx>
                <c:rich>
                  <a:bodyPr/>
                  <a:lstStyle/>
                  <a:p>
                    <a:r>
                      <a:rPr lang="en-US"/>
                      <a:t>Quảng Nam</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0-B26F-447D-8254-6760C4BBEF10}"/>
                </c:ext>
              </c:extLst>
            </c:dLbl>
            <c:dLbl>
              <c:idx val="31"/>
              <c:tx>
                <c:rich>
                  <a:bodyPr/>
                  <a:lstStyle/>
                  <a:p>
                    <a:r>
                      <a:rPr lang="en-US"/>
                      <a:t>Bình Định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1-B26F-447D-8254-6760C4BBEF10}"/>
                </c:ext>
              </c:extLst>
            </c:dLbl>
            <c:dLbl>
              <c:idx val="32"/>
              <c:tx>
                <c:rich>
                  <a:bodyPr/>
                  <a:lstStyle/>
                  <a:p>
                    <a:r>
                      <a:rPr lang="en-US"/>
                      <a:t>Phú Yên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2-B26F-447D-8254-6760C4BBEF10}"/>
                </c:ext>
              </c:extLst>
            </c:dLbl>
            <c:dLbl>
              <c:idx val="33"/>
              <c:tx>
                <c:rich>
                  <a:bodyPr/>
                  <a:lstStyle/>
                  <a:p>
                    <a:r>
                      <a:rPr lang="en-US"/>
                      <a:t>Khánh Hòa</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3-B26F-447D-8254-6760C4BBEF10}"/>
                </c:ext>
              </c:extLst>
            </c:dLbl>
            <c:dLbl>
              <c:idx val="34"/>
              <c:tx>
                <c:rich>
                  <a:bodyPr/>
                  <a:lstStyle/>
                  <a:p>
                    <a:r>
                      <a:rPr lang="en-US"/>
                      <a:t>Ninh Thuận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4-B26F-447D-8254-6760C4BBEF10}"/>
                </c:ext>
              </c:extLst>
            </c:dLbl>
            <c:dLbl>
              <c:idx val="35"/>
              <c:tx>
                <c:rich>
                  <a:bodyPr/>
                  <a:lstStyle/>
                  <a:p>
                    <a:r>
                      <a:rPr lang="en-US"/>
                      <a:t>Bình Thuận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5-B26F-447D-8254-6760C4BBEF10}"/>
                </c:ext>
              </c:extLst>
            </c:dLbl>
            <c:dLbl>
              <c:idx val="36"/>
              <c:tx>
                <c:rich>
                  <a:bodyPr/>
                  <a:lstStyle/>
                  <a:p>
                    <a:r>
                      <a:rPr lang="en-US"/>
                      <a:t>Kon Tum</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6-B26F-447D-8254-6760C4BBEF10}"/>
                </c:ext>
              </c:extLst>
            </c:dLbl>
            <c:dLbl>
              <c:idx val="37"/>
              <c:tx>
                <c:rich>
                  <a:bodyPr/>
                  <a:lstStyle/>
                  <a:p>
                    <a:r>
                      <a:rPr lang="en-US"/>
                      <a:t>Gia Lai</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7-B26F-447D-8254-6760C4BBEF10}"/>
                </c:ext>
              </c:extLst>
            </c:dLbl>
            <c:dLbl>
              <c:idx val="38"/>
              <c:tx>
                <c:rich>
                  <a:bodyPr/>
                  <a:lstStyle/>
                  <a:p>
                    <a:r>
                      <a:rPr lang="en-US"/>
                      <a:t>Đắk Lắk</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8-B26F-447D-8254-6760C4BBEF10}"/>
                </c:ext>
              </c:extLst>
            </c:dLbl>
            <c:dLbl>
              <c:idx val="39"/>
              <c:tx>
                <c:rich>
                  <a:bodyPr/>
                  <a:lstStyle/>
                  <a:p>
                    <a:r>
                      <a:rPr lang="en-US"/>
                      <a:t>Đắk Nông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9-B26F-447D-8254-6760C4BBEF10}"/>
                </c:ext>
              </c:extLst>
            </c:dLbl>
            <c:dLbl>
              <c:idx val="40"/>
              <c:tx>
                <c:rich>
                  <a:bodyPr/>
                  <a:lstStyle/>
                  <a:p>
                    <a:r>
                      <a:rPr lang="en-US"/>
                      <a:t>Lâm Đồng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A-B26F-447D-8254-6760C4BBEF10}"/>
                </c:ext>
              </c:extLst>
            </c:dLbl>
            <c:dLbl>
              <c:idx val="41"/>
              <c:tx>
                <c:rich>
                  <a:bodyPr/>
                  <a:lstStyle/>
                  <a:p>
                    <a:r>
                      <a:rPr lang="vi-VN"/>
                      <a:t>Bình Phước</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B-B26F-447D-8254-6760C4BBEF10}"/>
                </c:ext>
              </c:extLst>
            </c:dLbl>
            <c:dLbl>
              <c:idx val="42"/>
              <c:tx>
                <c:rich>
                  <a:bodyPr/>
                  <a:lstStyle/>
                  <a:p>
                    <a:r>
                      <a:rPr lang="en-US"/>
                      <a:t>Tây Ninh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C-B26F-447D-8254-6760C4BBEF10}"/>
                </c:ext>
              </c:extLst>
            </c:dLbl>
            <c:dLbl>
              <c:idx val="43"/>
              <c:tx>
                <c:rich>
                  <a:bodyPr/>
                  <a:lstStyle/>
                  <a:p>
                    <a:r>
                      <a:rPr lang="vi-VN"/>
                      <a:t>Bình Dương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D-B26F-447D-8254-6760C4BBEF10}"/>
                </c:ext>
              </c:extLst>
            </c:dLbl>
            <c:dLbl>
              <c:idx val="44"/>
              <c:tx>
                <c:rich>
                  <a:bodyPr/>
                  <a:lstStyle/>
                  <a:p>
                    <a:r>
                      <a:rPr lang="en-US"/>
                      <a:t>Bà Rịa-Vũng Tàu</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E-B26F-447D-8254-6760C4BBEF10}"/>
                </c:ext>
              </c:extLst>
            </c:dLbl>
            <c:dLbl>
              <c:idx val="45"/>
              <c:tx>
                <c:rich>
                  <a:bodyPr/>
                  <a:lstStyle/>
                  <a:p>
                    <a:r>
                      <a:rPr lang="en-US"/>
                      <a:t>Long An</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2F-B26F-447D-8254-6760C4BBEF10}"/>
                </c:ext>
              </c:extLst>
            </c:dLbl>
            <c:dLbl>
              <c:idx val="46"/>
              <c:tx>
                <c:rich>
                  <a:bodyPr/>
                  <a:lstStyle/>
                  <a:p>
                    <a:r>
                      <a:rPr lang="en-US"/>
                      <a:t>Tiền Giang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0-B26F-447D-8254-6760C4BBEF10}"/>
                </c:ext>
              </c:extLst>
            </c:dLbl>
            <c:dLbl>
              <c:idx val="47"/>
              <c:tx>
                <c:rich>
                  <a:bodyPr/>
                  <a:lstStyle/>
                  <a:p>
                    <a:r>
                      <a:rPr lang="en-US"/>
                      <a:t>Bến Tre</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1-B26F-447D-8254-6760C4BBEF10}"/>
                </c:ext>
              </c:extLst>
            </c:dLbl>
            <c:dLbl>
              <c:idx val="48"/>
              <c:tx>
                <c:rich>
                  <a:bodyPr/>
                  <a:lstStyle/>
                  <a:p>
                    <a:r>
                      <a:rPr lang="en-US"/>
                      <a:t>Trà Vinh</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2-B26F-447D-8254-6760C4BBEF10}"/>
                </c:ext>
              </c:extLst>
            </c:dLbl>
            <c:dLbl>
              <c:idx val="49"/>
              <c:tx>
                <c:rich>
                  <a:bodyPr/>
                  <a:lstStyle/>
                  <a:p>
                    <a:r>
                      <a:rPr lang="en-US"/>
                      <a:t>Vĩnh Long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3-B26F-447D-8254-6760C4BBEF10}"/>
                </c:ext>
              </c:extLst>
            </c:dLbl>
            <c:dLbl>
              <c:idx val="50"/>
              <c:tx>
                <c:rich>
                  <a:bodyPr/>
                  <a:lstStyle/>
                  <a:p>
                    <a:r>
                      <a:rPr lang="en-US"/>
                      <a:t>Đồng Tháp</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4-B26F-447D-8254-6760C4BBEF10}"/>
                </c:ext>
              </c:extLst>
            </c:dLbl>
            <c:dLbl>
              <c:idx val="51"/>
              <c:tx>
                <c:rich>
                  <a:bodyPr/>
                  <a:lstStyle/>
                  <a:p>
                    <a:r>
                      <a:rPr lang="en-US"/>
                      <a:t>An Giang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5-B26F-447D-8254-6760C4BBEF10}"/>
                </c:ext>
              </c:extLst>
            </c:dLbl>
            <c:dLbl>
              <c:idx val="52"/>
              <c:tx>
                <c:rich>
                  <a:bodyPr/>
                  <a:lstStyle/>
                  <a:p>
                    <a:r>
                      <a:rPr lang="en-US"/>
                      <a:t>Kiên Giang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6-B26F-447D-8254-6760C4BBEF10}"/>
                </c:ext>
              </c:extLst>
            </c:dLbl>
            <c:dLbl>
              <c:idx val="53"/>
              <c:tx>
                <c:rich>
                  <a:bodyPr/>
                  <a:lstStyle/>
                  <a:p>
                    <a:r>
                      <a:rPr lang="vi-VN"/>
                      <a:t>Cần Thơ</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7-B26F-447D-8254-6760C4BBEF10}"/>
                </c:ext>
              </c:extLst>
            </c:dLbl>
            <c:dLbl>
              <c:idx val="54"/>
              <c:tx>
                <c:rich>
                  <a:bodyPr/>
                  <a:lstStyle/>
                  <a:p>
                    <a:r>
                      <a:rPr lang="en-US"/>
                      <a:t>Hậu Giang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8-B26F-447D-8254-6760C4BBEF10}"/>
                </c:ext>
              </c:extLst>
            </c:dLbl>
            <c:dLbl>
              <c:idx val="55"/>
              <c:tx>
                <c:rich>
                  <a:bodyPr/>
                  <a:lstStyle/>
                  <a:p>
                    <a:r>
                      <a:rPr lang="en-US"/>
                      <a:t>Sóc Trăng</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9-B26F-447D-8254-6760C4BBEF10}"/>
                </c:ext>
              </c:extLst>
            </c:dLbl>
            <c:dLbl>
              <c:idx val="56"/>
              <c:tx>
                <c:rich>
                  <a:bodyPr/>
                  <a:lstStyle/>
                  <a:p>
                    <a:r>
                      <a:rPr lang="en-US"/>
                      <a:t>Bạc Liêu</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A-B26F-447D-8254-6760C4BBEF10}"/>
                </c:ext>
              </c:extLst>
            </c:dLbl>
            <c:dLbl>
              <c:idx val="57"/>
              <c:tx>
                <c:rich>
                  <a:bodyPr/>
                  <a:lstStyle/>
                  <a:p>
                    <a:r>
                      <a:rPr lang="en-US"/>
                      <a:t>Cà Mau</a:t>
                    </a:r>
                  </a:p>
                </c:rich>
              </c:tx>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3B-B26F-447D-8254-6760C4BBEF1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'P2'!$I$2:$I$59</c:f>
              <c:numCache>
                <c:formatCode>0.0</c:formatCode>
                <c:ptCount val="58"/>
                <c:pt idx="0">
                  <c:v>31.934142994805686</c:v>
                </c:pt>
                <c:pt idx="1">
                  <c:v>25.038696574362763</c:v>
                </c:pt>
                <c:pt idx="2">
                  <c:v>20.598479088328784</c:v>
                </c:pt>
                <c:pt idx="3">
                  <c:v>16.394042877576734</c:v>
                </c:pt>
                <c:pt idx="4">
                  <c:v>18.378203488258503</c:v>
                </c:pt>
                <c:pt idx="5">
                  <c:v>22.016401609925328</c:v>
                </c:pt>
                <c:pt idx="6">
                  <c:v>36.198790883999585</c:v>
                </c:pt>
                <c:pt idx="7">
                  <c:v>38.114419472196168</c:v>
                </c:pt>
                <c:pt idx="8">
                  <c:v>23.01070046863833</c:v>
                </c:pt>
                <c:pt idx="9">
                  <c:v>36.907091852110085</c:v>
                </c:pt>
                <c:pt idx="10">
                  <c:v>15.85479284279115</c:v>
                </c:pt>
                <c:pt idx="11">
                  <c:v>14.453946898224595</c:v>
                </c:pt>
                <c:pt idx="12">
                  <c:v>22.241995680819631</c:v>
                </c:pt>
                <c:pt idx="13">
                  <c:v>29.592357610268223</c:v>
                </c:pt>
                <c:pt idx="14">
                  <c:v>25.351687959324</c:v>
                </c:pt>
                <c:pt idx="15">
                  <c:v>30.933352815032542</c:v>
                </c:pt>
                <c:pt idx="16">
                  <c:v>17.747303791872703</c:v>
                </c:pt>
                <c:pt idx="17">
                  <c:v>21.56469264898011</c:v>
                </c:pt>
                <c:pt idx="18">
                  <c:v>25.547990298974387</c:v>
                </c:pt>
                <c:pt idx="19">
                  <c:v>19.700353817034362</c:v>
                </c:pt>
                <c:pt idx="20">
                  <c:v>34.182460163851722</c:v>
                </c:pt>
                <c:pt idx="21">
                  <c:v>23.688936419034494</c:v>
                </c:pt>
                <c:pt idx="22">
                  <c:v>24.434499849932529</c:v>
                </c:pt>
                <c:pt idx="23">
                  <c:v>22.626409834178819</c:v>
                </c:pt>
                <c:pt idx="24">
                  <c:v>27.89330410009439</c:v>
                </c:pt>
                <c:pt idx="25">
                  <c:v>28.485630314080897</c:v>
                </c:pt>
                <c:pt idx="26">
                  <c:v>26.761534882173457</c:v>
                </c:pt>
                <c:pt idx="27">
                  <c:v>29.557877417321315</c:v>
                </c:pt>
                <c:pt idx="28">
                  <c:v>30.48201231875278</c:v>
                </c:pt>
                <c:pt idx="29">
                  <c:v>30.610826778299291</c:v>
                </c:pt>
                <c:pt idx="30">
                  <c:v>29.880685060892031</c:v>
                </c:pt>
                <c:pt idx="31">
                  <c:v>17.810342678310892</c:v>
                </c:pt>
                <c:pt idx="32">
                  <c:v>29.976545994188211</c:v>
                </c:pt>
                <c:pt idx="33">
                  <c:v>20.904171603633213</c:v>
                </c:pt>
                <c:pt idx="34">
                  <c:v>9.425108001901366</c:v>
                </c:pt>
                <c:pt idx="35">
                  <c:v>17.755656490749825</c:v>
                </c:pt>
                <c:pt idx="36">
                  <c:v>28.462366765246763</c:v>
                </c:pt>
                <c:pt idx="37">
                  <c:v>23.173651407640659</c:v>
                </c:pt>
                <c:pt idx="38">
                  <c:v>32.574555558156007</c:v>
                </c:pt>
                <c:pt idx="39">
                  <c:v>21.928791653550853</c:v>
                </c:pt>
                <c:pt idx="40">
                  <c:v>24.143779292982202</c:v>
                </c:pt>
                <c:pt idx="41">
                  <c:v>27.224639807884923</c:v>
                </c:pt>
                <c:pt idx="42">
                  <c:v>28.383281965514875</c:v>
                </c:pt>
                <c:pt idx="43">
                  <c:v>34.355196608911598</c:v>
                </c:pt>
                <c:pt idx="44">
                  <c:v>11.860864001716777</c:v>
                </c:pt>
                <c:pt idx="45">
                  <c:v>25.51301898377541</c:v>
                </c:pt>
                <c:pt idx="46">
                  <c:v>18.940605388033003</c:v>
                </c:pt>
                <c:pt idx="47">
                  <c:v>18.169289166797657</c:v>
                </c:pt>
                <c:pt idx="48">
                  <c:v>11.788658933160843</c:v>
                </c:pt>
                <c:pt idx="49">
                  <c:v>20.897136344723904</c:v>
                </c:pt>
                <c:pt idx="50">
                  <c:v>25.183032937848669</c:v>
                </c:pt>
                <c:pt idx="51">
                  <c:v>29.720372926831526</c:v>
                </c:pt>
                <c:pt idx="52">
                  <c:v>20.844518756220651</c:v>
                </c:pt>
                <c:pt idx="53">
                  <c:v>23.866403282267498</c:v>
                </c:pt>
                <c:pt idx="54">
                  <c:v>18.69430165131633</c:v>
                </c:pt>
                <c:pt idx="55">
                  <c:v>28.549579861023606</c:v>
                </c:pt>
                <c:pt idx="56">
                  <c:v>12.129922192917771</c:v>
                </c:pt>
                <c:pt idx="57">
                  <c:v>31.693542261198029</c:v>
                </c:pt>
              </c:numCache>
            </c:numRef>
          </c:xVal>
          <c:yVal>
            <c:numRef>
              <c:f>'P2'!$J$2:$J$59</c:f>
              <c:numCache>
                <c:formatCode>0</c:formatCode>
                <c:ptCount val="58"/>
                <c:pt idx="0">
                  <c:v>-94.214990575451779</c:v>
                </c:pt>
                <c:pt idx="1">
                  <c:v>-91.360868849761388</c:v>
                </c:pt>
                <c:pt idx="2">
                  <c:v>-69.727412419456726</c:v>
                </c:pt>
                <c:pt idx="3">
                  <c:v>-81.771208844027882</c:v>
                </c:pt>
                <c:pt idx="4">
                  <c:v>-50.946478331891996</c:v>
                </c:pt>
                <c:pt idx="5">
                  <c:v>-82.845674679768393</c:v>
                </c:pt>
                <c:pt idx="6">
                  <c:v>-23.274206134822023</c:v>
                </c:pt>
                <c:pt idx="7">
                  <c:v>-89.020370129154188</c:v>
                </c:pt>
                <c:pt idx="8">
                  <c:v>-76.334174622334402</c:v>
                </c:pt>
                <c:pt idx="9">
                  <c:v>-35.078981073004094</c:v>
                </c:pt>
                <c:pt idx="10">
                  <c:v>-0.43570274513969637</c:v>
                </c:pt>
                <c:pt idx="11">
                  <c:v>-68.059345933542318</c:v>
                </c:pt>
                <c:pt idx="12">
                  <c:v>-91.803694207356941</c:v>
                </c:pt>
                <c:pt idx="13">
                  <c:v>-56.495683310999333</c:v>
                </c:pt>
                <c:pt idx="14">
                  <c:v>-63.097401848502237</c:v>
                </c:pt>
                <c:pt idx="15">
                  <c:v>-35.696604157624485</c:v>
                </c:pt>
                <c:pt idx="16">
                  <c:v>-79.108023469277796</c:v>
                </c:pt>
                <c:pt idx="17">
                  <c:v>-7.7177198284951087</c:v>
                </c:pt>
                <c:pt idx="18">
                  <c:v>-74.631018739475351</c:v>
                </c:pt>
                <c:pt idx="19">
                  <c:v>-74.071398042048955</c:v>
                </c:pt>
                <c:pt idx="20">
                  <c:v>-9.6254491922934715</c:v>
                </c:pt>
                <c:pt idx="21">
                  <c:v>-53.629362346439486</c:v>
                </c:pt>
                <c:pt idx="22">
                  <c:v>-42.569974872801367</c:v>
                </c:pt>
                <c:pt idx="23">
                  <c:v>-46.229617954333058</c:v>
                </c:pt>
                <c:pt idx="24">
                  <c:v>-87.738458313327826</c:v>
                </c:pt>
                <c:pt idx="25">
                  <c:v>-57.000461953909998</c:v>
                </c:pt>
                <c:pt idx="26">
                  <c:v>-93.691736961145821</c:v>
                </c:pt>
                <c:pt idx="27">
                  <c:v>-72.027816774951788</c:v>
                </c:pt>
                <c:pt idx="28">
                  <c:v>61.573527956833743</c:v>
                </c:pt>
                <c:pt idx="29">
                  <c:v>-85.80353724829645</c:v>
                </c:pt>
                <c:pt idx="30">
                  <c:v>-44.19991221225137</c:v>
                </c:pt>
                <c:pt idx="31">
                  <c:v>-97.693377972955119</c:v>
                </c:pt>
                <c:pt idx="32">
                  <c:v>-96.504899829425739</c:v>
                </c:pt>
                <c:pt idx="33">
                  <c:v>64.297145090949215</c:v>
                </c:pt>
                <c:pt idx="34">
                  <c:v>-78.982556598271572</c:v>
                </c:pt>
                <c:pt idx="35">
                  <c:v>-54.058860314234295</c:v>
                </c:pt>
                <c:pt idx="36">
                  <c:v>-33.064561854452272</c:v>
                </c:pt>
                <c:pt idx="37">
                  <c:v>-44.492633102970579</c:v>
                </c:pt>
                <c:pt idx="38">
                  <c:v>-35.554136738494279</c:v>
                </c:pt>
                <c:pt idx="39">
                  <c:v>-36.937809339358736</c:v>
                </c:pt>
                <c:pt idx="40">
                  <c:v>-83.565037852718277</c:v>
                </c:pt>
                <c:pt idx="41">
                  <c:v>-18.523018766032131</c:v>
                </c:pt>
                <c:pt idx="42">
                  <c:v>-82.084727499574655</c:v>
                </c:pt>
                <c:pt idx="43">
                  <c:v>-100</c:v>
                </c:pt>
                <c:pt idx="44">
                  <c:v>-100</c:v>
                </c:pt>
                <c:pt idx="45">
                  <c:v>-99.761381713506339</c:v>
                </c:pt>
                <c:pt idx="46">
                  <c:v>-56.261535121051025</c:v>
                </c:pt>
                <c:pt idx="47">
                  <c:v>-97.178551586407565</c:v>
                </c:pt>
                <c:pt idx="48">
                  <c:v>-85.796771480729348</c:v>
                </c:pt>
                <c:pt idx="49">
                  <c:v>-95.142773035030785</c:v>
                </c:pt>
                <c:pt idx="50">
                  <c:v>-36.332527698676621</c:v>
                </c:pt>
                <c:pt idx="51">
                  <c:v>-18.59363469732671</c:v>
                </c:pt>
                <c:pt idx="52">
                  <c:v>-34.080192411152247</c:v>
                </c:pt>
                <c:pt idx="53">
                  <c:v>-100</c:v>
                </c:pt>
                <c:pt idx="54">
                  <c:v>-72.983684278756229</c:v>
                </c:pt>
                <c:pt idx="55">
                  <c:v>-55.124559208281212</c:v>
                </c:pt>
                <c:pt idx="56">
                  <c:v>-85.127384486536158</c:v>
                </c:pt>
                <c:pt idx="57">
                  <c:v>-77.168117736331141</c:v>
                </c:pt>
              </c:numCache>
            </c:numRef>
          </c:yVal>
          <c:smooth val="0"/>
          <c:extLst>
            <c:ext xmlns:c16="http://schemas.microsoft.com/office/drawing/2014/chart" uri="{C3380CC4-5D6E-409C-BE32-E72D297353CC}">
              <c16:uniqueId val="{0000003C-B26F-447D-8254-6760C4BBEF10}"/>
            </c:ext>
          </c:extLst>
        </c:ser>
        <c:dLbls>
          <c:showLegendKey val="0"/>
          <c:showVal val="0"/>
          <c:showCatName val="0"/>
          <c:showSerName val="0"/>
          <c:showPercent val="0"/>
          <c:showBubbleSize val="0"/>
        </c:dLbls>
        <c:axId val="74709248"/>
        <c:axId val="75846016"/>
      </c:scatterChart>
      <c:valAx>
        <c:axId val="74709248"/>
        <c:scaling>
          <c:orientation val="minMax"/>
          <c:max val="40"/>
          <c:min val="5"/>
        </c:scaling>
        <c:delete val="0"/>
        <c:axPos val="b"/>
        <c:majorGridlines/>
        <c:title>
          <c:tx>
            <c:rich>
              <a:bodyPr/>
              <a:lstStyle/>
              <a:p>
                <a:pPr>
                  <a:defRPr/>
                </a:pPr>
                <a:r>
                  <a:rPr lang="en-US"/>
                  <a:t>Tăng</a:t>
                </a:r>
                <a:r>
                  <a:rPr lang="en-US" baseline="0"/>
                  <a:t> trưởng kinh tế (2008 - 2010) (%)</a:t>
                </a:r>
                <a:endParaRPr lang="en-US"/>
              </a:p>
            </c:rich>
          </c:tx>
          <c:layout>
            <c:manualLayout>
              <c:xMode val="edge"/>
              <c:yMode val="edge"/>
              <c:x val="0.75128385644235884"/>
              <c:y val="0.35887593727458533"/>
            </c:manualLayout>
          </c:layout>
          <c:overlay val="0"/>
        </c:title>
        <c:numFmt formatCode="General" sourceLinked="1"/>
        <c:majorTickMark val="out"/>
        <c:minorTickMark val="none"/>
        <c:tickLblPos val="nextTo"/>
        <c:crossAx val="75846016"/>
        <c:crosses val="autoZero"/>
        <c:crossBetween val="midCat"/>
      </c:valAx>
      <c:valAx>
        <c:axId val="75846016"/>
        <c:scaling>
          <c:orientation val="minMax"/>
          <c:max val="80"/>
          <c:min val="-100"/>
        </c:scaling>
        <c:delete val="0"/>
        <c:axPos val="l"/>
        <c:majorGridlines/>
        <c:title>
          <c:tx>
            <c:rich>
              <a:bodyPr rot="0" vert="horz"/>
              <a:lstStyle/>
              <a:p>
                <a:pPr>
                  <a:defRPr/>
                </a:pPr>
                <a:r>
                  <a:rPr lang="en-US"/>
                  <a:t>Tỷ</a:t>
                </a:r>
                <a:r>
                  <a:rPr lang="en-US" baseline="0"/>
                  <a:t> lệ bình phương hố sâu nghèo (%)</a:t>
                </a:r>
                <a:endParaRPr lang="en-US"/>
              </a:p>
            </c:rich>
          </c:tx>
          <c:layout>
            <c:manualLayout>
              <c:xMode val="edge"/>
              <c:yMode val="edge"/>
              <c:x val="7.0664817413591569E-2"/>
              <c:y val="3.7632582301346279E-2"/>
            </c:manualLayout>
          </c:layout>
          <c:overlay val="0"/>
        </c:title>
        <c:numFmt formatCode="0" sourceLinked="0"/>
        <c:majorTickMark val="out"/>
        <c:minorTickMark val="none"/>
        <c:tickLblPos val="nextTo"/>
        <c:crossAx val="74709248"/>
        <c:crosses val="autoZero"/>
        <c:crossBetween val="midCat"/>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17F6F5-6818-4372-B0B5-D3B5CA0FBCE8}" type="datetimeFigureOut">
              <a:rPr lang="en-US" smtClean="0"/>
              <a:t>10/20/2025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68D14C-CB0B-49E9-99AC-D4D2CDCB383A}" type="slidenum">
              <a:rPr lang="en-US" smtClean="0"/>
              <a:t>‹#›</a:t>
            </a:fld>
            <a:endParaRPr lang="en-US"/>
          </a:p>
        </p:txBody>
      </p:sp>
    </p:spTree>
    <p:extLst>
      <p:ext uri="{BB962C8B-B14F-4D97-AF65-F5344CB8AC3E}">
        <p14:creationId xmlns:p14="http://schemas.microsoft.com/office/powerpoint/2010/main" val="1038448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2428301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868627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839644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20/10/2025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71489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20/10/2025</a:t>
            </a:r>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2707387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20/10/2025</a:t>
            </a:r>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1139850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20/10/2025</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3436440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20/10/2025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504823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20/10/2025</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1370769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2065104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735496-F72B-4276-AF3F-BDFBC2A621AD}" type="slidenum">
              <a:rPr lang="en-US" smtClean="0"/>
              <a:pPr/>
              <a:t>‹#›</a:t>
            </a:fld>
            <a:endParaRPr lang="en-US"/>
          </a:p>
        </p:txBody>
      </p:sp>
    </p:spTree>
    <p:extLst>
      <p:ext uri="{BB962C8B-B14F-4D97-AF65-F5344CB8AC3E}">
        <p14:creationId xmlns:p14="http://schemas.microsoft.com/office/powerpoint/2010/main" val="1078095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20/10/2025</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735496-F72B-4276-AF3F-BDFBC2A621AD}" type="slidenum">
              <a:rPr lang="en-US" smtClean="0"/>
              <a:pPr/>
              <a:t>‹#›</a:t>
            </a:fld>
            <a:endParaRPr lang="en-US"/>
          </a:p>
        </p:txBody>
      </p:sp>
    </p:spTree>
    <p:extLst>
      <p:ext uri="{BB962C8B-B14F-4D97-AF65-F5344CB8AC3E}">
        <p14:creationId xmlns:p14="http://schemas.microsoft.com/office/powerpoint/2010/main" val="3689879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mailto:hoangbao@ueh.edu.vn"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002060"/>
                </a:solidFill>
              </a:rPr>
              <a:t>Amartya</a:t>
            </a:r>
            <a:r>
              <a:rPr lang="en-US" b="1" dirty="0" smtClean="0">
                <a:solidFill>
                  <a:srgbClr val="002060"/>
                </a:solidFill>
              </a:rPr>
              <a:t> </a:t>
            </a:r>
            <a:r>
              <a:rPr lang="en-US" b="1" dirty="0" err="1" smtClean="0">
                <a:solidFill>
                  <a:srgbClr val="002060"/>
                </a:solidFill>
              </a:rPr>
              <a:t>Sen</a:t>
            </a:r>
            <a:r>
              <a:rPr lang="en-US" b="1" dirty="0" smtClean="0">
                <a:solidFill>
                  <a:srgbClr val="002060"/>
                </a:solidFill>
              </a:rPr>
              <a:t> (Nobel prize, 1998)</a:t>
            </a:r>
            <a:endParaRPr lang="en-US" b="1" dirty="0">
              <a:solidFill>
                <a:srgbClr val="002060"/>
              </a:solidFill>
            </a:endParaRPr>
          </a:p>
        </p:txBody>
      </p:sp>
      <p:pic>
        <p:nvPicPr>
          <p:cNvPr id="1026" name="Picture 2" descr="D:\Amartya_Sen_NIH.jpg"/>
          <p:cNvPicPr>
            <a:picLocks noGrp="1" noChangeAspect="1" noChangeArrowheads="1"/>
          </p:cNvPicPr>
          <p:nvPr>
            <p:ph idx="1"/>
          </p:nvPr>
        </p:nvPicPr>
        <p:blipFill>
          <a:blip r:embed="rId2" cstate="print"/>
          <a:srcRect/>
          <a:stretch>
            <a:fillRect/>
          </a:stretch>
        </p:blipFill>
        <p:spPr bwMode="auto">
          <a:xfrm>
            <a:off x="609600" y="1600200"/>
            <a:ext cx="4191000" cy="4572000"/>
          </a:xfrm>
          <a:prstGeom prst="rect">
            <a:avLst/>
          </a:prstGeom>
          <a:noFill/>
        </p:spPr>
      </p:pic>
      <p:sp>
        <p:nvSpPr>
          <p:cNvPr id="5" name="TextBox 4"/>
          <p:cNvSpPr txBox="1"/>
          <p:nvPr/>
        </p:nvSpPr>
        <p:spPr>
          <a:xfrm>
            <a:off x="5029200" y="2667000"/>
            <a:ext cx="3657600" cy="2677656"/>
          </a:xfrm>
          <a:prstGeom prst="rect">
            <a:avLst/>
          </a:prstGeom>
          <a:noFill/>
        </p:spPr>
        <p:txBody>
          <a:bodyPr wrap="square" rtlCol="0">
            <a:spAutoFit/>
          </a:bodyPr>
          <a:lstStyle/>
          <a:p>
            <a:r>
              <a:rPr lang="en-US" sz="2800" dirty="0" smtClean="0">
                <a:latin typeface="Times New Roman" pitchFamily="18" charset="0"/>
                <a:cs typeface="Times New Roman" pitchFamily="18" charset="0"/>
              </a:rPr>
              <a:t>“</a:t>
            </a:r>
            <a:r>
              <a:rPr lang="en-US" sz="2800" dirty="0" err="1" smtClean="0">
                <a:latin typeface="Times New Roman" pitchFamily="18" charset="0"/>
                <a:cs typeface="Times New Roman" pitchFamily="18" charset="0"/>
              </a:rPr>
              <a:t>Chúng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gần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như</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là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mù</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hành</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động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dựa</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trên</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thiết</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kế</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yếu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kém</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hoặc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khi</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các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thước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đo</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không</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được</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hiểu</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đúng</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smtClean="0"/>
              <a:t>20/10/2025</a:t>
            </a:r>
            <a:endParaRPr lang="en-US"/>
          </a:p>
        </p:txBody>
      </p:sp>
      <p:sp>
        <p:nvSpPr>
          <p:cNvPr id="4" name="Slide Number Placeholder 3"/>
          <p:cNvSpPr>
            <a:spLocks noGrp="1"/>
          </p:cNvSpPr>
          <p:nvPr>
            <p:ph type="sldNum" sz="quarter" idx="12"/>
          </p:nvPr>
        </p:nvSpPr>
        <p:spPr/>
        <p:txBody>
          <a:bodyPr/>
          <a:lstStyle/>
          <a:p>
            <a:fld id="{57735496-F72B-4276-AF3F-BDFBC2A621AD}" type="slidenum">
              <a:rPr lang="en-US" smtClean="0"/>
              <a:pPr/>
              <a:t>1</a:t>
            </a:fld>
            <a:endParaRPr lang="en-US"/>
          </a:p>
        </p:txBody>
      </p:sp>
    </p:spTree>
    <p:extLst>
      <p:ext uri="{BB962C8B-B14F-4D97-AF65-F5344CB8AC3E}">
        <p14:creationId xmlns:p14="http://schemas.microsoft.com/office/powerpoint/2010/main" val="27712804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219200"/>
            <a:ext cx="8458200" cy="2133601"/>
          </a:xfrm>
        </p:spPr>
        <p:txBody>
          <a:bodyPr>
            <a:normAutofit/>
          </a:bodyPr>
          <a:lstStyle/>
          <a:p>
            <a:r>
              <a:rPr lang="en-US" b="1" dirty="0" smtClean="0">
                <a:latin typeface="Times New Roman" pitchFamily="18" charset="0"/>
                <a:cs typeface="Times New Roman" pitchFamily="18" charset="0"/>
              </a:rPr>
              <a:t/>
            </a:r>
            <a:br>
              <a:rPr lang="en-US" b="1" dirty="0" smtClean="0">
                <a:latin typeface="Times New Roman" pitchFamily="18" charset="0"/>
                <a:cs typeface="Times New Roman" pitchFamily="18" charset="0"/>
              </a:rPr>
            </a:br>
            <a:r>
              <a:rPr lang="en-US" b="1" dirty="0" err="1" smtClean="0">
                <a:solidFill>
                  <a:srgbClr val="002060"/>
                </a:solidFill>
                <a:latin typeface="Times New Roman" pitchFamily="18" charset="0"/>
                <a:cs typeface="Times New Roman" pitchFamily="18" charset="0"/>
              </a:rPr>
              <a:t>Công</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nghiệp</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hóa</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Trường</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hợp</a:t>
            </a:r>
            <a:r>
              <a:rPr lang="en-US" b="1" dirty="0" smtClean="0">
                <a:solidFill>
                  <a:srgbClr val="002060"/>
                </a:solidFill>
                <a:latin typeface="Times New Roman" pitchFamily="18" charset="0"/>
                <a:cs typeface="Times New Roman" pitchFamily="18" charset="0"/>
              </a:rPr>
              <a:t> </a:t>
            </a:r>
            <a:r>
              <a:rPr lang="en-US" b="1" dirty="0" err="1" smtClean="0">
                <a:solidFill>
                  <a:srgbClr val="002060"/>
                </a:solidFill>
                <a:latin typeface="Times New Roman" pitchFamily="18" charset="0"/>
                <a:cs typeface="Times New Roman" pitchFamily="18" charset="0"/>
              </a:rPr>
              <a:t>Việt</a:t>
            </a:r>
            <a:r>
              <a:rPr lang="en-US" b="1" dirty="0" smtClean="0">
                <a:solidFill>
                  <a:srgbClr val="002060"/>
                </a:solidFill>
                <a:latin typeface="Times New Roman" pitchFamily="18" charset="0"/>
                <a:cs typeface="Times New Roman" pitchFamily="18" charset="0"/>
              </a:rPr>
              <a:t> Nam</a:t>
            </a:r>
            <a:endParaRPr lang="en-US" b="1" dirty="0">
              <a:solidFill>
                <a:srgbClr val="002060"/>
              </a:solidFill>
              <a:latin typeface="Times New Roman" pitchFamily="18" charset="0"/>
              <a:cs typeface="Times New Roman" pitchFamily="18" charset="0"/>
            </a:endParaRPr>
          </a:p>
        </p:txBody>
      </p:sp>
      <p:sp>
        <p:nvSpPr>
          <p:cNvPr id="3" name="Subtitle 2"/>
          <p:cNvSpPr>
            <a:spLocks noGrp="1"/>
          </p:cNvSpPr>
          <p:nvPr>
            <p:ph type="subTitle" idx="1"/>
          </p:nvPr>
        </p:nvSpPr>
        <p:spPr>
          <a:xfrm>
            <a:off x="1371600" y="3886200"/>
            <a:ext cx="6400800" cy="1524000"/>
          </a:xfrm>
        </p:spPr>
        <p:txBody>
          <a:bodyPr>
            <a:normAutofit/>
          </a:bodyPr>
          <a:lstStyle/>
          <a:p>
            <a:r>
              <a:rPr lang="en-US" sz="1600" dirty="0" err="1">
                <a:solidFill>
                  <a:schemeClr val="tx1"/>
                </a:solidFill>
                <a:latin typeface="Times New Roman" pitchFamily="18" charset="0"/>
                <a:cs typeface="Times New Roman" pitchFamily="18" charset="0"/>
              </a:rPr>
              <a:t>Nguyễn</a:t>
            </a:r>
            <a:r>
              <a:rPr lang="en-US" sz="1600" dirty="0">
                <a:solidFill>
                  <a:schemeClr val="tx1"/>
                </a:solidFill>
                <a:latin typeface="Times New Roman" pitchFamily="18" charset="0"/>
                <a:cs typeface="Times New Roman" pitchFamily="18" charset="0"/>
              </a:rPr>
              <a:t> </a:t>
            </a:r>
            <a:r>
              <a:rPr lang="en-US" sz="1600" dirty="0" err="1">
                <a:solidFill>
                  <a:schemeClr val="tx1"/>
                </a:solidFill>
                <a:latin typeface="Times New Roman" pitchFamily="18" charset="0"/>
                <a:cs typeface="Times New Roman" pitchFamily="18" charset="0"/>
              </a:rPr>
              <a:t>Hoàng</a:t>
            </a:r>
            <a:r>
              <a:rPr lang="en-US" sz="1600" dirty="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Bảo</a:t>
            </a:r>
            <a:endParaRPr lang="en-US" sz="1600" dirty="0" smtClean="0">
              <a:solidFill>
                <a:schemeClr val="tx1"/>
              </a:solidFill>
              <a:latin typeface="Times New Roman" pitchFamily="18" charset="0"/>
              <a:cs typeface="Times New Roman" pitchFamily="18" charset="0"/>
            </a:endParaRPr>
          </a:p>
          <a:p>
            <a:r>
              <a:rPr lang="en-US" sz="1600" dirty="0" smtClean="0">
                <a:solidFill>
                  <a:schemeClr val="tx1"/>
                </a:solidFill>
                <a:latin typeface="Times New Roman" pitchFamily="18" charset="0"/>
                <a:cs typeface="Times New Roman" pitchFamily="18" charset="0"/>
                <a:hlinkClick r:id="rId2"/>
              </a:rPr>
              <a:t>hoangbao@ueh.edu.vn</a:t>
            </a:r>
            <a:r>
              <a:rPr lang="en-US" sz="1600" dirty="0" smtClean="0">
                <a:solidFill>
                  <a:schemeClr val="tx1"/>
                </a:solidFill>
                <a:latin typeface="Times New Roman" pitchFamily="18" charset="0"/>
                <a:cs typeface="Times New Roman" pitchFamily="18" charset="0"/>
              </a:rPr>
              <a:t> </a:t>
            </a:r>
            <a:r>
              <a:rPr lang="en-US" sz="1600" dirty="0">
                <a:solidFill>
                  <a:schemeClr val="tx1"/>
                </a:solidFill>
                <a:latin typeface="Times New Roman" pitchFamily="18" charset="0"/>
                <a:cs typeface="Times New Roman" pitchFamily="18" charset="0"/>
              </a:rPr>
              <a:t/>
            </a:r>
            <a:br>
              <a:rPr lang="en-US" sz="1600" dirty="0">
                <a:solidFill>
                  <a:schemeClr val="tx1"/>
                </a:solidFill>
                <a:latin typeface="Times New Roman" pitchFamily="18" charset="0"/>
                <a:cs typeface="Times New Roman" pitchFamily="18" charset="0"/>
              </a:rPr>
            </a:br>
            <a:r>
              <a:rPr lang="en-US" sz="1600" dirty="0" err="1">
                <a:solidFill>
                  <a:schemeClr val="tx1"/>
                </a:solidFill>
                <a:latin typeface="Times New Roman" pitchFamily="18" charset="0"/>
                <a:cs typeface="Times New Roman" pitchFamily="18" charset="0"/>
              </a:rPr>
              <a:t>Khoa</a:t>
            </a:r>
            <a:r>
              <a:rPr lang="en-US" sz="1600" dirty="0">
                <a:solidFill>
                  <a:schemeClr val="tx1"/>
                </a:solidFill>
                <a:latin typeface="Times New Roman" pitchFamily="18" charset="0"/>
                <a:cs typeface="Times New Roman" pitchFamily="18" charset="0"/>
              </a:rPr>
              <a:t> </a:t>
            </a:r>
            <a:r>
              <a:rPr lang="en-US" sz="1600" dirty="0" err="1">
                <a:solidFill>
                  <a:schemeClr val="tx1"/>
                </a:solidFill>
                <a:latin typeface="Times New Roman" pitchFamily="18" charset="0"/>
                <a:cs typeface="Times New Roman" pitchFamily="18" charset="0"/>
              </a:rPr>
              <a:t>Kinh</a:t>
            </a:r>
            <a:r>
              <a:rPr lang="en-US" sz="1600" dirty="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tế</a:t>
            </a:r>
            <a:endParaRPr lang="en-US" sz="1600" dirty="0" smtClean="0">
              <a:solidFill>
                <a:schemeClr val="tx1"/>
              </a:solidFill>
              <a:latin typeface="Times New Roman" pitchFamily="18" charset="0"/>
              <a:cs typeface="Times New Roman" pitchFamily="18" charset="0"/>
            </a:endParaRPr>
          </a:p>
          <a:p>
            <a:r>
              <a:rPr lang="en-US" sz="1600" dirty="0" err="1" smtClean="0">
                <a:solidFill>
                  <a:schemeClr val="tx1"/>
                </a:solidFill>
                <a:latin typeface="Times New Roman" pitchFamily="18" charset="0"/>
                <a:cs typeface="Times New Roman" pitchFamily="18" charset="0"/>
              </a:rPr>
              <a:t>Trường</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đại</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học</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Kinh</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tế</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Luật</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và</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Quản</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Lý</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Nhà</a:t>
            </a: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cs typeface="Times New Roman" pitchFamily="18" charset="0"/>
              </a:rPr>
              <a:t>nước</a:t>
            </a:r>
            <a:r>
              <a:rPr lang="en-US" sz="1600" dirty="0">
                <a:solidFill>
                  <a:schemeClr val="tx1"/>
                </a:solidFill>
                <a:latin typeface="Times New Roman" pitchFamily="18" charset="0"/>
                <a:cs typeface="Times New Roman" pitchFamily="18" charset="0"/>
              </a:rPr>
              <a:t/>
            </a:r>
            <a:br>
              <a:rPr lang="en-US" sz="1600" dirty="0">
                <a:solidFill>
                  <a:schemeClr val="tx1"/>
                </a:solidFill>
                <a:latin typeface="Times New Roman" pitchFamily="18" charset="0"/>
                <a:cs typeface="Times New Roman" pitchFamily="18" charset="0"/>
              </a:rPr>
            </a:br>
            <a:r>
              <a:rPr lang="en-US" sz="1600" dirty="0" err="1">
                <a:solidFill>
                  <a:schemeClr val="tx1"/>
                </a:solidFill>
                <a:latin typeface="Times New Roman" pitchFamily="18" charset="0"/>
                <a:cs typeface="Times New Roman" pitchFamily="18" charset="0"/>
              </a:rPr>
              <a:t>Đại</a:t>
            </a:r>
            <a:r>
              <a:rPr lang="en-US" sz="1600" dirty="0">
                <a:solidFill>
                  <a:schemeClr val="tx1"/>
                </a:solidFill>
                <a:latin typeface="Times New Roman" pitchFamily="18" charset="0"/>
                <a:cs typeface="Times New Roman" pitchFamily="18" charset="0"/>
              </a:rPr>
              <a:t> </a:t>
            </a:r>
            <a:r>
              <a:rPr lang="en-US" sz="1600" dirty="0" err="1">
                <a:solidFill>
                  <a:schemeClr val="tx1"/>
                </a:solidFill>
                <a:latin typeface="Times New Roman" pitchFamily="18" charset="0"/>
                <a:cs typeface="Times New Roman" pitchFamily="18" charset="0"/>
              </a:rPr>
              <a:t>học</a:t>
            </a:r>
            <a:r>
              <a:rPr lang="en-US" sz="1600" dirty="0">
                <a:solidFill>
                  <a:schemeClr val="tx1"/>
                </a:solidFill>
                <a:latin typeface="Times New Roman" pitchFamily="18" charset="0"/>
                <a:cs typeface="Times New Roman" pitchFamily="18" charset="0"/>
              </a:rPr>
              <a:t> </a:t>
            </a:r>
            <a:r>
              <a:rPr lang="en-US" sz="1600" dirty="0" smtClean="0">
                <a:solidFill>
                  <a:schemeClr val="tx1"/>
                </a:solidFill>
                <a:latin typeface="Times New Roman" pitchFamily="18" charset="0"/>
                <a:cs typeface="Times New Roman" pitchFamily="18" charset="0"/>
              </a:rPr>
              <a:t>UEH </a:t>
            </a:r>
            <a:endParaRPr lang="en-US" sz="1600" dirty="0">
              <a:solidFill>
                <a:schemeClr val="tx1"/>
              </a:solidFill>
              <a:latin typeface="Times New Roman" pitchFamily="18" charset="0"/>
              <a:cs typeface="Times New Roman" pitchFamily="18" charset="0"/>
            </a:endParaRPr>
          </a:p>
          <a:p>
            <a:pPr algn="r"/>
            <a:endParaRPr lang="en-US" sz="1600" dirty="0">
              <a:solidFill>
                <a:schemeClr val="tx1"/>
              </a:solidFill>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2</a:t>
            </a:fld>
            <a:endParaRPr lang="en-US"/>
          </a:p>
        </p:txBody>
      </p:sp>
    </p:spTree>
    <p:extLst>
      <p:ext uri="{BB962C8B-B14F-4D97-AF65-F5344CB8AC3E}">
        <p14:creationId xmlns:p14="http://schemas.microsoft.com/office/powerpoint/2010/main" val="1570902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l"/>
            <a:r>
              <a:rPr lang="en-US" sz="3600" b="1" dirty="0" smtClean="0">
                <a:solidFill>
                  <a:srgbClr val="002060"/>
                </a:solidFill>
                <a:latin typeface="Times New Roman" pitchFamily="18" charset="0"/>
                <a:cs typeface="Times New Roman" pitchFamily="18" charset="0"/>
              </a:rPr>
              <a:t>1. </a:t>
            </a:r>
            <a:r>
              <a:rPr lang="en-US" sz="3600" b="1" dirty="0" err="1" smtClean="0">
                <a:solidFill>
                  <a:srgbClr val="002060"/>
                </a:solidFill>
                <a:latin typeface="Times New Roman" pitchFamily="18" charset="0"/>
                <a:cs typeface="Times New Roman" pitchFamily="18" charset="0"/>
              </a:rPr>
              <a:t>Chiến</a:t>
            </a:r>
            <a:r>
              <a:rPr lang="en-US" sz="3600" b="1" dirty="0" smtClean="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lược</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công</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nghiệp</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hóa</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là</a:t>
            </a:r>
            <a:r>
              <a:rPr lang="en-US" sz="3600" b="1" dirty="0">
                <a:solidFill>
                  <a:srgbClr val="002060"/>
                </a:solidFill>
                <a:latin typeface="Times New Roman" pitchFamily="18" charset="0"/>
                <a:cs typeface="Times New Roman" pitchFamily="18" charset="0"/>
              </a:rPr>
              <a:t> </a:t>
            </a:r>
            <a:r>
              <a:rPr lang="en-US" sz="3600" b="1" dirty="0" err="1">
                <a:solidFill>
                  <a:srgbClr val="002060"/>
                </a:solidFill>
                <a:latin typeface="Times New Roman" pitchFamily="18" charset="0"/>
                <a:cs typeface="Times New Roman" pitchFamily="18" charset="0"/>
              </a:rPr>
              <a:t>gì</a:t>
            </a:r>
            <a:r>
              <a:rPr lang="en-US" sz="3600" b="1" dirty="0" smtClean="0">
                <a:solidFill>
                  <a:srgbClr val="002060"/>
                </a:solidFill>
                <a:latin typeface="Times New Roman" pitchFamily="18" charset="0"/>
                <a:cs typeface="Times New Roman" pitchFamily="18" charset="0"/>
              </a:rPr>
              <a:t>?</a:t>
            </a:r>
            <a:endParaRPr lang="en-US" sz="36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678363"/>
          </a:xfrm>
        </p:spPr>
        <p:txBody>
          <a:bodyPr>
            <a:normAutofit/>
          </a:bodyPr>
          <a:lstStyle/>
          <a:p>
            <a:pPr marL="339725" indent="-339725">
              <a:buNone/>
            </a:pPr>
            <a:endParaRPr lang="en-US" sz="2400" dirty="0" smtClean="0">
              <a:latin typeface="Times New Roman" pitchFamily="18" charset="0"/>
              <a:cs typeface="Times New Roman" pitchFamily="18" charset="0"/>
            </a:endParaRPr>
          </a:p>
          <a:p>
            <a:pPr marL="339725" indent="-339725" algn="just"/>
            <a:r>
              <a:rPr lang="en-US" sz="2800" dirty="0" err="1" smtClean="0">
                <a:latin typeface="Times New Roman" pitchFamily="18" charset="0"/>
                <a:cs typeface="Times New Roman" pitchFamily="18" charset="0"/>
              </a:rPr>
              <a:t>Nhấn</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mạnh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đến</a:t>
            </a:r>
            <a:r>
              <a:rPr lang="en-US" sz="2800" dirty="0">
                <a:latin typeface="Times New Roman" pitchFamily="18" charset="0"/>
                <a:cs typeface="Times New Roman" pitchFamily="18" charset="0"/>
              </a:rPr>
              <a:t> </a:t>
            </a:r>
            <a:r>
              <a:rPr lang="en-US" sz="2800" i="1" u="sng" dirty="0" err="1">
                <a:latin typeface="Times New Roman" pitchFamily="18" charset="0"/>
                <a:cs typeface="Times New Roman" pitchFamily="18" charset="0"/>
              </a:rPr>
              <a:t>tăng</a:t>
            </a:r>
            <a:r>
              <a:rPr lang="en-US" sz="2800" i="1" u="sng" dirty="0">
                <a:latin typeface="Times New Roman" pitchFamily="18" charset="0"/>
                <a:cs typeface="Times New Roman" pitchFamily="18" charset="0"/>
              </a:rPr>
              <a:t> </a:t>
            </a:r>
            <a:r>
              <a:rPr lang="en-US" sz="2800" i="1" u="sng" dirty="0" err="1">
                <a:latin typeface="Times New Roman" pitchFamily="18" charset="0"/>
                <a:cs typeface="Times New Roman" pitchFamily="18" charset="0"/>
              </a:rPr>
              <a:t>trưởng</a:t>
            </a:r>
            <a:r>
              <a:rPr lang="en-US" sz="2800" i="1" u="sng" dirty="0">
                <a:latin typeface="Times New Roman" pitchFamily="18" charset="0"/>
                <a:cs typeface="Times New Roman" pitchFamily="18" charset="0"/>
              </a:rPr>
              <a:t> </a:t>
            </a:r>
            <a:r>
              <a:rPr lang="en-US" sz="2800" i="1" u="sng" dirty="0" err="1">
                <a:latin typeface="Times New Roman" pitchFamily="18" charset="0"/>
                <a:cs typeface="Times New Roman" pitchFamily="18" charset="0"/>
              </a:rPr>
              <a:t>kinh</a:t>
            </a:r>
            <a:r>
              <a:rPr lang="en-US" sz="2800" i="1" u="sng" dirty="0">
                <a:latin typeface="Times New Roman" pitchFamily="18" charset="0"/>
                <a:cs typeface="Times New Roman" pitchFamily="18" charset="0"/>
              </a:rPr>
              <a:t> </a:t>
            </a:r>
            <a:r>
              <a:rPr lang="en-US" sz="2800" i="1" u="sng" dirty="0" err="1">
                <a:latin typeface="Times New Roman" pitchFamily="18" charset="0"/>
                <a:cs typeface="Times New Roman" pitchFamily="18" charset="0"/>
              </a:rPr>
              <a:t>tế</a:t>
            </a:r>
            <a:r>
              <a:rPr lang="en-US" sz="2800" i="1" u="sng" dirty="0">
                <a:latin typeface="Times New Roman" pitchFamily="18" charset="0"/>
                <a:cs typeface="Times New Roman" pitchFamily="18" charset="0"/>
              </a:rPr>
              <a:t> </a:t>
            </a:r>
            <a:endParaRPr lang="en-US" sz="2800" i="1" u="sng" dirty="0" smtClean="0">
              <a:latin typeface="Times New Roman" pitchFamily="18" charset="0"/>
              <a:cs typeface="Times New Roman" pitchFamily="18" charset="0"/>
            </a:endParaRPr>
          </a:p>
          <a:p>
            <a:pPr marL="339725" indent="-339725" algn="just">
              <a:buNone/>
            </a:pPr>
            <a:endParaRPr lang="en-US" sz="2800" dirty="0" smtClean="0">
              <a:latin typeface="Times New Roman" pitchFamily="18" charset="0"/>
              <a:cs typeface="Times New Roman" pitchFamily="18" charset="0"/>
            </a:endParaRPr>
          </a:p>
          <a:p>
            <a:pPr marL="339725" indent="-339725" algn="just"/>
            <a:r>
              <a:rPr lang="en-US" sz="2800" dirty="0" err="1" smtClean="0">
                <a:latin typeface="Times New Roman" pitchFamily="18" charset="0"/>
                <a:cs typeface="Times New Roman" pitchFamily="18" charset="0"/>
              </a:rPr>
              <a:t>Mở</a:t>
            </a:r>
            <a:r>
              <a:rPr lang="en-US" sz="2800" dirty="0" smtClean="0">
                <a:latin typeface="Times New Roman" pitchFamily="18" charset="0"/>
                <a:cs typeface="Times New Roman" pitchFamily="18" charset="0"/>
              </a:rPr>
              <a:t> </a:t>
            </a:r>
            <a:r>
              <a:rPr lang="en-US" sz="2800" dirty="0" err="1">
                <a:latin typeface="Times New Roman" pitchFamily="18" charset="0"/>
                <a:cs typeface="Times New Roman" pitchFamily="18" charset="0"/>
              </a:rPr>
              <a:t>rộng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nhanh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nghiệp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chế</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tạo</a:t>
            </a:r>
            <a:endParaRPr lang="en-US" sz="2800" dirty="0" smtClean="0">
              <a:latin typeface="Times New Roman" pitchFamily="18" charset="0"/>
              <a:cs typeface="Times New Roman" pitchFamily="18" charset="0"/>
            </a:endParaRPr>
          </a:p>
          <a:p>
            <a:pPr marL="339725" indent="-339725" algn="just">
              <a:buNone/>
            </a:pPr>
            <a:r>
              <a:rPr lang="en-US" sz="2800" dirty="0" smtClean="0">
                <a:latin typeface="Times New Roman" pitchFamily="18" charset="0"/>
                <a:cs typeface="Times New Roman" pitchFamily="18" charset="0"/>
              </a:rPr>
              <a:t> </a:t>
            </a:r>
          </a:p>
          <a:p>
            <a:pPr marL="339725" indent="-339725" algn="just"/>
            <a:r>
              <a:rPr lang="en-US" sz="2800" dirty="0" smtClean="0">
                <a:latin typeface="Times New Roman" pitchFamily="18" charset="0"/>
                <a:cs typeface="Times New Roman" pitchFamily="18" charset="0"/>
              </a:rPr>
              <a:t>K</a:t>
            </a:r>
            <a:r>
              <a:rPr lang="vi-VN" sz="2800" dirty="0" smtClean="0">
                <a:latin typeface="Times New Roman" pitchFamily="18" charset="0"/>
                <a:cs typeface="Times New Roman" pitchFamily="18" charset="0"/>
              </a:rPr>
              <a:t>hông </a:t>
            </a:r>
            <a:r>
              <a:rPr lang="vi-VN" sz="2800" dirty="0">
                <a:latin typeface="Times New Roman" pitchFamily="18" charset="0"/>
                <a:cs typeface="Times New Roman" pitchFamily="18" charset="0"/>
              </a:rPr>
              <a:t>chỉ là lựa chọn ngành công nghiệp </a:t>
            </a:r>
            <a:r>
              <a:rPr lang="en-US" sz="2800" dirty="0" err="1">
                <a:latin typeface="Times New Roman" pitchFamily="18" charset="0"/>
                <a:cs typeface="Times New Roman" pitchFamily="18" charset="0"/>
              </a:rPr>
              <a:t>ưu</a:t>
            </a:r>
            <a:r>
              <a:rPr lang="en-US" sz="2800" dirty="0">
                <a:latin typeface="Times New Roman" pitchFamily="18" charset="0"/>
                <a:cs typeface="Times New Roman" pitchFamily="18" charset="0"/>
              </a:rPr>
              <a:t> </a:t>
            </a:r>
            <a:r>
              <a:rPr lang="en-US" sz="2800" dirty="0" err="1" smtClean="0">
                <a:latin typeface="Times New Roman" pitchFamily="18" charset="0"/>
                <a:cs typeface="Times New Roman" pitchFamily="18" charset="0"/>
              </a:rPr>
              <a:t>tiên</a:t>
            </a:r>
            <a:r>
              <a:rPr lang="en-US" sz="2800" dirty="0" smtClean="0">
                <a:latin typeface="Times New Roman" pitchFamily="18" charset="0"/>
                <a:cs typeface="Times New Roman" pitchFamily="18" charset="0"/>
              </a:rPr>
              <a:t>, </a:t>
            </a:r>
            <a:r>
              <a:rPr lang="vi-VN" sz="2800" dirty="0" smtClean="0">
                <a:latin typeface="Times New Roman" pitchFamily="18" charset="0"/>
                <a:cs typeface="Times New Roman" pitchFamily="18" charset="0"/>
              </a:rPr>
              <a:t>mà </a:t>
            </a:r>
            <a:r>
              <a:rPr lang="vi-VN" sz="2800" dirty="0">
                <a:latin typeface="Times New Roman" pitchFamily="18" charset="0"/>
                <a:cs typeface="Times New Roman" pitchFamily="18" charset="0"/>
              </a:rPr>
              <a:t>còn thúc đẩy tăng trưởng toàn bộ </a:t>
            </a:r>
            <a:r>
              <a:rPr lang="en-US" sz="2800" dirty="0" smtClean="0">
                <a:latin typeface="Times New Roman" pitchFamily="18" charset="0"/>
                <a:cs typeface="Times New Roman" pitchFamily="18" charset="0"/>
              </a:rPr>
              <a:t>GDP </a:t>
            </a: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3</a:t>
            </a:fld>
            <a:endParaRPr lang="en-US"/>
          </a:p>
        </p:txBody>
      </p:sp>
    </p:spTree>
    <p:extLst>
      <p:ext uri="{BB962C8B-B14F-4D97-AF65-F5344CB8AC3E}">
        <p14:creationId xmlns:p14="http://schemas.microsoft.com/office/powerpoint/2010/main" val="1209693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7594"/>
            <a:ext cx="8229600" cy="1143000"/>
          </a:xfrm>
        </p:spPr>
        <p:txBody>
          <a:bodyPr>
            <a:normAutofit/>
          </a:bodyPr>
          <a:lstStyle/>
          <a:p>
            <a:pPr algn="l"/>
            <a:r>
              <a:rPr lang="en-US" sz="3600" b="1" dirty="0" smtClean="0">
                <a:solidFill>
                  <a:srgbClr val="002060"/>
                </a:solidFill>
                <a:latin typeface="Times New Roman" pitchFamily="18" charset="0"/>
                <a:cs typeface="Times New Roman" pitchFamily="18" charset="0"/>
              </a:rPr>
              <a:t>2. Con </a:t>
            </a:r>
            <a:r>
              <a:rPr lang="en-US" sz="3600" b="1" dirty="0" err="1" smtClean="0">
                <a:solidFill>
                  <a:srgbClr val="002060"/>
                </a:solidFill>
                <a:latin typeface="Times New Roman" pitchFamily="18" charset="0"/>
                <a:cs typeface="Times New Roman" pitchFamily="18" charset="0"/>
              </a:rPr>
              <a:t>đường</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thực</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hiện</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chiến</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lược</a:t>
            </a:r>
            <a:r>
              <a:rPr lang="en-US" sz="3600" b="1" dirty="0" smtClean="0">
                <a:solidFill>
                  <a:srgbClr val="002060"/>
                </a:solidFill>
                <a:latin typeface="Times New Roman" pitchFamily="18" charset="0"/>
                <a:cs typeface="Times New Roman" pitchFamily="18" charset="0"/>
              </a:rPr>
              <a:t> </a:t>
            </a:r>
            <a:endParaRPr lang="en-US" sz="3600"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678363"/>
          </a:xfrm>
        </p:spPr>
        <p:txBody>
          <a:bodyPr>
            <a:normAutofit/>
          </a:bodyPr>
          <a:lstStyle/>
          <a:p>
            <a:pPr algn="just"/>
            <a:r>
              <a:rPr lang="vi-VN" sz="2800" dirty="0" smtClean="0">
                <a:latin typeface="Times New Roman" pitchFamily="18" charset="0"/>
                <a:cs typeface="Times New Roman" pitchFamily="18" charset="0"/>
              </a:rPr>
              <a:t>Sản </a:t>
            </a:r>
            <a:r>
              <a:rPr lang="vi-VN" sz="2800" dirty="0">
                <a:latin typeface="Times New Roman" pitchFamily="18" charset="0"/>
                <a:cs typeface="Times New Roman" pitchFamily="18" charset="0"/>
              </a:rPr>
              <a:t>xuất hàng tiêu dùng trên diện rộng trên thị trường trong nước, thông thường có sử dụng hàng rào thuế quan </a:t>
            </a:r>
            <a:r>
              <a:rPr lang="vi-VN" sz="2800" dirty="0" smtClean="0">
                <a:latin typeface="Times New Roman" pitchFamily="18" charset="0"/>
                <a:cs typeface="Times New Roman" pitchFamily="18" charset="0"/>
              </a:rPr>
              <a:t>cao</a:t>
            </a:r>
            <a:endParaRPr lang="en-US" sz="2800" dirty="0" smtClean="0">
              <a:latin typeface="Times New Roman" pitchFamily="18" charset="0"/>
              <a:cs typeface="Times New Roman" pitchFamily="18" charset="0"/>
            </a:endParaRPr>
          </a:p>
          <a:p>
            <a:pPr algn="just"/>
            <a:r>
              <a:rPr lang="vi-VN" sz="2800" dirty="0">
                <a:latin typeface="Times New Roman" pitchFamily="18" charset="0"/>
                <a:cs typeface="Times New Roman" pitchFamily="18" charset="0"/>
              </a:rPr>
              <a:t>Tập trung phát triển ngành công nghiệp thâm dụng vốn, thông thường dưới sự định hướng của nhà </a:t>
            </a:r>
            <a:r>
              <a:rPr lang="vi-VN" sz="2800" dirty="0" smtClean="0">
                <a:latin typeface="Times New Roman" pitchFamily="18" charset="0"/>
                <a:cs typeface="Times New Roman" pitchFamily="18" charset="0"/>
              </a:rPr>
              <a:t>nước</a:t>
            </a:r>
            <a:endParaRPr lang="en-US" sz="2800" dirty="0" smtClean="0">
              <a:latin typeface="Times New Roman" pitchFamily="18" charset="0"/>
              <a:cs typeface="Times New Roman" pitchFamily="18" charset="0"/>
            </a:endParaRPr>
          </a:p>
          <a:p>
            <a:pPr algn="just"/>
            <a:r>
              <a:rPr lang="en-US" sz="2800" dirty="0" smtClean="0">
                <a:latin typeface="Times New Roman" pitchFamily="18" charset="0"/>
                <a:cs typeface="Times New Roman" pitchFamily="18" charset="0"/>
              </a:rPr>
              <a:t>Đ</a:t>
            </a:r>
            <a:r>
              <a:rPr lang="vi-VN" sz="2800" dirty="0" smtClean="0">
                <a:latin typeface="Times New Roman" pitchFamily="18" charset="0"/>
                <a:cs typeface="Times New Roman" pitchFamily="18" charset="0"/>
              </a:rPr>
              <a:t>ịnh </a:t>
            </a:r>
            <a:r>
              <a:rPr lang="vi-VN" sz="2800" dirty="0">
                <a:latin typeface="Times New Roman" pitchFamily="18" charset="0"/>
                <a:cs typeface="Times New Roman" pitchFamily="18" charset="0"/>
              </a:rPr>
              <a:t>hướng ngành công nghiệp chế tạo hướng đến xuất khẩu, thông thường có kết hợp với kế </a:t>
            </a:r>
            <a:r>
              <a:rPr lang="vi-VN" sz="2800" dirty="0" smtClean="0">
                <a:latin typeface="Times New Roman" pitchFamily="18" charset="0"/>
                <a:cs typeface="Times New Roman" pitchFamily="18" charset="0"/>
              </a:rPr>
              <a:t>hoạch </a:t>
            </a:r>
            <a:r>
              <a:rPr lang="vi-VN" sz="2800" dirty="0">
                <a:latin typeface="Times New Roman" pitchFamily="18" charset="0"/>
                <a:cs typeface="Times New Roman" pitchFamily="18" charset="0"/>
              </a:rPr>
              <a:t>hỗ trợ </a:t>
            </a:r>
            <a:r>
              <a:rPr lang="vi-VN" sz="2800" dirty="0" smtClean="0">
                <a:latin typeface="Times New Roman" pitchFamily="18" charset="0"/>
                <a:cs typeface="Times New Roman" pitchFamily="18" charset="0"/>
              </a:rPr>
              <a:t>từ </a:t>
            </a:r>
            <a:r>
              <a:rPr lang="vi-VN" sz="2800" dirty="0">
                <a:latin typeface="Times New Roman" pitchFamily="18" charset="0"/>
                <a:cs typeface="Times New Roman" pitchFamily="18" charset="0"/>
              </a:rPr>
              <a:t>phía chính </a:t>
            </a:r>
            <a:r>
              <a:rPr lang="vi-VN" sz="2800" dirty="0" smtClean="0">
                <a:latin typeface="Times New Roman" pitchFamily="18" charset="0"/>
                <a:cs typeface="Times New Roman" pitchFamily="18" charset="0"/>
              </a:rPr>
              <a:t>phủ</a:t>
            </a: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4</a:t>
            </a:fld>
            <a:endParaRPr lang="en-US"/>
          </a:p>
        </p:txBody>
      </p:sp>
    </p:spTree>
    <p:extLst>
      <p:ext uri="{BB962C8B-B14F-4D97-AF65-F5344CB8AC3E}">
        <p14:creationId xmlns:p14="http://schemas.microsoft.com/office/powerpoint/2010/main" val="1709907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dirty="0" smtClean="0">
                <a:solidFill>
                  <a:srgbClr val="002060"/>
                </a:solidFill>
                <a:latin typeface="Times New Roman" pitchFamily="18" charset="0"/>
                <a:cs typeface="Times New Roman" pitchFamily="18" charset="0"/>
              </a:rPr>
              <a:t>3. </a:t>
            </a:r>
            <a:r>
              <a:rPr lang="en-US" sz="3600" b="1" dirty="0" err="1" smtClean="0">
                <a:solidFill>
                  <a:srgbClr val="002060"/>
                </a:solidFill>
                <a:latin typeface="Times New Roman" pitchFamily="18" charset="0"/>
                <a:cs typeface="Times New Roman" pitchFamily="18" charset="0"/>
              </a:rPr>
              <a:t>Trọng</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tâm</a:t>
            </a:r>
            <a:endParaRPr lang="en-US" sz="3600"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686800" cy="4525963"/>
          </a:xfrm>
        </p:spPr>
        <p:txBody>
          <a:bodyPr>
            <a:normAutofit/>
          </a:bodyPr>
          <a:lstStyle/>
          <a:p>
            <a:r>
              <a:rPr lang="vi-VN" sz="2800" i="1" u="sng" dirty="0" smtClean="0">
                <a:latin typeface="Times New Roman" pitchFamily="18" charset="0"/>
                <a:cs typeface="Times New Roman" pitchFamily="18" charset="0"/>
              </a:rPr>
              <a:t>Gia </a:t>
            </a:r>
            <a:r>
              <a:rPr lang="vi-VN" sz="2800" i="1" u="sng" dirty="0">
                <a:latin typeface="Times New Roman" pitchFamily="18" charset="0"/>
                <a:cs typeface="Times New Roman" pitchFamily="18" charset="0"/>
              </a:rPr>
              <a:t>tăng việc tích tụ </a:t>
            </a:r>
            <a:r>
              <a:rPr lang="vi-VN" sz="2800" i="1" u="sng" dirty="0" smtClean="0">
                <a:latin typeface="Times New Roman" pitchFamily="18" charset="0"/>
                <a:cs typeface="Times New Roman" pitchFamily="18" charset="0"/>
              </a:rPr>
              <a:t>vốn</a:t>
            </a:r>
            <a:endParaRPr lang="en-US" sz="2800" i="1" u="sng"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vi-VN" sz="2800" dirty="0" smtClean="0">
                <a:latin typeface="Times New Roman" pitchFamily="18" charset="0"/>
                <a:cs typeface="Times New Roman" pitchFamily="18" charset="0"/>
              </a:rPr>
              <a:t>Áp </a:t>
            </a:r>
            <a:r>
              <a:rPr lang="vi-VN" sz="2800" dirty="0">
                <a:latin typeface="Times New Roman" pitchFamily="18" charset="0"/>
                <a:cs typeface="Times New Roman" pitchFamily="18" charset="0"/>
              </a:rPr>
              <a:t>dụng công nghệ hiện đại trên diện </a:t>
            </a:r>
            <a:r>
              <a:rPr lang="vi-VN" sz="2800" dirty="0" smtClean="0">
                <a:latin typeface="Times New Roman" pitchFamily="18" charset="0"/>
                <a:cs typeface="Times New Roman" pitchFamily="18" charset="0"/>
              </a:rPr>
              <a:t>rộng</a:t>
            </a:r>
            <a:endParaRPr lang="en-US" sz="2800" dirty="0" smtClean="0">
              <a:latin typeface="Times New Roman" pitchFamily="18" charset="0"/>
              <a:cs typeface="Times New Roman" pitchFamily="18" charset="0"/>
            </a:endParaRPr>
          </a:p>
          <a:p>
            <a:endParaRPr lang="en-US" sz="2800" dirty="0" smtClean="0">
              <a:latin typeface="Times New Roman" pitchFamily="18" charset="0"/>
              <a:cs typeface="Times New Roman" pitchFamily="18" charset="0"/>
            </a:endParaRPr>
          </a:p>
          <a:p>
            <a:r>
              <a:rPr lang="vi-VN" sz="2800" dirty="0" smtClean="0">
                <a:latin typeface="Times New Roman" pitchFamily="18" charset="0"/>
                <a:cs typeface="Times New Roman" pitchFamily="18" charset="0"/>
              </a:rPr>
              <a:t>Xúc </a:t>
            </a:r>
            <a:r>
              <a:rPr lang="vi-VN" sz="2800" dirty="0">
                <a:latin typeface="Times New Roman" pitchFamily="18" charset="0"/>
                <a:cs typeface="Times New Roman" pitchFamily="18" charset="0"/>
              </a:rPr>
              <a:t>tiến tăng trưởng một số vùng đô thị </a:t>
            </a:r>
            <a:r>
              <a:rPr lang="vi-VN" sz="2800" dirty="0" smtClean="0">
                <a:latin typeface="Times New Roman" pitchFamily="18" charset="0"/>
                <a:cs typeface="Times New Roman" pitchFamily="18" charset="0"/>
              </a:rPr>
              <a:t>lớn</a:t>
            </a: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5</a:t>
            </a:fld>
            <a:endParaRPr lang="en-US"/>
          </a:p>
        </p:txBody>
      </p:sp>
    </p:spTree>
    <p:extLst>
      <p:ext uri="{BB962C8B-B14F-4D97-AF65-F5344CB8AC3E}">
        <p14:creationId xmlns:p14="http://schemas.microsoft.com/office/powerpoint/2010/main" val="3384346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dirty="0" smtClean="0">
                <a:solidFill>
                  <a:srgbClr val="002060"/>
                </a:solidFill>
                <a:latin typeface="Times New Roman" pitchFamily="18" charset="0"/>
                <a:cs typeface="Times New Roman" pitchFamily="18" charset="0"/>
              </a:rPr>
              <a:t>4. </a:t>
            </a:r>
            <a:r>
              <a:rPr lang="en-US" sz="3600" b="1" dirty="0" err="1" smtClean="0">
                <a:solidFill>
                  <a:srgbClr val="002060"/>
                </a:solidFill>
                <a:latin typeface="Times New Roman" pitchFamily="18" charset="0"/>
                <a:cs typeface="Times New Roman" pitchFamily="18" charset="0"/>
              </a:rPr>
              <a:t>Vai</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trò</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của</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chính</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phủ</a:t>
            </a:r>
            <a:r>
              <a:rPr lang="en-US" sz="3600" b="1" dirty="0" smtClean="0">
                <a:solidFill>
                  <a:srgbClr val="002060"/>
                </a:solidFill>
                <a:latin typeface="Times New Roman" pitchFamily="18" charset="0"/>
                <a:cs typeface="Times New Roman" pitchFamily="18" charset="0"/>
              </a:rPr>
              <a:t> </a:t>
            </a:r>
            <a:endParaRPr lang="en-US" sz="3600"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339725" indent="-339725" algn="just"/>
            <a:r>
              <a:rPr lang="vi-VN" sz="2800" dirty="0" smtClean="0">
                <a:latin typeface="Times New Roman" pitchFamily="18" charset="0"/>
                <a:cs typeface="Times New Roman" pitchFamily="18" charset="0"/>
              </a:rPr>
              <a:t>Các </a:t>
            </a:r>
            <a:r>
              <a:rPr lang="vi-VN" sz="2800" dirty="0">
                <a:latin typeface="Times New Roman" pitchFamily="18" charset="0"/>
                <a:cs typeface="Times New Roman" pitchFamily="18" charset="0"/>
              </a:rPr>
              <a:t>can thiệp của chính phủ được thiết kế để có thể gia tăng sản xuất không chỉ là </a:t>
            </a:r>
            <a:r>
              <a:rPr lang="vi-VN" sz="2800" i="1" u="sng" dirty="0">
                <a:latin typeface="Times New Roman" pitchFamily="18" charset="0"/>
                <a:cs typeface="Times New Roman" pitchFamily="18" charset="0"/>
              </a:rPr>
              <a:t>tăng hiệu quả sử dụng nguồn </a:t>
            </a:r>
            <a:r>
              <a:rPr lang="vi-VN" sz="2800" i="1" u="sng" dirty="0" smtClean="0">
                <a:latin typeface="Times New Roman" pitchFamily="18" charset="0"/>
                <a:cs typeface="Times New Roman" pitchFamily="18" charset="0"/>
              </a:rPr>
              <a:t>lực</a:t>
            </a:r>
            <a:r>
              <a:rPr lang="en-US" sz="2800" dirty="0" smtClean="0">
                <a:latin typeface="Times New Roman" pitchFamily="18" charset="0"/>
                <a:cs typeface="Times New Roman" pitchFamily="18" charset="0"/>
              </a:rPr>
              <a:t>; </a:t>
            </a:r>
          </a:p>
          <a:p>
            <a:pPr marL="339725" indent="-339725" algn="just"/>
            <a:endParaRPr lang="en-US" sz="2800" dirty="0" smtClean="0">
              <a:latin typeface="Times New Roman" pitchFamily="18" charset="0"/>
              <a:cs typeface="Times New Roman" pitchFamily="18" charset="0"/>
            </a:endParaRPr>
          </a:p>
          <a:p>
            <a:pPr marL="339725" indent="-339725" algn="just"/>
            <a:endParaRPr lang="en-US" sz="2800" dirty="0" smtClean="0">
              <a:latin typeface="Times New Roman" pitchFamily="18" charset="0"/>
              <a:cs typeface="Times New Roman" pitchFamily="18" charset="0"/>
            </a:endParaRPr>
          </a:p>
          <a:p>
            <a:pPr marL="339725" indent="-339725" algn="just"/>
            <a:r>
              <a:rPr lang="en-US" sz="2800" dirty="0" err="1" smtClean="0">
                <a:latin typeface="Times New Roman" pitchFamily="18" charset="0"/>
                <a:cs typeface="Times New Roman" pitchFamily="18" charset="0"/>
              </a:rPr>
              <a:t>Mà</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còn</a:t>
            </a:r>
            <a:r>
              <a:rPr lang="en-US" sz="2800" dirty="0" smtClean="0">
                <a:latin typeface="Times New Roman" pitchFamily="18" charset="0"/>
                <a:cs typeface="Times New Roman" pitchFamily="18" charset="0"/>
              </a:rPr>
              <a:t> t</a:t>
            </a:r>
            <a:r>
              <a:rPr lang="vi-VN" sz="2800" dirty="0" smtClean="0">
                <a:latin typeface="Times New Roman" pitchFamily="18" charset="0"/>
                <a:cs typeface="Times New Roman" pitchFamily="18" charset="0"/>
              </a:rPr>
              <a:t>hay đổi phân phối thu nhập và của cải </a:t>
            </a:r>
            <a:r>
              <a:rPr lang="vi-VN" sz="2800" i="1" u="sng" dirty="0" smtClean="0">
                <a:latin typeface="Times New Roman" pitchFamily="18" charset="0"/>
                <a:cs typeface="Times New Roman" pitchFamily="18" charset="0"/>
              </a:rPr>
              <a:t>hướng về người có </a:t>
            </a:r>
            <a:r>
              <a:rPr lang="vi-VN" sz="2800" i="1" u="sng" dirty="0">
                <a:latin typeface="Times New Roman" pitchFamily="18" charset="0"/>
                <a:cs typeface="Times New Roman" pitchFamily="18" charset="0"/>
              </a:rPr>
              <a:t>thu nhập thấp</a:t>
            </a:r>
            <a:r>
              <a:rPr lang="vi-VN" sz="2800" dirty="0">
                <a:latin typeface="Times New Roman" pitchFamily="18" charset="0"/>
                <a:cs typeface="Times New Roman" pitchFamily="18" charset="0"/>
              </a:rPr>
              <a:t> trong xã hội. </a:t>
            </a: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6</a:t>
            </a:fld>
            <a:endParaRPr lang="en-US"/>
          </a:p>
        </p:txBody>
      </p:sp>
    </p:spTree>
    <p:extLst>
      <p:ext uri="{BB962C8B-B14F-4D97-AF65-F5344CB8AC3E}">
        <p14:creationId xmlns:p14="http://schemas.microsoft.com/office/powerpoint/2010/main" val="2509845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1143000"/>
          </a:xfrm>
        </p:spPr>
        <p:txBody>
          <a:bodyPr>
            <a:normAutofit/>
          </a:bodyPr>
          <a:lstStyle/>
          <a:p>
            <a:pPr algn="l"/>
            <a:r>
              <a:rPr lang="en-US" sz="3600" b="1" dirty="0" smtClean="0">
                <a:solidFill>
                  <a:srgbClr val="002060"/>
                </a:solidFill>
                <a:latin typeface="Times New Roman" pitchFamily="18" charset="0"/>
                <a:cs typeface="Times New Roman" pitchFamily="18" charset="0"/>
              </a:rPr>
              <a:t>5. </a:t>
            </a:r>
            <a:r>
              <a:rPr lang="en-US" sz="3600" b="1" dirty="0" err="1" smtClean="0">
                <a:solidFill>
                  <a:srgbClr val="002060"/>
                </a:solidFill>
                <a:latin typeface="Times New Roman" pitchFamily="18" charset="0"/>
                <a:cs typeface="Times New Roman" pitchFamily="18" charset="0"/>
              </a:rPr>
              <a:t>Các</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nước</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công</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nghiệp</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hóa</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trên</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thế</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giới</a:t>
            </a:r>
            <a:endParaRPr lang="en-US" sz="3600"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339725" indent="-339725" algn="just"/>
            <a:r>
              <a:rPr lang="vi-VN" sz="2800" dirty="0" smtClean="0">
                <a:latin typeface="Times New Roman" pitchFamily="18" charset="0"/>
                <a:cs typeface="Times New Roman" pitchFamily="18" charset="0"/>
              </a:rPr>
              <a:t>Anh </a:t>
            </a:r>
            <a:r>
              <a:rPr lang="en-US" sz="2800" dirty="0" smtClean="0">
                <a:latin typeface="Times New Roman" pitchFamily="18" charset="0"/>
                <a:cs typeface="Times New Roman" pitchFamily="18" charset="0"/>
              </a:rPr>
              <a:t>(1783</a:t>
            </a:r>
            <a:r>
              <a:rPr lang="vi-VN" sz="2800" dirty="0" smtClean="0">
                <a:latin typeface="Times New Roman" pitchFamily="18" charset="0"/>
                <a:cs typeface="Times New Roman" pitchFamily="18" charset="0"/>
              </a:rPr>
              <a:t> – </a:t>
            </a:r>
            <a:r>
              <a:rPr lang="en-US" sz="2800" dirty="0" smtClean="0">
                <a:latin typeface="Times New Roman" pitchFamily="18" charset="0"/>
                <a:cs typeface="Times New Roman" pitchFamily="18" charset="0"/>
              </a:rPr>
              <a:t>1802) </a:t>
            </a:r>
          </a:p>
          <a:p>
            <a:pPr marL="339725" indent="-339725" algn="just"/>
            <a:r>
              <a:rPr lang="en-US" sz="2800" dirty="0" smtClean="0">
                <a:latin typeface="Times New Roman" pitchFamily="18" charset="0"/>
                <a:cs typeface="Times New Roman" pitchFamily="18" charset="0"/>
              </a:rPr>
              <a:t>Ph</a:t>
            </a:r>
            <a:r>
              <a:rPr lang="vi-VN" sz="2800" dirty="0" smtClean="0">
                <a:latin typeface="Times New Roman" pitchFamily="18" charset="0"/>
                <a:cs typeface="Times New Roman" pitchFamily="18" charset="0"/>
              </a:rPr>
              <a:t>áp</a:t>
            </a:r>
            <a:r>
              <a:rPr lang="en-US" sz="2800" dirty="0" smtClean="0">
                <a:latin typeface="Times New Roman" pitchFamily="18" charset="0"/>
                <a:cs typeface="Times New Roman" pitchFamily="18" charset="0"/>
              </a:rPr>
              <a:t> (1830</a:t>
            </a:r>
            <a:r>
              <a:rPr lang="vi-VN" sz="2800" dirty="0" smtClean="0">
                <a:latin typeface="Times New Roman" pitchFamily="18" charset="0"/>
                <a:cs typeface="Times New Roman" pitchFamily="18" charset="0"/>
              </a:rPr>
              <a:t> – </a:t>
            </a:r>
            <a:r>
              <a:rPr lang="en-US" sz="2800" dirty="0" smtClean="0">
                <a:latin typeface="Times New Roman" pitchFamily="18" charset="0"/>
                <a:cs typeface="Times New Roman" pitchFamily="18" charset="0"/>
              </a:rPr>
              <a:t>1860) </a:t>
            </a:r>
          </a:p>
          <a:p>
            <a:pPr marL="339725" indent="-339725" algn="just"/>
            <a:r>
              <a:rPr lang="vi-VN" sz="2800" dirty="0" smtClean="0">
                <a:latin typeface="Times New Roman" pitchFamily="18" charset="0"/>
                <a:cs typeface="Times New Roman" pitchFamily="18" charset="0"/>
              </a:rPr>
              <a:t>Hoa Kỳ</a:t>
            </a:r>
            <a:r>
              <a:rPr lang="en-US" sz="2800" dirty="0" smtClean="0">
                <a:latin typeface="Times New Roman" pitchFamily="18" charset="0"/>
                <a:cs typeface="Times New Roman" pitchFamily="18" charset="0"/>
              </a:rPr>
              <a:t> (1843</a:t>
            </a:r>
            <a:r>
              <a:rPr lang="vi-VN" sz="2800" dirty="0" smtClean="0">
                <a:latin typeface="Times New Roman" pitchFamily="18" charset="0"/>
                <a:cs typeface="Times New Roman" pitchFamily="18" charset="0"/>
              </a:rPr>
              <a:t> – </a:t>
            </a:r>
            <a:r>
              <a:rPr lang="en-US" sz="2800" dirty="0" smtClean="0">
                <a:latin typeface="Times New Roman" pitchFamily="18" charset="0"/>
                <a:cs typeface="Times New Roman" pitchFamily="18" charset="0"/>
              </a:rPr>
              <a:t>1860) </a:t>
            </a:r>
          </a:p>
          <a:p>
            <a:pPr marL="339725" indent="-339725" algn="just"/>
            <a:r>
              <a:rPr lang="en-US" sz="2800" dirty="0" err="1" smtClean="0">
                <a:latin typeface="Times New Roman" pitchFamily="18" charset="0"/>
                <a:cs typeface="Times New Roman" pitchFamily="18" charset="0"/>
              </a:rPr>
              <a:t>Nh</a:t>
            </a:r>
            <a:r>
              <a:rPr lang="vi-VN" sz="2800" dirty="0" smtClean="0">
                <a:latin typeface="Times New Roman" pitchFamily="18" charset="0"/>
                <a:cs typeface="Times New Roman" pitchFamily="18" charset="0"/>
              </a:rPr>
              <a:t>ật</a:t>
            </a:r>
            <a:r>
              <a:rPr lang="en-US" sz="2800" dirty="0" smtClean="0">
                <a:latin typeface="Times New Roman" pitchFamily="18" charset="0"/>
                <a:cs typeface="Times New Roman" pitchFamily="18" charset="0"/>
              </a:rPr>
              <a:t> (1878</a:t>
            </a:r>
            <a:r>
              <a:rPr lang="vi-VN" sz="2800" dirty="0" smtClean="0">
                <a:latin typeface="Times New Roman" pitchFamily="18" charset="0"/>
                <a:cs typeface="Times New Roman" pitchFamily="18" charset="0"/>
              </a:rPr>
              <a:t> – </a:t>
            </a:r>
            <a:r>
              <a:rPr lang="en-US" sz="2800" dirty="0" smtClean="0">
                <a:latin typeface="Times New Roman" pitchFamily="18" charset="0"/>
                <a:cs typeface="Times New Roman" pitchFamily="18" charset="0"/>
              </a:rPr>
              <a:t>1900)</a:t>
            </a:r>
            <a:r>
              <a:rPr lang="vi-VN" sz="2800" dirty="0" smtClean="0">
                <a:latin typeface="Times New Roman" pitchFamily="18" charset="0"/>
                <a:cs typeface="Times New Roman" pitchFamily="18" charset="0"/>
              </a:rPr>
              <a:t> </a:t>
            </a:r>
            <a:endParaRPr lang="en-US" sz="2800" dirty="0" smtClean="0">
              <a:latin typeface="Times New Roman" pitchFamily="18" charset="0"/>
              <a:cs typeface="Times New Roman" pitchFamily="18" charset="0"/>
            </a:endParaRPr>
          </a:p>
          <a:p>
            <a:pPr marL="339725" indent="-339725" algn="just"/>
            <a:r>
              <a:rPr lang="en-US" sz="2800" dirty="0" smtClean="0">
                <a:latin typeface="Times New Roman" pitchFamily="18" charset="0"/>
                <a:cs typeface="Times New Roman" pitchFamily="18" charset="0"/>
              </a:rPr>
              <a:t>Canada (1896</a:t>
            </a:r>
            <a:r>
              <a:rPr lang="vi-VN" sz="2800" dirty="0" smtClean="0">
                <a:latin typeface="Times New Roman" pitchFamily="18" charset="0"/>
                <a:cs typeface="Times New Roman" pitchFamily="18" charset="0"/>
              </a:rPr>
              <a:t> – </a:t>
            </a:r>
            <a:r>
              <a:rPr lang="en-US" sz="2800" dirty="0" smtClean="0">
                <a:latin typeface="Times New Roman" pitchFamily="18" charset="0"/>
                <a:cs typeface="Times New Roman" pitchFamily="18" charset="0"/>
              </a:rPr>
              <a:t>1914)</a:t>
            </a:r>
            <a:endParaRPr lang="en-US" sz="28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7</a:t>
            </a:fld>
            <a:endParaRPr lang="en-US"/>
          </a:p>
        </p:txBody>
      </p:sp>
    </p:spTree>
    <p:extLst>
      <p:ext uri="{BB962C8B-B14F-4D97-AF65-F5344CB8AC3E}">
        <p14:creationId xmlns:p14="http://schemas.microsoft.com/office/powerpoint/2010/main" val="2509845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1143000"/>
          </a:xfrm>
        </p:spPr>
        <p:txBody>
          <a:bodyPr>
            <a:noAutofit/>
          </a:bodyPr>
          <a:lstStyle/>
          <a:p>
            <a:r>
              <a:rPr lang="en-US" sz="3600" b="1" dirty="0" smtClean="0">
                <a:solidFill>
                  <a:srgbClr val="002060"/>
                </a:solidFill>
                <a:latin typeface="Times New Roman" pitchFamily="18" charset="0"/>
                <a:cs typeface="Times New Roman" pitchFamily="18" charset="0"/>
              </a:rPr>
              <a:t>6. </a:t>
            </a:r>
            <a:r>
              <a:rPr lang="en-US" sz="3600" b="1" dirty="0" err="1" smtClean="0">
                <a:solidFill>
                  <a:srgbClr val="002060"/>
                </a:solidFill>
                <a:latin typeface="Times New Roman" pitchFamily="18" charset="0"/>
                <a:cs typeface="Times New Roman" pitchFamily="18" charset="0"/>
              </a:rPr>
              <a:t>Đặc</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điểm</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của</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các</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nước</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công</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nghiệp</a:t>
            </a:r>
            <a:r>
              <a:rPr lang="en-US" sz="3600" b="1" dirty="0" smtClean="0">
                <a:solidFill>
                  <a:srgbClr val="002060"/>
                </a:solidFill>
                <a:latin typeface="Times New Roman" pitchFamily="18" charset="0"/>
                <a:cs typeface="Times New Roman" pitchFamily="18" charset="0"/>
              </a:rPr>
              <a:t> </a:t>
            </a:r>
            <a:r>
              <a:rPr lang="en-US" sz="3600" b="1" dirty="0" err="1" smtClean="0">
                <a:solidFill>
                  <a:srgbClr val="002060"/>
                </a:solidFill>
                <a:latin typeface="Times New Roman" pitchFamily="18" charset="0"/>
                <a:cs typeface="Times New Roman" pitchFamily="18" charset="0"/>
              </a:rPr>
              <a:t>hóa</a:t>
            </a:r>
            <a:r>
              <a:rPr lang="en-US" sz="3600" b="1" dirty="0" smtClean="0">
                <a:solidFill>
                  <a:srgbClr val="002060"/>
                </a:solidFill>
                <a:latin typeface="Times New Roman" pitchFamily="18" charset="0"/>
                <a:cs typeface="Times New Roman" pitchFamily="18" charset="0"/>
              </a:rPr>
              <a:t> </a:t>
            </a:r>
            <a:endParaRPr lang="en-US" sz="3600"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0" y="1600200"/>
            <a:ext cx="9144000" cy="4525963"/>
          </a:xfrm>
        </p:spPr>
        <p:txBody>
          <a:bodyPr>
            <a:normAutofit/>
          </a:bodyPr>
          <a:lstStyle/>
          <a:p>
            <a:pPr marL="514350" indent="-514350">
              <a:buFont typeface="+mj-lt"/>
              <a:buAutoNum type="arabicPeriod"/>
            </a:pPr>
            <a:r>
              <a:rPr lang="vi-VN" sz="2800" dirty="0" smtClean="0">
                <a:latin typeface="Times New Roman" pitchFamily="18" charset="0"/>
                <a:cs typeface="Times New Roman" pitchFamily="18" charset="0"/>
              </a:rPr>
              <a:t>Có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vi-VN" sz="2800" dirty="0">
                <a:latin typeface="Times New Roman" pitchFamily="18" charset="0"/>
                <a:cs typeface="Times New Roman" pitchFamily="18" charset="0"/>
              </a:rPr>
              <a:t> ngành công nghiệp chế tạo phát </a:t>
            </a:r>
            <a:r>
              <a:rPr lang="vi-VN" sz="2800" dirty="0" smtClean="0">
                <a:latin typeface="Times New Roman" pitchFamily="18" charset="0"/>
                <a:cs typeface="Times New Roman" pitchFamily="18" charset="0"/>
              </a:rPr>
              <a:t>triển</a:t>
            </a:r>
            <a:endParaRPr lang="en-US" sz="2800" dirty="0" smtClean="0">
              <a:latin typeface="Times New Roman" pitchFamily="18" charset="0"/>
              <a:cs typeface="Times New Roman" pitchFamily="18" charset="0"/>
            </a:endParaRPr>
          </a:p>
          <a:p>
            <a:pPr marL="514350" indent="-514350">
              <a:buFont typeface="+mj-lt"/>
              <a:buAutoNum type="arabicPeriod"/>
            </a:pPr>
            <a:r>
              <a:rPr lang="vi-VN" sz="2800" i="1" dirty="0" smtClean="0">
                <a:latin typeface="Times New Roman" pitchFamily="18" charset="0"/>
                <a:cs typeface="Times New Roman" pitchFamily="18" charset="0"/>
              </a:rPr>
              <a:t>Có </a:t>
            </a:r>
            <a:r>
              <a:rPr lang="vi-VN" sz="2800" i="1" dirty="0">
                <a:latin typeface="Times New Roman" pitchFamily="18" charset="0"/>
                <a:cs typeface="Times New Roman" pitchFamily="18" charset="0"/>
              </a:rPr>
              <a:t>khả năng nhập khẩu máy móc, thiết </a:t>
            </a:r>
            <a:r>
              <a:rPr lang="vi-VN" sz="2800" i="1" dirty="0" smtClean="0">
                <a:latin typeface="Times New Roman" pitchFamily="18" charset="0"/>
                <a:cs typeface="Times New Roman" pitchFamily="18" charset="0"/>
              </a:rPr>
              <a:t>bị</a:t>
            </a:r>
            <a:endParaRPr lang="en-US" sz="2800" dirty="0" smtClean="0">
              <a:latin typeface="Times New Roman" pitchFamily="18" charset="0"/>
              <a:cs typeface="Times New Roman" pitchFamily="18" charset="0"/>
            </a:endParaRPr>
          </a:p>
          <a:p>
            <a:pPr marL="514350" indent="-514350">
              <a:buFont typeface="+mj-lt"/>
              <a:buAutoNum type="arabicPeriod"/>
            </a:pPr>
            <a:r>
              <a:rPr lang="vi-VN" sz="2800" i="1" u="sng" dirty="0">
                <a:latin typeface="Times New Roman" pitchFamily="18" charset="0"/>
                <a:cs typeface="Times New Roman" pitchFamily="18" charset="0"/>
              </a:rPr>
              <a:t>Năng suất nông nghiệp tăng </a:t>
            </a:r>
            <a:r>
              <a:rPr lang="vi-VN" sz="2800" i="1" u="sng" dirty="0" smtClean="0">
                <a:latin typeface="Times New Roman" pitchFamily="18" charset="0"/>
                <a:cs typeface="Times New Roman" pitchFamily="18" charset="0"/>
              </a:rPr>
              <a:t>nhanh</a:t>
            </a:r>
            <a:r>
              <a:rPr lang="vi-VN" sz="2800" dirty="0" smtClean="0">
                <a:latin typeface="Times New Roman" pitchFamily="18" charset="0"/>
                <a:cs typeface="Times New Roman" pitchFamily="18" charset="0"/>
              </a:rPr>
              <a:t> </a:t>
            </a:r>
            <a:endParaRPr lang="en-US" sz="2800" dirty="0" smtClean="0">
              <a:latin typeface="Times New Roman" pitchFamily="18" charset="0"/>
              <a:cs typeface="Times New Roman" pitchFamily="18" charset="0"/>
            </a:endParaRPr>
          </a:p>
          <a:p>
            <a:pPr marL="514350" indent="-514350">
              <a:buFont typeface="+mj-lt"/>
              <a:buAutoNum type="arabicPeriod"/>
            </a:pPr>
            <a:r>
              <a:rPr lang="vi-VN" sz="2800" i="1" u="sng" dirty="0">
                <a:latin typeface="Times New Roman" pitchFamily="18" charset="0"/>
                <a:cs typeface="Times New Roman" pitchFamily="18" charset="0"/>
              </a:rPr>
              <a:t>Cơ sở hạ tầng giao thông phát triển</a:t>
            </a:r>
            <a:r>
              <a:rPr lang="vi-VN" sz="2800" i="1" dirty="0">
                <a:latin typeface="Times New Roman" pitchFamily="18" charset="0"/>
                <a:cs typeface="Times New Roman" pitchFamily="18" charset="0"/>
              </a:rPr>
              <a:t> và tương thích với hoạt động kinh tế trong </a:t>
            </a:r>
            <a:r>
              <a:rPr lang="en-US" sz="2800" i="1" dirty="0" err="1" smtClean="0">
                <a:latin typeface="Times New Roman" pitchFamily="18" charset="0"/>
                <a:cs typeface="Times New Roman" pitchFamily="18" charset="0"/>
              </a:rPr>
              <a:t>nước</a:t>
            </a:r>
            <a:endParaRPr lang="en-US" sz="2800" i="1" dirty="0" smtClean="0">
              <a:latin typeface="Times New Roman" pitchFamily="18" charset="0"/>
              <a:cs typeface="Times New Roman" pitchFamily="18" charset="0"/>
            </a:endParaRPr>
          </a:p>
          <a:p>
            <a:pPr marL="514350" indent="-514350">
              <a:buFont typeface="+mj-lt"/>
              <a:buAutoNum type="arabicPeriod"/>
            </a:pPr>
            <a:r>
              <a:rPr lang="vi-VN" sz="2800" i="1" u="sng" dirty="0">
                <a:latin typeface="Times New Roman" pitchFamily="18" charset="0"/>
                <a:cs typeface="Times New Roman" pitchFamily="18" charset="0"/>
              </a:rPr>
              <a:t>Phát triển thể chế</a:t>
            </a:r>
            <a:r>
              <a:rPr lang="vi-VN" sz="2800" dirty="0">
                <a:latin typeface="Times New Roman" pitchFamily="18" charset="0"/>
                <a:cs typeface="Times New Roman" pitchFamily="18" charset="0"/>
              </a:rPr>
              <a:t> và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vi-VN" sz="2800" dirty="0">
                <a:latin typeface="Times New Roman" pitchFamily="18" charset="0"/>
                <a:cs typeface="Times New Roman" pitchFamily="18" charset="0"/>
              </a:rPr>
              <a:t>khu vực sản xuất hiện </a:t>
            </a:r>
            <a:r>
              <a:rPr lang="vi-VN" sz="2800" dirty="0" smtClean="0">
                <a:latin typeface="Times New Roman" pitchFamily="18" charset="0"/>
                <a:cs typeface="Times New Roman" pitchFamily="18" charset="0"/>
              </a:rPr>
              <a:t>đại</a:t>
            </a:r>
            <a:endParaRPr lang="en-US" sz="2800" i="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8</a:t>
            </a:fld>
            <a:endParaRPr lang="en-US"/>
          </a:p>
        </p:txBody>
      </p:sp>
    </p:spTree>
    <p:extLst>
      <p:ext uri="{BB962C8B-B14F-4D97-AF65-F5344CB8AC3E}">
        <p14:creationId xmlns:p14="http://schemas.microsoft.com/office/powerpoint/2010/main" val="3297327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fontScale="90000"/>
          </a:bodyPr>
          <a:lstStyle/>
          <a:p>
            <a:pPr lvl="0" algn="l"/>
            <a:r>
              <a:rPr lang="en-US" sz="4000" b="1" dirty="0" smtClean="0">
                <a:solidFill>
                  <a:srgbClr val="002060"/>
                </a:solidFill>
                <a:latin typeface="Times New Roman" pitchFamily="18" charset="0"/>
                <a:cs typeface="Times New Roman" pitchFamily="18" charset="0"/>
              </a:rPr>
              <a:t>7. </a:t>
            </a:r>
            <a:r>
              <a:rPr lang="en-US" sz="4000" b="1" dirty="0" err="1" smtClean="0">
                <a:solidFill>
                  <a:srgbClr val="002060"/>
                </a:solidFill>
                <a:latin typeface="Times New Roman" pitchFamily="18" charset="0"/>
                <a:cs typeface="Times New Roman" pitchFamily="18" charset="0"/>
              </a:rPr>
              <a:t>Các</a:t>
            </a:r>
            <a:r>
              <a:rPr lang="en-US" sz="4000" b="1" dirty="0" smtClean="0">
                <a:solidFill>
                  <a:srgbClr val="002060"/>
                </a:solidFill>
                <a:latin typeface="Times New Roman" pitchFamily="18" charset="0"/>
                <a:cs typeface="Times New Roman" pitchFamily="18" charset="0"/>
              </a:rPr>
              <a:t> </a:t>
            </a:r>
            <a:r>
              <a:rPr lang="en-US" sz="4000" b="1" dirty="0" err="1" smtClean="0">
                <a:solidFill>
                  <a:srgbClr val="002060"/>
                </a:solidFill>
                <a:latin typeface="Times New Roman" pitchFamily="18" charset="0"/>
                <a:cs typeface="Times New Roman" pitchFamily="18" charset="0"/>
              </a:rPr>
              <a:t>đánh</a:t>
            </a:r>
            <a:r>
              <a:rPr lang="en-US" sz="4000" b="1" dirty="0" smtClean="0">
                <a:solidFill>
                  <a:srgbClr val="002060"/>
                </a:solidFill>
                <a:latin typeface="Times New Roman" pitchFamily="18" charset="0"/>
                <a:cs typeface="Times New Roman" pitchFamily="18" charset="0"/>
              </a:rPr>
              <a:t> </a:t>
            </a:r>
            <a:r>
              <a:rPr lang="en-US" sz="4000" b="1" dirty="0" err="1" smtClean="0">
                <a:solidFill>
                  <a:srgbClr val="002060"/>
                </a:solidFill>
                <a:latin typeface="Times New Roman" pitchFamily="18" charset="0"/>
                <a:cs typeface="Times New Roman" pitchFamily="18" charset="0"/>
              </a:rPr>
              <a:t>giá</a:t>
            </a:r>
            <a:r>
              <a:rPr lang="en-US" sz="4000" b="1" dirty="0" smtClean="0">
                <a:solidFill>
                  <a:srgbClr val="002060"/>
                </a:solidFill>
                <a:latin typeface="Times New Roman" pitchFamily="18" charset="0"/>
                <a:cs typeface="Times New Roman" pitchFamily="18" charset="0"/>
              </a:rPr>
              <a:t> </a:t>
            </a:r>
            <a:r>
              <a:rPr lang="en-US" sz="4000" b="1" dirty="0" err="1" smtClean="0">
                <a:solidFill>
                  <a:srgbClr val="002060"/>
                </a:solidFill>
                <a:latin typeface="Times New Roman" pitchFamily="18" charset="0"/>
                <a:cs typeface="Times New Roman" pitchFamily="18" charset="0"/>
              </a:rPr>
              <a:t>về</a:t>
            </a:r>
            <a:r>
              <a:rPr lang="en-US" sz="4000" b="1" dirty="0" smtClean="0">
                <a:solidFill>
                  <a:srgbClr val="002060"/>
                </a:solidFill>
                <a:latin typeface="Times New Roman" pitchFamily="18" charset="0"/>
                <a:cs typeface="Times New Roman" pitchFamily="18" charset="0"/>
              </a:rPr>
              <a:t> </a:t>
            </a:r>
            <a:r>
              <a:rPr lang="en-US" sz="4000" b="1" dirty="0" err="1" smtClean="0">
                <a:solidFill>
                  <a:srgbClr val="002060"/>
                </a:solidFill>
                <a:latin typeface="Times New Roman" pitchFamily="18" charset="0"/>
                <a:cs typeface="Times New Roman" pitchFamily="18" charset="0"/>
              </a:rPr>
              <a:t>chiến</a:t>
            </a:r>
            <a:r>
              <a:rPr lang="en-US" sz="4000" b="1" dirty="0" smtClean="0">
                <a:solidFill>
                  <a:srgbClr val="002060"/>
                </a:solidFill>
                <a:latin typeface="Times New Roman" pitchFamily="18" charset="0"/>
                <a:cs typeface="Times New Roman" pitchFamily="18" charset="0"/>
              </a:rPr>
              <a:t> </a:t>
            </a:r>
            <a:r>
              <a:rPr lang="en-US" sz="4000" b="1" dirty="0" err="1" smtClean="0">
                <a:solidFill>
                  <a:srgbClr val="002060"/>
                </a:solidFill>
                <a:latin typeface="Times New Roman" pitchFamily="18" charset="0"/>
                <a:cs typeface="Times New Roman" pitchFamily="18" charset="0"/>
              </a:rPr>
              <a:t>lược</a:t>
            </a:r>
            <a:r>
              <a:rPr lang="en-US" sz="4000" b="1" dirty="0" smtClean="0">
                <a:solidFill>
                  <a:srgbClr val="002060"/>
                </a:solidFill>
                <a:latin typeface="Times New Roman" pitchFamily="18" charset="0"/>
                <a:cs typeface="Times New Roman" pitchFamily="18" charset="0"/>
              </a:rPr>
              <a:t> </a:t>
            </a:r>
            <a:r>
              <a:rPr lang="en-US" sz="4000" b="1" dirty="0" err="1" smtClean="0">
                <a:solidFill>
                  <a:srgbClr val="002060"/>
                </a:solidFill>
                <a:latin typeface="Times New Roman" pitchFamily="18" charset="0"/>
                <a:cs typeface="Times New Roman" pitchFamily="18" charset="0"/>
              </a:rPr>
              <a:t>công</a:t>
            </a:r>
            <a:r>
              <a:rPr lang="en-US" sz="4000" b="1" dirty="0" smtClean="0">
                <a:solidFill>
                  <a:srgbClr val="002060"/>
                </a:solidFill>
                <a:latin typeface="Times New Roman" pitchFamily="18" charset="0"/>
                <a:cs typeface="Times New Roman" pitchFamily="18" charset="0"/>
              </a:rPr>
              <a:t> </a:t>
            </a:r>
            <a:r>
              <a:rPr lang="en-US" sz="4000" b="1" dirty="0" err="1" smtClean="0">
                <a:solidFill>
                  <a:srgbClr val="002060"/>
                </a:solidFill>
                <a:latin typeface="Times New Roman" pitchFamily="18" charset="0"/>
                <a:cs typeface="Times New Roman" pitchFamily="18" charset="0"/>
              </a:rPr>
              <a:t>nghiệp</a:t>
            </a:r>
            <a:r>
              <a:rPr lang="en-US" sz="4000" b="1" dirty="0" smtClean="0">
                <a:solidFill>
                  <a:srgbClr val="002060"/>
                </a:solidFill>
                <a:latin typeface="Times New Roman" pitchFamily="18" charset="0"/>
                <a:cs typeface="Times New Roman" pitchFamily="18" charset="0"/>
              </a:rPr>
              <a:t> </a:t>
            </a:r>
            <a:r>
              <a:rPr lang="en-US" sz="4000" b="1" dirty="0" err="1" smtClean="0">
                <a:solidFill>
                  <a:srgbClr val="002060"/>
                </a:solidFill>
                <a:latin typeface="Times New Roman" pitchFamily="18" charset="0"/>
                <a:cs typeface="Times New Roman" pitchFamily="18" charset="0"/>
              </a:rPr>
              <a:t>hóa</a:t>
            </a:r>
            <a:r>
              <a:rPr lang="en-US" sz="4000" b="1" dirty="0" smtClean="0">
                <a:solidFill>
                  <a:srgbClr val="002060"/>
                </a:solidFill>
                <a:latin typeface="Times New Roman" pitchFamily="18" charset="0"/>
                <a:cs typeface="Times New Roman" pitchFamily="18" charset="0"/>
              </a:rPr>
              <a:t> ở </a:t>
            </a:r>
            <a:r>
              <a:rPr lang="en-US" sz="4000" b="1" dirty="0" err="1" smtClean="0">
                <a:solidFill>
                  <a:srgbClr val="002060"/>
                </a:solidFill>
                <a:latin typeface="Times New Roman" pitchFamily="18" charset="0"/>
                <a:cs typeface="Times New Roman" pitchFamily="18" charset="0"/>
              </a:rPr>
              <a:t>Việt</a:t>
            </a:r>
            <a:r>
              <a:rPr lang="en-US" sz="4000" b="1" dirty="0" smtClean="0">
                <a:solidFill>
                  <a:srgbClr val="002060"/>
                </a:solidFill>
                <a:latin typeface="Times New Roman" pitchFamily="18" charset="0"/>
                <a:cs typeface="Times New Roman" pitchFamily="18" charset="0"/>
              </a:rPr>
              <a:t> Nam </a:t>
            </a:r>
            <a:r>
              <a:rPr lang="vi-VN"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09600" y="2103437"/>
            <a:ext cx="8229600" cy="4525963"/>
          </a:xfrm>
        </p:spPr>
        <p:txBody>
          <a:bodyPr/>
          <a:lstStyle/>
          <a:p>
            <a:pPr marL="514350" indent="-514350">
              <a:buFont typeface="+mj-lt"/>
              <a:buAutoNum type="arabicPeriod"/>
            </a:pPr>
            <a:r>
              <a:rPr lang="vi-VN" sz="2800" i="1" dirty="0" smtClean="0">
                <a:latin typeface="Times New Roman" pitchFamily="18" charset="0"/>
                <a:cs typeface="Times New Roman" pitchFamily="18" charset="0"/>
              </a:rPr>
              <a:t>Vấn </a:t>
            </a:r>
            <a:r>
              <a:rPr lang="vi-VN" sz="2800" i="1" dirty="0">
                <a:latin typeface="Times New Roman" pitchFamily="18" charset="0"/>
                <a:cs typeface="Times New Roman" pitchFamily="18" charset="0"/>
              </a:rPr>
              <a:t>đề can thiệp của chính phủ </a:t>
            </a:r>
            <a:endParaRPr lang="en-US" sz="2800" i="1" dirty="0" smtClean="0">
              <a:latin typeface="Times New Roman" pitchFamily="18" charset="0"/>
              <a:cs typeface="Times New Roman" pitchFamily="18" charset="0"/>
            </a:endParaRPr>
          </a:p>
          <a:p>
            <a:pPr marL="514350" lvl="0" indent="-514350">
              <a:buFont typeface="+mj-lt"/>
              <a:buAutoNum type="arabicPeriod"/>
            </a:pPr>
            <a:r>
              <a:rPr lang="vi-VN" sz="2800" i="1" dirty="0">
                <a:latin typeface="Times New Roman" pitchFamily="18" charset="0"/>
                <a:cs typeface="Times New Roman" pitchFamily="18" charset="0"/>
              </a:rPr>
              <a:t>Vấn đề năng suất lao động trong nông nghiệp </a:t>
            </a:r>
            <a:endParaRPr lang="en-US" sz="2800" i="1" dirty="0" smtClean="0">
              <a:latin typeface="Times New Roman" pitchFamily="18" charset="0"/>
              <a:cs typeface="Times New Roman" pitchFamily="18" charset="0"/>
            </a:endParaRPr>
          </a:p>
          <a:p>
            <a:pPr marL="514350" lvl="0" indent="-514350">
              <a:buFont typeface="+mj-lt"/>
              <a:buAutoNum type="arabicPeriod"/>
            </a:pPr>
            <a:r>
              <a:rPr lang="vi-VN" sz="2800" i="1" dirty="0" smtClean="0">
                <a:latin typeface="Times New Roman" pitchFamily="18" charset="0"/>
                <a:cs typeface="Times New Roman" pitchFamily="18" charset="0"/>
              </a:rPr>
              <a:t>Vấn </a:t>
            </a:r>
            <a:r>
              <a:rPr lang="vi-VN" sz="2800" i="1" dirty="0">
                <a:latin typeface="Times New Roman" pitchFamily="18" charset="0"/>
                <a:cs typeface="Times New Roman" pitchFamily="18" charset="0"/>
              </a:rPr>
              <a:t>đề giao </a:t>
            </a:r>
            <a:r>
              <a:rPr lang="vi-VN" sz="2800" i="1" dirty="0" smtClean="0">
                <a:latin typeface="Times New Roman" pitchFamily="18" charset="0"/>
                <a:cs typeface="Times New Roman" pitchFamily="18" charset="0"/>
              </a:rPr>
              <a:t>thôn</a:t>
            </a:r>
            <a:r>
              <a:rPr lang="en-US" sz="2800" i="1" dirty="0" smtClean="0">
                <a:latin typeface="Times New Roman" pitchFamily="18" charset="0"/>
                <a:cs typeface="Times New Roman" pitchFamily="18" charset="0"/>
              </a:rPr>
              <a:t>g</a:t>
            </a:r>
            <a:r>
              <a:rPr lang="vi-VN" sz="2800" i="1" dirty="0" smtClean="0">
                <a:latin typeface="Times New Roman" pitchFamily="18" charset="0"/>
                <a:cs typeface="Times New Roman" pitchFamily="18" charset="0"/>
              </a:rPr>
              <a:t>   </a:t>
            </a:r>
            <a:endParaRPr lang="en-US" sz="2800" i="1" dirty="0">
              <a:latin typeface="Times New Roman" pitchFamily="18" charset="0"/>
              <a:cs typeface="Times New Roman" pitchFamily="18" charset="0"/>
            </a:endParaRPr>
          </a:p>
          <a:p>
            <a:pPr marL="514350" lvl="0" indent="-514350">
              <a:buFont typeface="+mj-lt"/>
              <a:buAutoNum type="arabicPeriod"/>
            </a:pPr>
            <a:r>
              <a:rPr lang="en-US" sz="2800" i="1" dirty="0" err="1">
                <a:latin typeface="Times New Roman" pitchFamily="18" charset="0"/>
                <a:cs typeface="Times New Roman" pitchFamily="18" charset="0"/>
              </a:rPr>
              <a:t>Vấn</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đề</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thể</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chế</a:t>
            </a:r>
            <a:r>
              <a:rPr lang="en-US" sz="2800" i="1" dirty="0">
                <a:latin typeface="Times New Roman" pitchFamily="18" charset="0"/>
                <a:cs typeface="Times New Roman" pitchFamily="18" charset="0"/>
              </a:rPr>
              <a:t> </a:t>
            </a:r>
          </a:p>
          <a:p>
            <a:pPr marL="514350" lvl="0" indent="-514350">
              <a:buFont typeface="+mj-lt"/>
              <a:buAutoNum type="arabicPeriod"/>
            </a:pPr>
            <a:r>
              <a:rPr lang="en-US" sz="2800" i="1" dirty="0" err="1">
                <a:latin typeface="Times New Roman" pitchFamily="18" charset="0"/>
                <a:cs typeface="Times New Roman" pitchFamily="18" charset="0"/>
              </a:rPr>
              <a:t>Vấn</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đề</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tăng</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trưởng</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cho</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người</a:t>
            </a:r>
            <a:r>
              <a:rPr lang="en-US" sz="2800" i="1" dirty="0">
                <a:latin typeface="Times New Roman" pitchFamily="18" charset="0"/>
                <a:cs typeface="Times New Roman" pitchFamily="18" charset="0"/>
              </a:rPr>
              <a:t> </a:t>
            </a:r>
            <a:r>
              <a:rPr lang="en-US" sz="2800" i="1" dirty="0" err="1">
                <a:latin typeface="Times New Roman" pitchFamily="18" charset="0"/>
                <a:cs typeface="Times New Roman" pitchFamily="18" charset="0"/>
              </a:rPr>
              <a:t>nghèo</a:t>
            </a:r>
            <a:endParaRPr lang="en-US" sz="2800" i="1" dirty="0">
              <a:latin typeface="Times New Roman" pitchFamily="18" charset="0"/>
              <a:cs typeface="Times New Roman" pitchFamily="18" charset="0"/>
            </a:endParaRPr>
          </a:p>
          <a:p>
            <a:pPr marL="0" indent="0">
              <a:buNone/>
            </a:pPr>
            <a:endParaRPr lang="en-US" i="1" dirty="0">
              <a:latin typeface="Times New Roman" pitchFamily="18" charset="0"/>
              <a:cs typeface="Times New Roman" pitchFamily="18" charset="0"/>
            </a:endParaRPr>
          </a:p>
          <a:p>
            <a:endParaRPr lang="en-US" i="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9</a:t>
            </a:fld>
            <a:endParaRPr lang="en-US"/>
          </a:p>
        </p:txBody>
      </p:sp>
    </p:spTree>
    <p:extLst>
      <p:ext uri="{BB962C8B-B14F-4D97-AF65-F5344CB8AC3E}">
        <p14:creationId xmlns:p14="http://schemas.microsoft.com/office/powerpoint/2010/main" val="632789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600" b="1" i="1" dirty="0" smtClean="0">
                <a:solidFill>
                  <a:srgbClr val="002060"/>
                </a:solidFill>
                <a:latin typeface="Times New Roman" pitchFamily="18" charset="0"/>
                <a:cs typeface="Times New Roman" pitchFamily="18" charset="0"/>
              </a:rPr>
              <a:t>7.1 </a:t>
            </a:r>
            <a:r>
              <a:rPr lang="vi-VN" sz="3600" b="1" i="1" dirty="0" smtClean="0">
                <a:solidFill>
                  <a:srgbClr val="002060"/>
                </a:solidFill>
                <a:latin typeface="Times New Roman" pitchFamily="18" charset="0"/>
                <a:cs typeface="Times New Roman" pitchFamily="18" charset="0"/>
              </a:rPr>
              <a:t>Vấn đề can thiệp của chính phủ </a:t>
            </a:r>
            <a:endParaRPr lang="en-US" sz="3600" b="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417638"/>
            <a:ext cx="8610600" cy="4983163"/>
          </a:xfrm>
        </p:spPr>
        <p:txBody>
          <a:bodyPr>
            <a:normAutofit fontScale="70000" lnSpcReduction="20000"/>
          </a:bodyPr>
          <a:lstStyle/>
          <a:p>
            <a:pPr marL="0" indent="0">
              <a:buNone/>
            </a:pPr>
            <a:r>
              <a:rPr lang="vi-VN" sz="3800" i="1" dirty="0">
                <a:latin typeface="Times New Roman" pitchFamily="18" charset="0"/>
                <a:cs typeface="Times New Roman" pitchFamily="18" charset="0"/>
              </a:rPr>
              <a:t>Nhà nước đã không đưa ra các định hướng rõ ràng về chiến lược công nghiệp hóa</a:t>
            </a:r>
            <a:r>
              <a:rPr lang="vi-VN" sz="3800" dirty="0">
                <a:latin typeface="Times New Roman" pitchFamily="18" charset="0"/>
                <a:cs typeface="Times New Roman" pitchFamily="18" charset="0"/>
              </a:rPr>
              <a:t> </a:t>
            </a:r>
            <a:endParaRPr lang="en-US" sz="3800" dirty="0" smtClean="0">
              <a:latin typeface="Times New Roman" pitchFamily="18" charset="0"/>
              <a:cs typeface="Times New Roman" pitchFamily="18" charset="0"/>
            </a:endParaRPr>
          </a:p>
          <a:p>
            <a:pPr marL="0" indent="0">
              <a:buNone/>
            </a:pPr>
            <a:endParaRPr lang="en-US" sz="3800" dirty="0" smtClean="0">
              <a:latin typeface="Times New Roman" pitchFamily="18" charset="0"/>
              <a:cs typeface="Times New Roman" pitchFamily="18" charset="0"/>
            </a:endParaRPr>
          </a:p>
          <a:p>
            <a:r>
              <a:rPr lang="vi-VN" i="1" dirty="0">
                <a:latin typeface="Times New Roman" pitchFamily="18" charset="0"/>
                <a:cs typeface="Times New Roman" pitchFamily="18" charset="0"/>
              </a:rPr>
              <a:t>Như thế nào là một quốc gia công nghiệp </a:t>
            </a:r>
            <a:r>
              <a:rPr lang="vi-VN" i="1" dirty="0" smtClean="0">
                <a:latin typeface="Times New Roman" pitchFamily="18" charset="0"/>
                <a:cs typeface="Times New Roman" pitchFamily="18" charset="0"/>
              </a:rPr>
              <a:t>hóa? </a:t>
            </a:r>
            <a:endParaRPr lang="en-US" i="1" dirty="0" smtClean="0">
              <a:latin typeface="Times New Roman" pitchFamily="18" charset="0"/>
              <a:cs typeface="Times New Roman" pitchFamily="18" charset="0"/>
            </a:endParaRPr>
          </a:p>
          <a:p>
            <a:r>
              <a:rPr lang="vi-VN" dirty="0">
                <a:latin typeface="Times New Roman" pitchFamily="18" charset="0"/>
                <a:cs typeface="Times New Roman" pitchFamily="18" charset="0"/>
              </a:rPr>
              <a:t>Lộ trình thực hiện trong kế hoạch hàng năm và năm năm như thế nào</a:t>
            </a:r>
            <a:r>
              <a:rPr lang="vi-V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r>
              <a:rPr lang="vi-VN" dirty="0">
                <a:latin typeface="Times New Roman" pitchFamily="18" charset="0"/>
                <a:cs typeface="Times New Roman" pitchFamily="18" charset="0"/>
              </a:rPr>
              <a:t>Lựa chọn ngành nào là động lực cho tăng </a:t>
            </a:r>
            <a:r>
              <a:rPr lang="vi-VN" dirty="0" smtClean="0">
                <a:latin typeface="Times New Roman" pitchFamily="18" charset="0"/>
                <a:cs typeface="Times New Roman" pitchFamily="18" charset="0"/>
              </a:rPr>
              <a:t>trưởng?</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V</a:t>
            </a:r>
            <a:r>
              <a:rPr lang="vi-VN" dirty="0" smtClean="0">
                <a:latin typeface="Times New Roman" pitchFamily="18" charset="0"/>
                <a:cs typeface="Times New Roman" pitchFamily="18" charset="0"/>
              </a:rPr>
              <a:t>ai </a:t>
            </a:r>
            <a:r>
              <a:rPr lang="vi-VN" dirty="0">
                <a:latin typeface="Times New Roman" pitchFamily="18" charset="0"/>
                <a:cs typeface="Times New Roman" pitchFamily="18" charset="0"/>
              </a:rPr>
              <a:t>trò của doanh nghiệp vừa và </a:t>
            </a:r>
            <a:r>
              <a:rPr lang="vi-VN" dirty="0" smtClean="0">
                <a:latin typeface="Times New Roman" pitchFamily="18" charset="0"/>
                <a:cs typeface="Times New Roman" pitchFamily="18" charset="0"/>
              </a:rPr>
              <a:t>nhỏ</a:t>
            </a:r>
            <a:r>
              <a:rPr lang="en-US" dirty="0" smtClean="0">
                <a:latin typeface="Times New Roman" pitchFamily="18" charset="0"/>
                <a:cs typeface="Times New Roman" pitchFamily="18" charset="0"/>
              </a:rPr>
              <a:t> (SMEs)</a:t>
            </a:r>
            <a:r>
              <a:rPr lang="vi-VN" dirty="0" smtClean="0">
                <a:latin typeface="Times New Roman" pitchFamily="18" charset="0"/>
                <a:cs typeface="Times New Roman" pitchFamily="18" charset="0"/>
              </a:rPr>
              <a:t>, </a:t>
            </a:r>
            <a:r>
              <a:rPr lang="vi-VN" dirty="0">
                <a:latin typeface="Times New Roman" pitchFamily="18" charset="0"/>
                <a:cs typeface="Times New Roman" pitchFamily="18" charset="0"/>
              </a:rPr>
              <a:t>doanh nghiệp nhà </a:t>
            </a:r>
            <a:r>
              <a:rPr lang="vi-VN" dirty="0" smtClean="0">
                <a:latin typeface="Times New Roman" pitchFamily="18" charset="0"/>
                <a:cs typeface="Times New Roman" pitchFamily="18" charset="0"/>
              </a:rPr>
              <a:t>nước</a:t>
            </a:r>
            <a:r>
              <a:rPr lang="en-US" dirty="0" smtClean="0">
                <a:latin typeface="Times New Roman" pitchFamily="18" charset="0"/>
                <a:cs typeface="Times New Roman" pitchFamily="18" charset="0"/>
              </a:rPr>
              <a:t> (SOEs)</a:t>
            </a:r>
            <a:r>
              <a:rPr lang="vi-VN" dirty="0" smtClean="0">
                <a:latin typeface="Times New Roman" pitchFamily="18" charset="0"/>
                <a:cs typeface="Times New Roman" pitchFamily="18" charset="0"/>
              </a:rPr>
              <a:t> </a:t>
            </a:r>
            <a:r>
              <a:rPr lang="vi-VN" dirty="0">
                <a:latin typeface="Times New Roman" pitchFamily="18" charset="0"/>
                <a:cs typeface="Times New Roman" pitchFamily="18" charset="0"/>
              </a:rPr>
              <a:t>và doanh nghiệp nước </a:t>
            </a:r>
            <a:r>
              <a:rPr lang="vi-VN" dirty="0" smtClean="0">
                <a:latin typeface="Times New Roman" pitchFamily="18" charset="0"/>
                <a:cs typeface="Times New Roman" pitchFamily="18" charset="0"/>
              </a:rPr>
              <a:t>ngoài</a:t>
            </a:r>
            <a:r>
              <a:rPr lang="en-US" dirty="0" smtClean="0">
                <a:latin typeface="Times New Roman" pitchFamily="18" charset="0"/>
                <a:cs typeface="Times New Roman" pitchFamily="18" charset="0"/>
              </a:rPr>
              <a:t> (FOEs</a:t>
            </a:r>
            <a:r>
              <a:rPr lang="vi-VN"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r>
              <a:rPr lang="vi-VN" dirty="0">
                <a:latin typeface="Times New Roman" pitchFamily="18" charset="0"/>
                <a:cs typeface="Times New Roman" pitchFamily="18" charset="0"/>
              </a:rPr>
              <a:t>Các thách thức </a:t>
            </a:r>
            <a:r>
              <a:rPr lang="en-US" dirty="0" err="1" smtClean="0">
                <a:latin typeface="Times New Roman" pitchFamily="18" charset="0"/>
                <a:cs typeface="Times New Roman" pitchFamily="18" charset="0"/>
              </a:rPr>
              <a:t>ngắn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hạn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dài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hạn</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trong </a:t>
            </a:r>
            <a:r>
              <a:rPr lang="vi-VN" dirty="0">
                <a:latin typeface="Times New Roman" pitchFamily="18" charset="0"/>
                <a:cs typeface="Times New Roman" pitchFamily="18" charset="0"/>
              </a:rPr>
              <a:t>tiến trình hội nhập</a:t>
            </a:r>
            <a:r>
              <a:rPr lang="vi-V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r>
              <a:rPr lang="vi-VN" dirty="0">
                <a:latin typeface="Times New Roman" pitchFamily="18" charset="0"/>
                <a:cs typeface="Times New Roman" pitchFamily="18" charset="0"/>
              </a:rPr>
              <a:t>Chính </a:t>
            </a:r>
            <a:r>
              <a:rPr lang="vi-VN" dirty="0" smtClean="0">
                <a:latin typeface="Times New Roman" pitchFamily="18" charset="0"/>
                <a:cs typeface="Times New Roman" pitchFamily="18" charset="0"/>
              </a:rPr>
              <a:t>phủ</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thị </a:t>
            </a:r>
            <a:r>
              <a:rPr lang="vi-VN" dirty="0">
                <a:latin typeface="Times New Roman" pitchFamily="18" charset="0"/>
                <a:cs typeface="Times New Roman" pitchFamily="18" charset="0"/>
              </a:rPr>
              <a:t>trường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cộng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đồng</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phối </a:t>
            </a:r>
            <a:r>
              <a:rPr lang="vi-VN" dirty="0">
                <a:latin typeface="Times New Roman" pitchFamily="18" charset="0"/>
                <a:cs typeface="Times New Roman" pitchFamily="18" charset="0"/>
              </a:rPr>
              <a:t>hợp với nhau như thế nào</a:t>
            </a:r>
            <a:r>
              <a:rPr lang="vi-V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r>
              <a:rPr lang="vi-VN" dirty="0">
                <a:latin typeface="Times New Roman" pitchFamily="18" charset="0"/>
                <a:cs typeface="Times New Roman" pitchFamily="18" charset="0"/>
              </a:rPr>
              <a:t>Đầu tư thượng nguồn (upstream investment) như thế nào</a:t>
            </a:r>
            <a:r>
              <a:rPr lang="vi-V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r>
              <a:rPr lang="en-US" dirty="0" err="1" smtClean="0">
                <a:latin typeface="Times New Roman" pitchFamily="18" charset="0"/>
                <a:cs typeface="Times New Roman" pitchFamily="18" charset="0"/>
              </a:rPr>
              <a:t>Không</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đề</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cập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thích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đối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với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đổi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hậu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Việt</a:t>
            </a:r>
            <a:r>
              <a:rPr lang="en-US" dirty="0">
                <a:latin typeface="Times New Roman" pitchFamily="18" charset="0"/>
                <a:cs typeface="Times New Roman" pitchFamily="18" charset="0"/>
              </a:rPr>
              <a:t> Nam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chịu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ảnh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hưởng</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lớn</a:t>
            </a:r>
            <a:r>
              <a:rPr lang="en-US" dirty="0" smtClean="0">
                <a:latin typeface="Times New Roman" pitchFamily="18" charset="0"/>
                <a:cs typeface="Times New Roman" pitchFamily="18" charset="0"/>
              </a:rPr>
              <a:t>. </a:t>
            </a:r>
            <a:endParaRPr lang="en-US" i="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10</a:t>
            </a:fld>
            <a:endParaRPr lang="en-US"/>
          </a:p>
        </p:txBody>
      </p:sp>
    </p:spTree>
    <p:extLst>
      <p:ext uri="{BB962C8B-B14F-4D97-AF65-F5344CB8AC3E}">
        <p14:creationId xmlns:p14="http://schemas.microsoft.com/office/powerpoint/2010/main" val="22202912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i="1" dirty="0" smtClean="0">
                <a:solidFill>
                  <a:srgbClr val="002060"/>
                </a:solidFill>
                <a:latin typeface="Times New Roman" pitchFamily="18" charset="0"/>
                <a:cs typeface="Times New Roman" pitchFamily="18" charset="0"/>
              </a:rPr>
              <a:t>7.1 </a:t>
            </a:r>
            <a:r>
              <a:rPr lang="vi-VN" sz="3600" b="1" i="1" dirty="0" smtClean="0">
                <a:solidFill>
                  <a:srgbClr val="002060"/>
                </a:solidFill>
                <a:latin typeface="Times New Roman" pitchFamily="18" charset="0"/>
                <a:cs typeface="Times New Roman" pitchFamily="18" charset="0"/>
              </a:rPr>
              <a:t>Vấn đề can thiệp của chính phủ </a:t>
            </a:r>
            <a:endParaRPr lang="en-US" sz="3600"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marL="0" indent="0">
              <a:buNone/>
            </a:pPr>
            <a:r>
              <a:rPr lang="vi-VN" sz="2600" i="1" dirty="0" smtClean="0">
                <a:latin typeface="Times New Roman" pitchFamily="18" charset="0"/>
                <a:cs typeface="Times New Roman" pitchFamily="18" charset="0"/>
              </a:rPr>
              <a:t>Đầu </a:t>
            </a:r>
            <a:r>
              <a:rPr lang="vi-VN" sz="2600" i="1" dirty="0">
                <a:latin typeface="Times New Roman" pitchFamily="18" charset="0"/>
                <a:cs typeface="Times New Roman" pitchFamily="18" charset="0"/>
              </a:rPr>
              <a:t>tư của nhà nước </a:t>
            </a:r>
            <a:r>
              <a:rPr lang="en-US" sz="2600" i="1" dirty="0">
                <a:latin typeface="Times New Roman" pitchFamily="18" charset="0"/>
                <a:cs typeface="Times New Roman" pitchFamily="18" charset="0"/>
              </a:rPr>
              <a:t>(</a:t>
            </a:r>
            <a:r>
              <a:rPr lang="en-US" sz="2600" i="1" dirty="0" err="1">
                <a:latin typeface="Times New Roman" pitchFamily="18" charset="0"/>
                <a:cs typeface="Times New Roman" pitchFamily="18" charset="0"/>
              </a:rPr>
              <a:t>tức</a:t>
            </a:r>
            <a:r>
              <a:rPr lang="en-US" sz="2600" i="1" dirty="0">
                <a:latin typeface="Times New Roman" pitchFamily="18" charset="0"/>
                <a:cs typeface="Times New Roman" pitchFamily="18" charset="0"/>
              </a:rPr>
              <a:t> </a:t>
            </a:r>
            <a:r>
              <a:rPr lang="en-US" sz="2600" i="1" dirty="0" err="1">
                <a:latin typeface="Times New Roman" pitchFamily="18" charset="0"/>
                <a:cs typeface="Times New Roman" pitchFamily="18" charset="0"/>
              </a:rPr>
              <a:t>là</a:t>
            </a:r>
            <a:r>
              <a:rPr lang="en-US" sz="2600" i="1" dirty="0">
                <a:latin typeface="Times New Roman" pitchFamily="18" charset="0"/>
                <a:cs typeface="Times New Roman" pitchFamily="18" charset="0"/>
              </a:rPr>
              <a:t> </a:t>
            </a:r>
            <a:r>
              <a:rPr lang="en-US" sz="2600" i="1" dirty="0" err="1">
                <a:latin typeface="Times New Roman" pitchFamily="18" charset="0"/>
                <a:cs typeface="Times New Roman" pitchFamily="18" charset="0"/>
              </a:rPr>
              <a:t>phía</a:t>
            </a:r>
            <a:r>
              <a:rPr lang="en-US" sz="2600" i="1" dirty="0">
                <a:latin typeface="Times New Roman" pitchFamily="18" charset="0"/>
                <a:cs typeface="Times New Roman" pitchFamily="18" charset="0"/>
              </a:rPr>
              <a:t> </a:t>
            </a:r>
            <a:r>
              <a:rPr lang="en-US" sz="2600" i="1" dirty="0" err="1">
                <a:latin typeface="Times New Roman" pitchFamily="18" charset="0"/>
                <a:cs typeface="Times New Roman" pitchFamily="18" charset="0"/>
              </a:rPr>
              <a:t>cung</a:t>
            </a:r>
            <a:r>
              <a:rPr lang="en-US" sz="2600" i="1" dirty="0">
                <a:latin typeface="Times New Roman" pitchFamily="18" charset="0"/>
                <a:cs typeface="Times New Roman" pitchFamily="18" charset="0"/>
              </a:rPr>
              <a:t>) </a:t>
            </a:r>
            <a:r>
              <a:rPr lang="vi-VN" sz="2600" i="1" dirty="0">
                <a:latin typeface="Times New Roman" pitchFamily="18" charset="0"/>
                <a:cs typeface="Times New Roman" pitchFamily="18" charset="0"/>
              </a:rPr>
              <a:t>không được tích hợp tốt với cầu gây lãng phí trên diện rộng</a:t>
            </a:r>
            <a:r>
              <a:rPr lang="vi-VN" sz="2600" dirty="0" smtClean="0">
                <a:latin typeface="Times New Roman" pitchFamily="18" charset="0"/>
                <a:cs typeface="Times New Roman" pitchFamily="18" charset="0"/>
              </a:rPr>
              <a:t>.</a:t>
            </a:r>
            <a:endParaRPr lang="en-US" sz="2600" dirty="0" smtClean="0">
              <a:latin typeface="Times New Roman" pitchFamily="18" charset="0"/>
              <a:cs typeface="Times New Roman" pitchFamily="18" charset="0"/>
            </a:endParaRPr>
          </a:p>
          <a:p>
            <a:pPr marL="0" indent="0">
              <a:buNone/>
            </a:pPr>
            <a:endParaRPr lang="en-US" sz="2600" dirty="0" smtClean="0">
              <a:latin typeface="Times New Roman" pitchFamily="18" charset="0"/>
              <a:cs typeface="Times New Roman" pitchFamily="18" charset="0"/>
            </a:endParaRPr>
          </a:p>
          <a:p>
            <a:pPr marL="0" indent="0">
              <a:buNone/>
            </a:pPr>
            <a:r>
              <a:rPr lang="vi-VN" sz="2600" dirty="0" smtClean="0">
                <a:latin typeface="Times New Roman" pitchFamily="18" charset="0"/>
                <a:cs typeface="Times New Roman" pitchFamily="18" charset="0"/>
              </a:rPr>
              <a:t>Một </a:t>
            </a:r>
            <a:r>
              <a:rPr lang="vi-VN" sz="2600" dirty="0">
                <a:latin typeface="Times New Roman" pitchFamily="18" charset="0"/>
                <a:cs typeface="Times New Roman" pitchFamily="18" charset="0"/>
              </a:rPr>
              <a:t>nền kinh tế nghèo như Việt Nam, nguồn lực rất có hạn, lại không biết lựa chọn thứ tự ưu tiên cho đầu tư, do ảnh hưởng của tư duy </a:t>
            </a:r>
            <a:r>
              <a:rPr lang="vi-VN" sz="2600" i="1" dirty="0">
                <a:latin typeface="Times New Roman" pitchFamily="18" charset="0"/>
                <a:cs typeface="Times New Roman" pitchFamily="18" charset="0"/>
              </a:rPr>
              <a:t>tiến nhanh, </a:t>
            </a:r>
            <a:r>
              <a:rPr lang="en-US" sz="2600" i="1" dirty="0" err="1">
                <a:latin typeface="Times New Roman" pitchFamily="18" charset="0"/>
                <a:cs typeface="Times New Roman" pitchFamily="18" charset="0"/>
              </a:rPr>
              <a:t>tiến</a:t>
            </a:r>
            <a:r>
              <a:rPr lang="en-US" sz="2600" i="1" dirty="0">
                <a:latin typeface="Times New Roman" pitchFamily="18" charset="0"/>
                <a:cs typeface="Times New Roman" pitchFamily="18" charset="0"/>
              </a:rPr>
              <a:t> </a:t>
            </a:r>
            <a:r>
              <a:rPr lang="en-US" sz="2600" i="1" dirty="0" err="1">
                <a:latin typeface="Times New Roman" pitchFamily="18" charset="0"/>
                <a:cs typeface="Times New Roman" pitchFamily="18" charset="0"/>
              </a:rPr>
              <a:t>mạnh</a:t>
            </a:r>
            <a:r>
              <a:rPr lang="en-US" sz="2600" i="1" dirty="0">
                <a:latin typeface="Times New Roman" pitchFamily="18" charset="0"/>
                <a:cs typeface="Times New Roman" pitchFamily="18" charset="0"/>
              </a:rPr>
              <a:t>, </a:t>
            </a:r>
            <a:r>
              <a:rPr lang="vi-VN" sz="2600" i="1" dirty="0">
                <a:latin typeface="Times New Roman" pitchFamily="18" charset="0"/>
                <a:cs typeface="Times New Roman" pitchFamily="18" charset="0"/>
              </a:rPr>
              <a:t>tiến vững chắc</a:t>
            </a:r>
            <a:r>
              <a:rPr lang="vi-VN" sz="2600" dirty="0">
                <a:latin typeface="Times New Roman" pitchFamily="18" charset="0"/>
                <a:cs typeface="Times New Roman" pitchFamily="18" charset="0"/>
              </a:rPr>
              <a:t> bằng mọi giá trên nền tảng của cơ chế xin – cho, ban – phát và cào bằng thời chiến tranh giữ nước và sau cùng là tâm lý nhiệm kỳ và nhiệm kỳ cuối, đi song hành với lợi ích nhóm để lại hệ quả nghiêm </a:t>
            </a:r>
            <a:r>
              <a:rPr lang="vi-VN" sz="2600" dirty="0" smtClean="0">
                <a:latin typeface="Times New Roman" pitchFamily="18" charset="0"/>
                <a:cs typeface="Times New Roman" pitchFamily="18" charset="0"/>
              </a:rPr>
              <a:t>trọng</a:t>
            </a:r>
            <a:r>
              <a:rPr lang="en-US" sz="2600" dirty="0">
                <a:latin typeface="Times New Roman" pitchFamily="18" charset="0"/>
                <a:cs typeface="Times New Roman" pitchFamily="18" charset="0"/>
              </a:rPr>
              <a:t>.</a:t>
            </a:r>
            <a:endParaRPr lang="en-US" sz="2600" dirty="0" smtClean="0">
              <a:latin typeface="Times New Roman" pitchFamily="18" charset="0"/>
              <a:cs typeface="Times New Roman" pitchFamily="18" charset="0"/>
            </a:endParaRPr>
          </a:p>
          <a:p>
            <a:pPr marL="0" indent="0">
              <a:buNone/>
            </a:pPr>
            <a:endParaRPr lang="en-US" sz="2600" dirty="0">
              <a:latin typeface="Times New Roman" pitchFamily="18" charset="0"/>
              <a:cs typeface="Times New Roman" pitchFamily="18" charset="0"/>
            </a:endParaRPr>
          </a:p>
          <a:p>
            <a:pPr marL="0" indent="0">
              <a:buNone/>
            </a:pPr>
            <a:endParaRPr lang="en-US" sz="2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11</a:t>
            </a:fld>
            <a:endParaRPr lang="en-US"/>
          </a:p>
        </p:txBody>
      </p:sp>
    </p:spTree>
    <p:extLst>
      <p:ext uri="{BB962C8B-B14F-4D97-AF65-F5344CB8AC3E}">
        <p14:creationId xmlns:p14="http://schemas.microsoft.com/office/powerpoint/2010/main" val="452005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i="1" dirty="0" smtClean="0">
                <a:solidFill>
                  <a:srgbClr val="002060"/>
                </a:solidFill>
                <a:latin typeface="Times New Roman" pitchFamily="18" charset="0"/>
                <a:cs typeface="Times New Roman" pitchFamily="18" charset="0"/>
              </a:rPr>
              <a:t>7.1 </a:t>
            </a:r>
            <a:r>
              <a:rPr lang="vi-VN" sz="3600" b="1" i="1" dirty="0" smtClean="0">
                <a:solidFill>
                  <a:srgbClr val="002060"/>
                </a:solidFill>
                <a:latin typeface="Times New Roman" pitchFamily="18" charset="0"/>
                <a:cs typeface="Times New Roman" pitchFamily="18" charset="0"/>
              </a:rPr>
              <a:t>Vấn đề can thiệp của chính phủ </a:t>
            </a:r>
            <a:endParaRPr lang="en-US" sz="3600" dirty="0">
              <a:solidFill>
                <a:srgbClr val="00206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73424787"/>
              </p:ext>
            </p:extLst>
          </p:nvPr>
        </p:nvGraphicFramePr>
        <p:xfrm>
          <a:off x="228600" y="1417638"/>
          <a:ext cx="8458200" cy="5015484"/>
        </p:xfrm>
        <a:graphic>
          <a:graphicData uri="http://schemas.openxmlformats.org/drawingml/2006/table">
            <a:tbl>
              <a:tblPr firstRow="1" firstCol="1" bandRow="1">
                <a:tableStyleId>{5C22544A-7EE6-4342-B048-85BDC9FD1C3A}</a:tableStyleId>
              </a:tblPr>
              <a:tblGrid>
                <a:gridCol w="8458200">
                  <a:extLst>
                    <a:ext uri="{9D8B030D-6E8A-4147-A177-3AD203B41FA5}">
                      <a16:colId xmlns:a16="http://schemas.microsoft.com/office/drawing/2014/main" val="20000"/>
                    </a:ext>
                  </a:extLst>
                </a:gridCol>
              </a:tblGrid>
              <a:tr h="5015484">
                <a:tc>
                  <a:txBody>
                    <a:bodyPr/>
                    <a:lstStyle/>
                    <a:p>
                      <a:pPr marL="6350" indent="0" algn="just">
                        <a:lnSpc>
                          <a:spcPct val="115000"/>
                        </a:lnSpc>
                        <a:spcAft>
                          <a:spcPts val="1000"/>
                        </a:spcAft>
                      </a:pPr>
                      <a:r>
                        <a:rPr lang="vi-VN" sz="2400" b="0" dirty="0">
                          <a:solidFill>
                            <a:schemeClr val="tx1"/>
                          </a:solidFill>
                          <a:effectLst/>
                          <a:latin typeface="Times New Roman" pitchFamily="18" charset="0"/>
                          <a:cs typeface="Times New Roman" pitchFamily="18" charset="0"/>
                        </a:rPr>
                        <a:t>Phó thủ tướng chính phủ </a:t>
                      </a:r>
                      <a:r>
                        <a:rPr lang="vi-VN" sz="2400" b="0" dirty="0" smtClean="0">
                          <a:solidFill>
                            <a:schemeClr val="tx1"/>
                          </a:solidFill>
                          <a:effectLst/>
                          <a:latin typeface="Times New Roman" pitchFamily="18" charset="0"/>
                          <a:cs typeface="Times New Roman" pitchFamily="18" charset="0"/>
                        </a:rPr>
                        <a:t>Vũ </a:t>
                      </a:r>
                      <a:r>
                        <a:rPr lang="vi-VN" sz="2400" b="0" dirty="0">
                          <a:solidFill>
                            <a:schemeClr val="tx1"/>
                          </a:solidFill>
                          <a:effectLst/>
                          <a:latin typeface="Times New Roman" pitchFamily="18" charset="0"/>
                          <a:cs typeface="Times New Roman" pitchFamily="18" charset="0"/>
                        </a:rPr>
                        <a:t>Khoan </a:t>
                      </a:r>
                      <a:r>
                        <a:rPr lang="en-US" sz="2400" b="0" dirty="0" err="1" smtClean="0">
                          <a:solidFill>
                            <a:schemeClr val="tx1"/>
                          </a:solidFill>
                          <a:effectLst/>
                          <a:latin typeface="Times New Roman" pitchFamily="18" charset="0"/>
                          <a:cs typeface="Times New Roman" pitchFamily="18" charset="0"/>
                        </a:rPr>
                        <a:t>tự</a:t>
                      </a:r>
                      <a:r>
                        <a:rPr lang="en-US" sz="2400" b="0" baseline="0" dirty="0" smtClean="0">
                          <a:solidFill>
                            <a:schemeClr val="tx1"/>
                          </a:solidFill>
                          <a:effectLst/>
                          <a:latin typeface="Times New Roman" pitchFamily="18" charset="0"/>
                          <a:cs typeface="Times New Roman" pitchFamily="18" charset="0"/>
                        </a:rPr>
                        <a:t> </a:t>
                      </a:r>
                      <a:r>
                        <a:rPr lang="vi-VN" sz="2400" b="0" dirty="0" smtClean="0">
                          <a:solidFill>
                            <a:schemeClr val="tx1"/>
                          </a:solidFill>
                          <a:effectLst/>
                          <a:latin typeface="Times New Roman" pitchFamily="18" charset="0"/>
                          <a:cs typeface="Times New Roman" pitchFamily="18" charset="0"/>
                        </a:rPr>
                        <a:t>cho </a:t>
                      </a:r>
                      <a:r>
                        <a:rPr lang="vi-VN" sz="2400" b="0" dirty="0">
                          <a:solidFill>
                            <a:schemeClr val="tx1"/>
                          </a:solidFill>
                          <a:effectLst/>
                          <a:latin typeface="Times New Roman" pitchFamily="18" charset="0"/>
                          <a:cs typeface="Times New Roman" pitchFamily="18" charset="0"/>
                        </a:rPr>
                        <a:t>mình “không phải là người đứng ngoài cuộc” mà là một “tội đồ” của lịch sử: </a:t>
                      </a:r>
                      <a:endParaRPr lang="en-US" sz="2400" b="0" dirty="0">
                        <a:solidFill>
                          <a:schemeClr val="tx1"/>
                        </a:solidFill>
                        <a:effectLst/>
                        <a:latin typeface="Times New Roman" pitchFamily="18" charset="0"/>
                        <a:cs typeface="Times New Roman" pitchFamily="18" charset="0"/>
                      </a:endParaRPr>
                    </a:p>
                    <a:p>
                      <a:pPr marL="457200" algn="just">
                        <a:lnSpc>
                          <a:spcPct val="115000"/>
                        </a:lnSpc>
                        <a:spcAft>
                          <a:spcPts val="1000"/>
                        </a:spcAft>
                      </a:pPr>
                      <a:r>
                        <a:rPr lang="en-US" sz="2400" dirty="0">
                          <a:solidFill>
                            <a:schemeClr val="tx1"/>
                          </a:solidFill>
                          <a:effectLst/>
                          <a:latin typeface="Times New Roman" pitchFamily="18" charset="0"/>
                          <a:cs typeface="Times New Roman" pitchFamily="18" charset="0"/>
                        </a:rPr>
                        <a:t> </a:t>
                      </a:r>
                    </a:p>
                    <a:p>
                      <a:pPr marL="225425" indent="0" algn="just">
                        <a:lnSpc>
                          <a:spcPct val="115000"/>
                        </a:lnSpc>
                        <a:spcAft>
                          <a:spcPts val="1000"/>
                        </a:spcAft>
                      </a:pPr>
                      <a:r>
                        <a:rPr lang="vi-VN" sz="2400" i="1" dirty="0">
                          <a:solidFill>
                            <a:srgbClr val="0070C0"/>
                          </a:solidFill>
                          <a:effectLst/>
                          <a:latin typeface="Times New Roman" pitchFamily="18" charset="0"/>
                          <a:cs typeface="Times New Roman" pitchFamily="18" charset="0"/>
                        </a:rPr>
                        <a:t>‘Những công trình không đem lại hiệu quả kinh tế sẽ làm cho nguồn lực quốc gia suy kiệt ảnh hưởng tiêu cực tới sự phát triển của cả nước nói chung, đó là chưa kể đến tác hại về môi trường và lòng tin của người dân</a:t>
                      </a:r>
                      <a:r>
                        <a:rPr lang="vi-VN" sz="2400" i="1" dirty="0" smtClean="0">
                          <a:solidFill>
                            <a:srgbClr val="0070C0"/>
                          </a:solidFill>
                          <a:effectLst/>
                          <a:latin typeface="Times New Roman" pitchFamily="18" charset="0"/>
                          <a:cs typeface="Times New Roman" pitchFamily="18" charset="0"/>
                        </a:rPr>
                        <a:t>’</a:t>
                      </a:r>
                      <a:endParaRPr lang="en-US" sz="2400" i="1" dirty="0" smtClean="0">
                        <a:solidFill>
                          <a:srgbClr val="0070C0"/>
                        </a:solidFill>
                        <a:effectLst/>
                        <a:latin typeface="Times New Roman" pitchFamily="18" charset="0"/>
                        <a:cs typeface="Times New Roman" pitchFamily="18" charset="0"/>
                      </a:endParaRPr>
                    </a:p>
                    <a:p>
                      <a:pPr marL="457200" algn="just">
                        <a:lnSpc>
                          <a:spcPct val="115000"/>
                        </a:lnSpc>
                        <a:spcAft>
                          <a:spcPts val="1000"/>
                        </a:spcAft>
                      </a:pPr>
                      <a:endParaRPr lang="en-US" sz="2400" dirty="0">
                        <a:solidFill>
                          <a:schemeClr val="tx1"/>
                        </a:solidFill>
                        <a:effectLst/>
                        <a:latin typeface="Times New Roman" pitchFamily="18" charset="0"/>
                        <a:cs typeface="Times New Roman" pitchFamily="18" charset="0"/>
                      </a:endParaRPr>
                    </a:p>
                    <a:p>
                      <a:pPr algn="just">
                        <a:lnSpc>
                          <a:spcPct val="115000"/>
                        </a:lnSpc>
                        <a:spcAft>
                          <a:spcPts val="0"/>
                        </a:spcAft>
                        <a:tabLst>
                          <a:tab pos="463550" algn="l"/>
                          <a:tab pos="573088" algn="l"/>
                        </a:tabLst>
                      </a:pPr>
                      <a:r>
                        <a:rPr lang="en-US" sz="2400" dirty="0" smtClean="0">
                          <a:solidFill>
                            <a:schemeClr val="tx1"/>
                          </a:solidFill>
                          <a:effectLst/>
                          <a:latin typeface="Times New Roman" pitchFamily="18" charset="0"/>
                          <a:cs typeface="Times New Roman" pitchFamily="18" charset="0"/>
                        </a:rPr>
                        <a:t> </a:t>
                      </a:r>
                      <a:r>
                        <a:rPr lang="vi-VN" sz="2400" b="0" dirty="0" smtClean="0">
                          <a:solidFill>
                            <a:schemeClr val="tx1"/>
                          </a:solidFill>
                          <a:effectLst/>
                          <a:latin typeface="Times New Roman" pitchFamily="18" charset="0"/>
                          <a:cs typeface="Times New Roman" pitchFamily="18" charset="0"/>
                        </a:rPr>
                        <a:t>Trích </a:t>
                      </a:r>
                      <a:r>
                        <a:rPr lang="vi-VN" sz="2400" b="0" dirty="0">
                          <a:solidFill>
                            <a:schemeClr val="tx1"/>
                          </a:solidFill>
                          <a:effectLst/>
                          <a:latin typeface="Times New Roman" pitchFamily="18" charset="0"/>
                          <a:cs typeface="Times New Roman" pitchFamily="18" charset="0"/>
                        </a:rPr>
                        <a:t>bài báo cáo </a:t>
                      </a:r>
                      <a:r>
                        <a:rPr lang="en-US" sz="2400" b="0" dirty="0" smtClean="0">
                          <a:solidFill>
                            <a:schemeClr val="tx1"/>
                          </a:solidFill>
                          <a:effectLst/>
                          <a:latin typeface="Times New Roman" pitchFamily="18" charset="0"/>
                          <a:cs typeface="Times New Roman" pitchFamily="18" charset="0"/>
                        </a:rPr>
                        <a:t>“</a:t>
                      </a:r>
                      <a:r>
                        <a:rPr lang="vi-VN" sz="2400" b="0" dirty="0" smtClean="0">
                          <a:solidFill>
                            <a:schemeClr val="tx1"/>
                          </a:solidFill>
                          <a:effectLst/>
                          <a:latin typeface="Times New Roman" pitchFamily="18" charset="0"/>
                          <a:cs typeface="Times New Roman" pitchFamily="18" charset="0"/>
                        </a:rPr>
                        <a:t>Bàn </a:t>
                      </a:r>
                      <a:r>
                        <a:rPr lang="vi-VN" sz="2400" b="0" dirty="0">
                          <a:solidFill>
                            <a:schemeClr val="tx1"/>
                          </a:solidFill>
                          <a:effectLst/>
                          <a:latin typeface="Times New Roman" pitchFamily="18" charset="0"/>
                          <a:cs typeface="Times New Roman" pitchFamily="18" charset="0"/>
                        </a:rPr>
                        <a:t>về đầu tư </a:t>
                      </a:r>
                      <a:r>
                        <a:rPr lang="vi-VN" sz="2400" b="0" dirty="0" smtClean="0">
                          <a:solidFill>
                            <a:schemeClr val="tx1"/>
                          </a:solidFill>
                          <a:effectLst/>
                          <a:latin typeface="Times New Roman" pitchFamily="18" charset="0"/>
                          <a:cs typeface="Times New Roman" pitchFamily="18" charset="0"/>
                        </a:rPr>
                        <a:t>công</a:t>
                      </a:r>
                      <a:r>
                        <a:rPr lang="en-US" sz="2400" b="0" dirty="0" smtClean="0">
                          <a:solidFill>
                            <a:schemeClr val="tx1"/>
                          </a:solidFill>
                          <a:effectLst/>
                          <a:latin typeface="Times New Roman" pitchFamily="18" charset="0"/>
                          <a:cs typeface="Times New Roman" pitchFamily="18" charset="0"/>
                        </a:rPr>
                        <a:t>”</a:t>
                      </a:r>
                      <a:r>
                        <a:rPr lang="vi-VN" sz="2400" b="0" dirty="0" smtClean="0">
                          <a:solidFill>
                            <a:schemeClr val="tx1"/>
                          </a:solidFill>
                          <a:effectLst/>
                          <a:latin typeface="Times New Roman" pitchFamily="18" charset="0"/>
                          <a:cs typeface="Times New Roman" pitchFamily="18" charset="0"/>
                        </a:rPr>
                        <a:t> </a:t>
                      </a:r>
                      <a:r>
                        <a:rPr lang="vi-VN" sz="2400" b="0" dirty="0">
                          <a:solidFill>
                            <a:schemeClr val="tx1"/>
                          </a:solidFill>
                          <a:effectLst/>
                          <a:latin typeface="Times New Roman" pitchFamily="18" charset="0"/>
                          <a:cs typeface="Times New Roman" pitchFamily="18" charset="0"/>
                        </a:rPr>
                        <a:t>của Vũ Khoan (2013).   </a:t>
                      </a:r>
                      <a:endParaRPr lang="en-US" sz="2400" b="0" dirty="0">
                        <a:solidFill>
                          <a:schemeClr val="tx1"/>
                        </a:solidFill>
                        <a:effectLst/>
                        <a:latin typeface="Times New Roman" pitchFamily="18" charset="0"/>
                        <a:cs typeface="Times New Roman" pitchFamily="18" charset="0"/>
                      </a:endParaRPr>
                    </a:p>
                    <a:p>
                      <a:pPr marL="457200" algn="just">
                        <a:lnSpc>
                          <a:spcPct val="115000"/>
                        </a:lnSpc>
                        <a:spcAft>
                          <a:spcPts val="0"/>
                        </a:spcAft>
                      </a:pPr>
                      <a:r>
                        <a:rPr lang="vi-VN" sz="2400" dirty="0">
                          <a:solidFill>
                            <a:schemeClr val="tx1"/>
                          </a:solidFill>
                          <a:effectLst/>
                          <a:latin typeface="Times New Roman" pitchFamily="18" charset="0"/>
                          <a:cs typeface="Times New Roman" pitchFamily="18" charset="0"/>
                        </a:rPr>
                        <a:t> </a:t>
                      </a:r>
                      <a:endParaRPr lang="en-US" sz="2400" dirty="0">
                        <a:solidFill>
                          <a:schemeClr val="tx1"/>
                        </a:solidFill>
                        <a:effectLst/>
                        <a:latin typeface="Times New Roman" pitchFamily="18" charset="0"/>
                        <a:ea typeface="Calibri"/>
                        <a:cs typeface="Times New Roman" pitchFamily="18" charset="0"/>
                      </a:endParaRPr>
                    </a:p>
                  </a:txBody>
                  <a:tcPr marL="68580" marR="68580" marT="0" marB="0">
                    <a:noFill/>
                  </a:tcPr>
                </a:tc>
                <a:extLst>
                  <a:ext uri="{0D108BD9-81ED-4DB2-BD59-A6C34878D82A}">
                    <a16:rowId xmlns:a16="http://schemas.microsoft.com/office/drawing/2014/main" val="10000"/>
                  </a:ext>
                </a:extLst>
              </a:tr>
            </a:tbl>
          </a:graphicData>
        </a:graphic>
      </p:graphicFrame>
      <p:sp>
        <p:nvSpPr>
          <p:cNvPr id="3" name="Date Placeholder 2"/>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12</a:t>
            </a:fld>
            <a:endParaRPr lang="en-US"/>
          </a:p>
        </p:txBody>
      </p:sp>
    </p:spTree>
    <p:extLst>
      <p:ext uri="{BB962C8B-B14F-4D97-AF65-F5344CB8AC3E}">
        <p14:creationId xmlns:p14="http://schemas.microsoft.com/office/powerpoint/2010/main" val="30532778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600" b="1" i="1" dirty="0" smtClean="0">
                <a:solidFill>
                  <a:srgbClr val="002060"/>
                </a:solidFill>
                <a:latin typeface="Times New Roman" pitchFamily="18" charset="0"/>
                <a:cs typeface="Times New Roman" pitchFamily="18" charset="0"/>
              </a:rPr>
              <a:t>7.2 </a:t>
            </a:r>
            <a:r>
              <a:rPr lang="vi-VN" sz="3600" b="1" i="1" dirty="0" smtClean="0">
                <a:solidFill>
                  <a:srgbClr val="002060"/>
                </a:solidFill>
                <a:latin typeface="Times New Roman" pitchFamily="18" charset="0"/>
                <a:cs typeface="Times New Roman" pitchFamily="18" charset="0"/>
              </a:rPr>
              <a:t>Vấn đề năng suất lao động trong nông nghiệp Việt Nam </a:t>
            </a:r>
            <a:endParaRPr lang="en-US" sz="3600"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676401"/>
            <a:ext cx="8382000" cy="4724400"/>
          </a:xfrm>
        </p:spPr>
        <p:txBody>
          <a:bodyPr>
            <a:normAutofit fontScale="92500" lnSpcReduction="10000"/>
          </a:bodyPr>
          <a:lstStyle/>
          <a:p>
            <a:pPr marL="0" indent="0">
              <a:buNone/>
            </a:pPr>
            <a:r>
              <a:rPr lang="vi-VN" dirty="0">
                <a:latin typeface="Times New Roman" pitchFamily="18" charset="0"/>
                <a:cs typeface="Times New Roman" pitchFamily="18" charset="0"/>
              </a:rPr>
              <a:t>Năng suất lao động trong nông nghiệp (được đo lường xấp xỉ bằng giá trị do mỗi một lao động trong nông nghiệp làm ra) thấp nhất trong nền kinh </a:t>
            </a:r>
            <a:r>
              <a:rPr lang="vi-VN" dirty="0" smtClean="0">
                <a:latin typeface="Times New Roman" pitchFamily="18" charset="0"/>
                <a:cs typeface="Times New Roman" pitchFamily="18" charset="0"/>
              </a:rPr>
              <a:t>tế</a:t>
            </a:r>
            <a:endParaRPr lang="en-US" dirty="0" smtClean="0">
              <a:latin typeface="Times New Roman" pitchFamily="18" charset="0"/>
              <a:cs typeface="Times New Roman" pitchFamily="18" charset="0"/>
            </a:endParaRPr>
          </a:p>
          <a:p>
            <a:pPr marL="0" indent="0">
              <a:buNone/>
            </a:pPr>
            <a:endParaRPr lang="en-US" dirty="0" smtClean="0">
              <a:latin typeface="Times New Roman" pitchFamily="18" charset="0"/>
              <a:cs typeface="Times New Roman" pitchFamily="18" charset="0"/>
            </a:endParaRPr>
          </a:p>
          <a:p>
            <a:pPr marL="0" indent="0">
              <a:buNone/>
            </a:pPr>
            <a:r>
              <a:rPr lang="vi-VN" b="1" dirty="0">
                <a:solidFill>
                  <a:srgbClr val="002060"/>
                </a:solidFill>
                <a:latin typeface="Times New Roman" pitchFamily="18" charset="0"/>
                <a:cs typeface="Times New Roman" pitchFamily="18" charset="0"/>
              </a:rPr>
              <a:t>Nguyên </a:t>
            </a:r>
            <a:r>
              <a:rPr lang="vi-VN" b="1" dirty="0" smtClean="0">
                <a:solidFill>
                  <a:srgbClr val="002060"/>
                </a:solidFill>
                <a:latin typeface="Times New Roman" pitchFamily="18" charset="0"/>
                <a:cs typeface="Times New Roman" pitchFamily="18" charset="0"/>
              </a:rPr>
              <a:t>nhân</a:t>
            </a:r>
            <a:r>
              <a:rPr lang="en-US" b="1" dirty="0" smtClean="0">
                <a:solidFill>
                  <a:srgbClr val="002060"/>
                </a:solidFill>
                <a:latin typeface="Times New Roman" pitchFamily="18" charset="0"/>
                <a:cs typeface="Times New Roman" pitchFamily="18" charset="0"/>
              </a:rPr>
              <a:t>:</a:t>
            </a:r>
          </a:p>
          <a:p>
            <a:pPr marL="398463" indent="-398463">
              <a:buFont typeface="+mj-lt"/>
              <a:buAutoNum type="arabicPeriod"/>
            </a:pPr>
            <a:r>
              <a:rPr lang="vi-VN" dirty="0">
                <a:latin typeface="Times New Roman" pitchFamily="18" charset="0"/>
                <a:cs typeface="Times New Roman" pitchFamily="18" charset="0"/>
              </a:rPr>
              <a:t>Chính sách hạn điền dưới năm hecta, xé lẻ đất đai, phân tán, manh mún ruộng đất, giao thông cắt </a:t>
            </a:r>
            <a:r>
              <a:rPr lang="vi-VN" dirty="0" smtClean="0">
                <a:latin typeface="Times New Roman" pitchFamily="18" charset="0"/>
                <a:cs typeface="Times New Roman" pitchFamily="18" charset="0"/>
              </a:rPr>
              <a:t>trở</a:t>
            </a:r>
            <a:r>
              <a:rPr lang="en-US" dirty="0" smtClean="0">
                <a:latin typeface="Times New Roman" pitchFamily="18" charset="0"/>
                <a:cs typeface="Times New Roman" pitchFamily="18" charset="0"/>
              </a:rPr>
              <a:t>;</a:t>
            </a:r>
          </a:p>
          <a:p>
            <a:pPr marL="398463" indent="-398463">
              <a:buFont typeface="+mj-lt"/>
              <a:buAutoNum type="arabicPeriod"/>
            </a:pPr>
            <a:r>
              <a:rPr lang="vi-VN" dirty="0">
                <a:latin typeface="Times New Roman" pitchFamily="18" charset="0"/>
                <a:cs typeface="Times New Roman" pitchFamily="18" charset="0"/>
              </a:rPr>
              <a:t>Không có cơ chế hợp đồng giao sau, hợp đồng kỳ hạn cho nên người nông dân gánh hết rủi </a:t>
            </a:r>
            <a:r>
              <a:rPr lang="vi-VN" dirty="0" smtClean="0">
                <a:latin typeface="Times New Roman" pitchFamily="18" charset="0"/>
                <a:cs typeface="Times New Roman" pitchFamily="18" charset="0"/>
              </a:rPr>
              <a:t>ro</a:t>
            </a:r>
            <a:r>
              <a:rPr lang="en-US" dirty="0" smtClean="0">
                <a:latin typeface="Times New Roman" pitchFamily="18" charset="0"/>
                <a:cs typeface="Times New Roman" pitchFamily="18" charset="0"/>
              </a:rPr>
              <a:t>;</a:t>
            </a:r>
          </a:p>
          <a:p>
            <a:pPr marL="398463" indent="-398463">
              <a:buFont typeface="+mj-lt"/>
              <a:buAutoNum type="arabicPeriod"/>
            </a:pPr>
            <a:r>
              <a:rPr lang="vi-VN" dirty="0">
                <a:latin typeface="Times New Roman" pitchFamily="18" charset="0"/>
                <a:cs typeface="Times New Roman" pitchFamily="18" charset="0"/>
              </a:rPr>
              <a:t>Không có được các thương hiệu </a:t>
            </a:r>
            <a:r>
              <a:rPr lang="vi-VN" dirty="0" smtClean="0">
                <a:latin typeface="Times New Roman" pitchFamily="18" charset="0"/>
                <a:cs typeface="Times New Roman" pitchFamily="18" charset="0"/>
              </a:rPr>
              <a:t>mạnh</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13</a:t>
            </a:fld>
            <a:endParaRPr lang="en-US"/>
          </a:p>
        </p:txBody>
      </p:sp>
    </p:spTree>
    <p:extLst>
      <p:ext uri="{BB962C8B-B14F-4D97-AF65-F5344CB8AC3E}">
        <p14:creationId xmlns:p14="http://schemas.microsoft.com/office/powerpoint/2010/main" val="40032046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76200"/>
            <a:ext cx="8495731" cy="990600"/>
          </a:xfrm>
        </p:spPr>
        <p:txBody>
          <a:bodyPr>
            <a:normAutofit/>
          </a:bodyPr>
          <a:lstStyle/>
          <a:p>
            <a:pPr algn="l"/>
            <a:r>
              <a:rPr lang="en-US" sz="3600" b="1" i="1" dirty="0" smtClean="0">
                <a:latin typeface="Times New Roman" pitchFamily="18" charset="0"/>
                <a:cs typeface="Times New Roman" pitchFamily="18" charset="0"/>
              </a:rPr>
              <a:t>7.3. </a:t>
            </a:r>
            <a:r>
              <a:rPr lang="vi-VN" sz="3600" b="1" i="1" dirty="0">
                <a:latin typeface="Times New Roman" pitchFamily="18" charset="0"/>
                <a:cs typeface="Times New Roman" pitchFamily="18" charset="0"/>
              </a:rPr>
              <a:t>Vấn đề giao </a:t>
            </a:r>
            <a:r>
              <a:rPr lang="vi-VN" sz="3600" b="1" i="1" dirty="0" smtClean="0">
                <a:latin typeface="Times New Roman" pitchFamily="18" charset="0"/>
                <a:cs typeface="Times New Roman" pitchFamily="18" charset="0"/>
              </a:rPr>
              <a:t>thông </a:t>
            </a:r>
            <a:endParaRPr lang="en-US" sz="3600" b="1" i="1" dirty="0">
              <a:latin typeface="Times New Roman" pitchFamily="18" charset="0"/>
              <a:cs typeface="Times New Roman" pitchFamily="18" charset="0"/>
            </a:endParaRPr>
          </a:p>
        </p:txBody>
      </p:sp>
      <p:pic>
        <p:nvPicPr>
          <p:cNvPr id="4" name="Content Placeholder 3" descr="BD VN013"/>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057400" y="1371600"/>
            <a:ext cx="4419600" cy="5257800"/>
          </a:xfrm>
          <a:prstGeom prst="rect">
            <a:avLst/>
          </a:prstGeom>
          <a:noFill/>
          <a:ln>
            <a:noFill/>
          </a:ln>
          <a:extLst/>
        </p:spPr>
      </p:pic>
      <p:sp>
        <p:nvSpPr>
          <p:cNvPr id="3" name="Date Placeholder 2"/>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14</a:t>
            </a:fld>
            <a:endParaRPr lang="en-US"/>
          </a:p>
        </p:txBody>
      </p:sp>
    </p:spTree>
    <p:extLst>
      <p:ext uri="{BB962C8B-B14F-4D97-AF65-F5344CB8AC3E}">
        <p14:creationId xmlns:p14="http://schemas.microsoft.com/office/powerpoint/2010/main" val="11908574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76200"/>
            <a:ext cx="8495731" cy="990600"/>
          </a:xfrm>
        </p:spPr>
        <p:txBody>
          <a:bodyPr>
            <a:normAutofit/>
          </a:bodyPr>
          <a:lstStyle/>
          <a:p>
            <a:pPr algn="l"/>
            <a:r>
              <a:rPr lang="en-US" sz="3600" b="1" i="1" dirty="0" smtClean="0">
                <a:latin typeface="Times New Roman" pitchFamily="18" charset="0"/>
                <a:cs typeface="Times New Roman" pitchFamily="18" charset="0"/>
              </a:rPr>
              <a:t>7.3. </a:t>
            </a:r>
            <a:r>
              <a:rPr lang="vi-VN" sz="3600" b="1" i="1" dirty="0">
                <a:latin typeface="Times New Roman" pitchFamily="18" charset="0"/>
                <a:cs typeface="Times New Roman" pitchFamily="18" charset="0"/>
              </a:rPr>
              <a:t>Vấn đề giao thông ở Việt Nam </a:t>
            </a:r>
            <a:endParaRPr lang="en-US" sz="3600" b="1" i="1" dirty="0">
              <a:latin typeface="Times New Roman" pitchFamily="18" charset="0"/>
              <a:cs typeface="Times New Roman" pitchFamily="18" charset="0"/>
            </a:endParaRPr>
          </a:p>
        </p:txBody>
      </p:sp>
      <p:sp>
        <p:nvSpPr>
          <p:cNvPr id="5" name="Rectangle 4"/>
          <p:cNvSpPr/>
          <p:nvPr/>
        </p:nvSpPr>
        <p:spPr>
          <a:xfrm>
            <a:off x="403780" y="1193734"/>
            <a:ext cx="8534401" cy="5262979"/>
          </a:xfrm>
          <a:prstGeom prst="rect">
            <a:avLst/>
          </a:prstGeom>
        </p:spPr>
        <p:txBody>
          <a:bodyPr wrap="square">
            <a:spAutoFit/>
          </a:bodyPr>
          <a:lstStyle/>
          <a:p>
            <a:pPr marL="457200" indent="-457200">
              <a:buFont typeface="Arial" panose="020B0604020202020204" pitchFamily="34" charset="0"/>
              <a:buChar char="•"/>
            </a:pP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thông</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kế</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thừa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từ</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chế</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phong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kiến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thực</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dân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các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đường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xuyên</a:t>
            </a:r>
            <a:r>
              <a:rPr lang="en-US" sz="2400" dirty="0" smtClean="0">
                <a:latin typeface="Times New Roman" pitchFamily="18" charset="0"/>
                <a:cs typeface="Times New Roman" pitchFamily="18" charset="0"/>
              </a:rPr>
              <a:t> Á. </a:t>
            </a:r>
            <a:r>
              <a:rPr lang="en-US" sz="2400" dirty="0" err="1" smtClean="0">
                <a:latin typeface="Times New Roman" pitchFamily="18" charset="0"/>
                <a:cs typeface="Times New Roman" pitchFamily="18" charset="0"/>
              </a:rPr>
              <a:t>Không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kết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hợp</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giữa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đường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bộ</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đường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thủy</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và</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đường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sự</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kết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hợp</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giữa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kinh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tế</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và</a:t>
            </a:r>
            <a:r>
              <a:rPr lang="en-US" sz="2400" dirty="0" smtClean="0">
                <a:latin typeface="Times New Roman" pitchFamily="18" charset="0"/>
                <a:cs typeface="Times New Roman" pitchFamily="18" charset="0"/>
              </a:rPr>
              <a:t> an </a:t>
            </a:r>
            <a:r>
              <a:rPr lang="en-US" sz="2400" dirty="0" err="1" smtClean="0">
                <a:latin typeface="Times New Roman" pitchFamily="18" charset="0"/>
                <a:cs typeface="Times New Roman" pitchFamily="18" charset="0"/>
              </a:rPr>
              <a:t>ninh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quốc</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phòng</a:t>
            </a:r>
            <a:r>
              <a:rPr lang="en-US" sz="2400" dirty="0" smtClean="0">
                <a:latin typeface="Times New Roman" pitchFamily="18" charset="0"/>
                <a:cs typeface="Times New Roman" pitchFamily="18" charset="0"/>
              </a:rPr>
              <a:t>.</a:t>
            </a:r>
          </a:p>
          <a:p>
            <a:endParaRPr lang="en-US" sz="2400" dirty="0" smtClean="0">
              <a:latin typeface="Times New Roman" pitchFamily="18" charset="0"/>
              <a:cs typeface="Times New Roman" pitchFamily="18" charset="0"/>
            </a:endParaRPr>
          </a:p>
          <a:p>
            <a:pPr marL="457200" indent="-457200">
              <a:buFont typeface="Arial" panose="020B0604020202020204" pitchFamily="34" charset="0"/>
              <a:buChar char="•"/>
            </a:pPr>
            <a:r>
              <a:rPr lang="en-US" sz="2400" dirty="0" err="1" smtClean="0">
                <a:latin typeface="Times New Roman" pitchFamily="18" charset="0"/>
                <a:cs typeface="Times New Roman" pitchFamily="18" charset="0"/>
              </a:rPr>
              <a:t>Chưa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có</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sự</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tương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thích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giữa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phát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triển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giao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và</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kinh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tế</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Đầu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tư</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cho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giao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không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đồng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đều</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Vấn</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đề</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bố</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trí</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tránh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cản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trở</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thông</a:t>
            </a:r>
            <a:r>
              <a:rPr lang="en-US" sz="2400" dirty="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t>
            </a:r>
          </a:p>
          <a:p>
            <a:pPr marL="342900" indent="-342900">
              <a:buFont typeface="Arial" pitchFamily="34" charset="0"/>
              <a:buChar char="•"/>
            </a:pPr>
            <a:r>
              <a:rPr lang="en-US" sz="2400" dirty="0" err="1" smtClean="0">
                <a:latin typeface="Times New Roman" pitchFamily="18" charset="0"/>
                <a:cs typeface="Times New Roman" pitchFamily="18" charset="0"/>
              </a:rPr>
              <a:t>Tốc</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độ</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của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rất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quan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trọng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giúp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hẹp</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khoảng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không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gian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đổi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văn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hóa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gắn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kết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các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cộng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đồng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dân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trao</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đổi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kinh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tế</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hàng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hóa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dịch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vụ</a:t>
            </a:r>
            <a:r>
              <a:rPr lang="en-US" sz="2400" dirty="0">
                <a:latin typeface="Times New Roman" pitchFamily="18" charset="0"/>
                <a:cs typeface="Times New Roman" pitchFamily="18" charset="0"/>
              </a:rPr>
              <a:t>, con </a:t>
            </a:r>
            <a:r>
              <a:rPr lang="en-US" sz="2400" dirty="0" err="1">
                <a:latin typeface="Times New Roman" pitchFamily="18" charset="0"/>
                <a:cs typeface="Times New Roman" pitchFamily="18" charset="0"/>
              </a:rPr>
              <a:t>người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và</a:t>
            </a:r>
            <a:r>
              <a:rPr lang="en-US" sz="2400" dirty="0">
                <a:latin typeface="Times New Roman" pitchFamily="18" charset="0"/>
                <a:cs typeface="Times New Roman" pitchFamily="18" charset="0"/>
              </a:rPr>
              <a:t> ý </a:t>
            </a:r>
            <a:r>
              <a:rPr lang="en-US" sz="2400" dirty="0" err="1" smtClean="0">
                <a:latin typeface="Times New Roman" pitchFamily="18" charset="0"/>
                <a:cs typeface="Times New Roman" pitchFamily="18" charset="0"/>
              </a:rPr>
              <a:t>tưởng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và</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phát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triển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đồng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đều</a:t>
            </a:r>
            <a:r>
              <a:rPr lang="en-US" sz="2400" dirty="0" smtClean="0">
                <a:latin typeface="Times New Roman" pitchFamily="18" charset="0"/>
                <a:cs typeface="Times New Roman" pitchFamily="18" charset="0"/>
              </a:rPr>
              <a:t>.</a:t>
            </a:r>
          </a:p>
          <a:p>
            <a:endParaRPr lang="en-US" sz="2400" dirty="0" smtClean="0">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r>
              <a:rPr lang="en-US" smtClean="0"/>
              <a:t>20/10/2025</a:t>
            </a:r>
            <a:endParaRPr lang="en-US"/>
          </a:p>
        </p:txBody>
      </p:sp>
      <p:sp>
        <p:nvSpPr>
          <p:cNvPr id="4" name="Slide Number Placeholder 3"/>
          <p:cNvSpPr>
            <a:spLocks noGrp="1"/>
          </p:cNvSpPr>
          <p:nvPr>
            <p:ph type="sldNum" sz="quarter" idx="12"/>
          </p:nvPr>
        </p:nvSpPr>
        <p:spPr/>
        <p:txBody>
          <a:bodyPr/>
          <a:lstStyle/>
          <a:p>
            <a:fld id="{57735496-F72B-4276-AF3F-BDFBC2A621AD}" type="slidenum">
              <a:rPr lang="en-US" smtClean="0"/>
              <a:pPr/>
              <a:t>15</a:t>
            </a:fld>
            <a:endParaRPr lang="en-US"/>
          </a:p>
        </p:txBody>
      </p:sp>
    </p:spTree>
    <p:extLst>
      <p:ext uri="{BB962C8B-B14F-4D97-AF65-F5344CB8AC3E}">
        <p14:creationId xmlns:p14="http://schemas.microsoft.com/office/powerpoint/2010/main" val="26422802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76200"/>
            <a:ext cx="8495731" cy="1143000"/>
          </a:xfrm>
        </p:spPr>
        <p:txBody>
          <a:bodyPr>
            <a:normAutofit/>
          </a:bodyPr>
          <a:lstStyle/>
          <a:p>
            <a:pPr algn="l"/>
            <a:r>
              <a:rPr lang="en-US" sz="3600" b="1" i="1" dirty="0" smtClean="0">
                <a:latin typeface="Times New Roman" pitchFamily="18" charset="0"/>
                <a:cs typeface="Times New Roman" pitchFamily="18" charset="0"/>
              </a:rPr>
              <a:t>7.3. </a:t>
            </a:r>
            <a:r>
              <a:rPr lang="vi-VN" sz="3600" b="1" i="1" dirty="0">
                <a:latin typeface="Times New Roman" pitchFamily="18" charset="0"/>
                <a:cs typeface="Times New Roman" pitchFamily="18" charset="0"/>
              </a:rPr>
              <a:t>Vấn đề giao thông ở Việt Nam </a:t>
            </a:r>
            <a:endParaRPr lang="en-US" sz="3600" b="1" i="1" dirty="0">
              <a:latin typeface="Times New Roman" pitchFamily="18" charset="0"/>
              <a:cs typeface="Times New Roman" pitchFamily="18" charset="0"/>
            </a:endParaRPr>
          </a:p>
        </p:txBody>
      </p:sp>
      <p:sp>
        <p:nvSpPr>
          <p:cNvPr id="5" name="Rectangle 4"/>
          <p:cNvSpPr/>
          <p:nvPr/>
        </p:nvSpPr>
        <p:spPr>
          <a:xfrm>
            <a:off x="228600" y="1371600"/>
            <a:ext cx="8763001" cy="4893647"/>
          </a:xfrm>
          <a:prstGeom prst="rect">
            <a:avLst/>
          </a:prstGeom>
        </p:spPr>
        <p:txBody>
          <a:bodyPr wrap="square">
            <a:spAutoFit/>
          </a:bodyPr>
          <a:lstStyle/>
          <a:p>
            <a:pPr marL="457200" indent="-4572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Đường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rõ</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tỉnh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nhau</a:t>
            </a:r>
            <a:r>
              <a:rPr lang="en-US" sz="2400" dirty="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a:t>
            </a:r>
          </a:p>
          <a:p>
            <a:endParaRPr lang="en-US" sz="24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Tránh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hy</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hay </a:t>
            </a:r>
            <a:r>
              <a:rPr lang="en-US" sz="2400" dirty="0" err="1">
                <a:latin typeface="Times New Roman" panose="02020603050405020304" pitchFamily="18" charset="0"/>
                <a:cs typeface="Times New Roman" panose="02020603050405020304" pitchFamily="18" charset="0"/>
              </a:rPr>
              <a:t>tốc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tiện </a:t>
            </a:r>
            <a:r>
              <a:rPr lang="en-US" sz="2400" dirty="0" err="1">
                <a:latin typeface="Times New Roman" panose="02020603050405020304" pitchFamily="18" charset="0"/>
                <a:cs typeface="Times New Roman" panose="02020603050405020304" pitchFamily="18" charset="0"/>
              </a:rPr>
              <a:t>chậm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còn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lại</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vi-VN" sz="2400" dirty="0" smtClean="0">
                <a:latin typeface="Times New Roman" panose="02020603050405020304" pitchFamily="18" charset="0"/>
                <a:cs typeface="Times New Roman" panose="02020603050405020304" pitchFamily="18" charset="0"/>
              </a:rPr>
              <a:t>Cần </a:t>
            </a:r>
            <a:r>
              <a:rPr lang="vi-VN" sz="2400" dirty="0">
                <a:latin typeface="Times New Roman" panose="02020603050405020304" pitchFamily="18" charset="0"/>
                <a:cs typeface="Times New Roman" panose="02020603050405020304" pitchFamily="18" charset="0"/>
              </a:rPr>
              <a:t>thiết phải phân luồng giao thông, để có thể cải tiến tốc độ giao thông, vì tốc độ của giao thông là tốc độ phát triển của nền kinh tế. </a:t>
            </a:r>
            <a:endParaRPr lang="en-US" sz="24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Điểm</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loại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nay</a:t>
            </a:r>
          </a:p>
        </p:txBody>
      </p:sp>
      <p:sp>
        <p:nvSpPr>
          <p:cNvPr id="3" name="Date Placeholder 2"/>
          <p:cNvSpPr>
            <a:spLocks noGrp="1"/>
          </p:cNvSpPr>
          <p:nvPr>
            <p:ph type="dt" sz="half" idx="10"/>
          </p:nvPr>
        </p:nvSpPr>
        <p:spPr/>
        <p:txBody>
          <a:bodyPr/>
          <a:lstStyle/>
          <a:p>
            <a:r>
              <a:rPr lang="en-US" smtClean="0"/>
              <a:t>20/10/2025</a:t>
            </a:r>
            <a:endParaRPr lang="en-US"/>
          </a:p>
        </p:txBody>
      </p:sp>
      <p:sp>
        <p:nvSpPr>
          <p:cNvPr id="4" name="Slide Number Placeholder 3"/>
          <p:cNvSpPr>
            <a:spLocks noGrp="1"/>
          </p:cNvSpPr>
          <p:nvPr>
            <p:ph type="sldNum" sz="quarter" idx="12"/>
          </p:nvPr>
        </p:nvSpPr>
        <p:spPr/>
        <p:txBody>
          <a:bodyPr/>
          <a:lstStyle/>
          <a:p>
            <a:fld id="{57735496-F72B-4276-AF3F-BDFBC2A621AD}" type="slidenum">
              <a:rPr lang="en-US" smtClean="0"/>
              <a:pPr/>
              <a:t>16</a:t>
            </a:fld>
            <a:endParaRPr lang="en-US"/>
          </a:p>
        </p:txBody>
      </p:sp>
    </p:spTree>
    <p:extLst>
      <p:ext uri="{BB962C8B-B14F-4D97-AF65-F5344CB8AC3E}">
        <p14:creationId xmlns:p14="http://schemas.microsoft.com/office/powerpoint/2010/main" val="5398872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l"/>
            <a:r>
              <a:rPr lang="en-US" sz="3600" b="1" i="1" dirty="0" smtClean="0">
                <a:solidFill>
                  <a:srgbClr val="002060"/>
                </a:solidFill>
                <a:latin typeface="Times New Roman" pitchFamily="18" charset="0"/>
                <a:cs typeface="Times New Roman" pitchFamily="18" charset="0"/>
              </a:rPr>
              <a:t>7.4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đề</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thể</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chế</a:t>
            </a:r>
            <a:r>
              <a:rPr lang="en-US" sz="3600" b="1" i="1" dirty="0">
                <a:solidFill>
                  <a:srgbClr val="002060"/>
                </a:solidFill>
                <a:latin typeface="Times New Roman" pitchFamily="18" charset="0"/>
                <a:cs typeface="Times New Roman" pitchFamily="18" charset="0"/>
              </a:rPr>
              <a:t> ở </a:t>
            </a:r>
            <a:r>
              <a:rPr lang="en-US" sz="3600" b="1" i="1" dirty="0" err="1">
                <a:solidFill>
                  <a:srgbClr val="002060"/>
                </a:solidFill>
                <a:latin typeface="Times New Roman" pitchFamily="18" charset="0"/>
                <a:cs typeface="Times New Roman" pitchFamily="18" charset="0"/>
              </a:rPr>
              <a:t>Việt</a:t>
            </a:r>
            <a:r>
              <a:rPr lang="en-US" sz="3600" b="1" i="1" dirty="0">
                <a:solidFill>
                  <a:srgbClr val="002060"/>
                </a:solidFill>
                <a:latin typeface="Times New Roman" pitchFamily="18" charset="0"/>
                <a:cs typeface="Times New Roman" pitchFamily="18" charset="0"/>
              </a:rPr>
              <a:t> </a:t>
            </a:r>
            <a:r>
              <a:rPr lang="en-US" sz="3600" b="1" i="1" dirty="0" smtClean="0">
                <a:solidFill>
                  <a:srgbClr val="002060"/>
                </a:solidFill>
                <a:latin typeface="Times New Roman" pitchFamily="18" charset="0"/>
                <a:cs typeface="Times New Roman" pitchFamily="18" charset="0"/>
              </a:rPr>
              <a:t>Nam</a:t>
            </a:r>
            <a:endParaRPr lang="en-US" sz="3600" b="1" i="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754563"/>
          </a:xfrm>
        </p:spPr>
        <p:txBody>
          <a:bodyPr>
            <a:normAutofit fontScale="85000" lnSpcReduction="10000"/>
          </a:bodyPr>
          <a:lstStyle/>
          <a:p>
            <a:pPr marL="0" indent="0">
              <a:buNone/>
            </a:pPr>
            <a:r>
              <a:rPr lang="vi-VN" dirty="0">
                <a:latin typeface="Times New Roman" pitchFamily="18" charset="0"/>
                <a:cs typeface="Times New Roman" pitchFamily="18" charset="0"/>
              </a:rPr>
              <a:t>Thực dân Pháp, </a:t>
            </a:r>
            <a:r>
              <a:rPr lang="en-US" dirty="0" err="1">
                <a:latin typeface="Times New Roman" pitchFamily="18" charset="0"/>
                <a:cs typeface="Times New Roman" pitchFamily="18" charset="0"/>
              </a:rPr>
              <a:t>thiết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kế</a:t>
            </a:r>
            <a:r>
              <a:rPr lang="vi-VN" dirty="0">
                <a:latin typeface="Times New Roman" pitchFamily="18" charset="0"/>
                <a:cs typeface="Times New Roman" pitchFamily="18" charset="0"/>
              </a:rPr>
              <a:t> thể chế </a:t>
            </a:r>
            <a:r>
              <a:rPr lang="vi-VN" dirty="0" smtClean="0">
                <a:latin typeface="Times New Roman" pitchFamily="18" charset="0"/>
                <a:cs typeface="Times New Roman" pitchFamily="18" charset="0"/>
              </a:rPr>
              <a:t>trên </a:t>
            </a:r>
            <a:r>
              <a:rPr lang="vi-VN" dirty="0">
                <a:latin typeface="Times New Roman" pitchFamily="18" charset="0"/>
                <a:cs typeface="Times New Roman" pitchFamily="18" charset="0"/>
              </a:rPr>
              <a:t>cái nền của chế độ phong kiến kiểu phương Đông, đó là thể chế khai thác thuộc địa, chia để trị và ranh giới giữa các vùng chỉ để quản lý con người về mặt hành chính chưa bao giờ là ranh giới để phát triển kinh tế và càng không thể là phục vụ cho chiến lược công nghiệp hóa</a:t>
            </a:r>
            <a:r>
              <a:rPr lang="vi-VN" dirty="0" smtClean="0">
                <a:latin typeface="Times New Roman" pitchFamily="18" charset="0"/>
                <a:cs typeface="Times New Roman" pitchFamily="18" charset="0"/>
              </a:rPr>
              <a:t>.</a:t>
            </a:r>
            <a:endParaRPr lang="en-US" dirty="0" smtClean="0">
              <a:latin typeface="Times New Roman" pitchFamily="18" charset="0"/>
              <a:cs typeface="Times New Roman" pitchFamily="18" charset="0"/>
            </a:endParaRPr>
          </a:p>
          <a:p>
            <a:pPr marL="0" indent="0">
              <a:buNone/>
            </a:pPr>
            <a:endParaRPr lang="en-US" dirty="0" smtClean="0">
              <a:latin typeface="Times New Roman" pitchFamily="18" charset="0"/>
              <a:cs typeface="Times New Roman" pitchFamily="18" charset="0"/>
            </a:endParaRPr>
          </a:p>
          <a:p>
            <a:pPr marL="0" indent="0">
              <a:buNone/>
            </a:pPr>
            <a:r>
              <a:rPr lang="vi-VN" dirty="0">
                <a:latin typeface="Times New Roman" pitchFamily="18" charset="0"/>
                <a:cs typeface="Times New Roman" pitchFamily="18" charset="0"/>
              </a:rPr>
              <a:t>Trên nền tảng này</a:t>
            </a:r>
            <a:r>
              <a:rPr lang="en-US" dirty="0">
                <a:latin typeface="Times New Roman" pitchFamily="18" charset="0"/>
                <a:cs typeface="Times New Roman" pitchFamily="18" charset="0"/>
              </a:rPr>
              <a:t>,</a:t>
            </a:r>
            <a:r>
              <a:rPr lang="vi-VN" dirty="0">
                <a:latin typeface="Times New Roman" pitchFamily="18" charset="0"/>
                <a:cs typeface="Times New Roman" pitchFamily="18" charset="0"/>
              </a:rPr>
              <a:t> </a:t>
            </a:r>
            <a:r>
              <a:rPr lang="en-US" dirty="0" err="1" smtClean="0">
                <a:latin typeface="Times New Roman" pitchFamily="18" charset="0"/>
                <a:cs typeface="Times New Roman" pitchFamily="18" charset="0"/>
              </a:rPr>
              <a:t>nhà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nước</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đã </a:t>
            </a:r>
            <a:r>
              <a:rPr lang="vi-VN" dirty="0">
                <a:latin typeface="Times New Roman" pitchFamily="18" charset="0"/>
                <a:cs typeface="Times New Roman" pitchFamily="18" charset="0"/>
              </a:rPr>
              <a:t>thiết kế một thể chế thử và sai, không có </a:t>
            </a:r>
            <a:r>
              <a:rPr lang="en-US" dirty="0" err="1" smtClean="0">
                <a:latin typeface="Times New Roman" pitchFamily="18" charset="0"/>
                <a:cs typeface="Times New Roman" pitchFamily="18" charset="0"/>
              </a:rPr>
              <a:t>hình</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mẫu</a:t>
            </a:r>
            <a:r>
              <a:rPr lang="vi-VN" dirty="0">
                <a:latin typeface="Times New Roman" pitchFamily="18" charset="0"/>
                <a:cs typeface="Times New Roman" pitchFamily="18" charset="0"/>
              </a:rPr>
              <a:t>, được tiến hành </a:t>
            </a:r>
            <a:r>
              <a:rPr lang="en-US" dirty="0" err="1">
                <a:latin typeface="Times New Roman" pitchFamily="18" charset="0"/>
                <a:cs typeface="Times New Roman" pitchFamily="18" charset="0"/>
              </a:rPr>
              <a:t>thay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đổi</a:t>
            </a:r>
            <a:r>
              <a:rPr lang="en-US" dirty="0">
                <a:latin typeface="Times New Roman" pitchFamily="18" charset="0"/>
                <a:cs typeface="Times New Roman" pitchFamily="18" charset="0"/>
              </a:rPr>
              <a:t> </a:t>
            </a:r>
            <a:r>
              <a:rPr lang="vi-VN" dirty="0">
                <a:latin typeface="Times New Roman" pitchFamily="18" charset="0"/>
                <a:cs typeface="Times New Roman" pitchFamily="18" charset="0"/>
              </a:rPr>
              <a:t>rất chậm, lệ thuộc vào trung ương và ngày nay ở bất cứ khâu nào cũng dễ dàng tìm thấy sự cản trở và bị động trong quá trình phát triển. </a:t>
            </a: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17</a:t>
            </a:fld>
            <a:endParaRPr lang="en-US"/>
          </a:p>
        </p:txBody>
      </p:sp>
    </p:spTree>
    <p:extLst>
      <p:ext uri="{BB962C8B-B14F-4D97-AF65-F5344CB8AC3E}">
        <p14:creationId xmlns:p14="http://schemas.microsoft.com/office/powerpoint/2010/main" val="2631395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57200" y="293688"/>
            <a:ext cx="8229600" cy="1143000"/>
          </a:xfrm>
        </p:spPr>
        <p:txBody>
          <a:bodyPr/>
          <a:lstStyle/>
          <a:p>
            <a:pPr eaLnBrk="1" hangingPunct="1"/>
            <a:r>
              <a:rPr lang="en-US" altLang="en-US" sz="3600" b="1" dirty="0" err="1" smtClean="0">
                <a:latin typeface="Times New Roman" panose="02020603050405020304" pitchFamily="18" charset="0"/>
                <a:ea typeface="ＭＳ Ｐゴシック" panose="020B0600070205080204" pitchFamily="34" charset="-128"/>
              </a:rPr>
              <a:t>Giai</a:t>
            </a:r>
            <a:r>
              <a:rPr lang="en-US" altLang="en-US" sz="3600" b="1" dirty="0" smtClean="0">
                <a:latin typeface="Times New Roman" panose="02020603050405020304" pitchFamily="18" charset="0"/>
                <a:ea typeface="ＭＳ Ｐゴシック" panose="020B0600070205080204" pitchFamily="34" charset="-128"/>
              </a:rPr>
              <a:t> </a:t>
            </a:r>
            <a:r>
              <a:rPr lang="en-US" altLang="en-US" sz="3600" b="1" dirty="0" err="1" smtClean="0">
                <a:latin typeface="Times New Roman" panose="02020603050405020304" pitchFamily="18" charset="0"/>
                <a:ea typeface="ＭＳ Ｐゴシック" panose="020B0600070205080204" pitchFamily="34" charset="-128"/>
              </a:rPr>
              <a:t>đoạn</a:t>
            </a:r>
            <a:r>
              <a:rPr lang="en-US" altLang="en-US" sz="3600" b="1" dirty="0" smtClean="0">
                <a:latin typeface="Times New Roman" panose="02020603050405020304" pitchFamily="18" charset="0"/>
                <a:ea typeface="ＭＳ Ｐゴシック" panose="020B0600070205080204" pitchFamily="34" charset="-128"/>
              </a:rPr>
              <a:t> </a:t>
            </a:r>
            <a:r>
              <a:rPr lang="en-US" altLang="en-US" sz="3600" b="1" dirty="0" err="1" smtClean="0">
                <a:latin typeface="Times New Roman" panose="02020603050405020304" pitchFamily="18" charset="0"/>
                <a:ea typeface="ＭＳ Ｐゴシック" panose="020B0600070205080204" pitchFamily="34" charset="-128"/>
              </a:rPr>
              <a:t>phát</a:t>
            </a:r>
            <a:r>
              <a:rPr lang="en-US" altLang="en-US" sz="3600" b="1" dirty="0" smtClean="0">
                <a:latin typeface="Times New Roman" panose="02020603050405020304" pitchFamily="18" charset="0"/>
                <a:ea typeface="ＭＳ Ｐゴシック" panose="020B0600070205080204" pitchFamily="34" charset="-128"/>
              </a:rPr>
              <a:t> </a:t>
            </a:r>
            <a:r>
              <a:rPr lang="en-US" altLang="en-US" sz="3600" b="1" dirty="0" err="1" smtClean="0">
                <a:latin typeface="Times New Roman" panose="02020603050405020304" pitchFamily="18" charset="0"/>
                <a:ea typeface="ＭＳ Ｐゴシック" panose="020B0600070205080204" pitchFamily="34" charset="-128"/>
              </a:rPr>
              <a:t>triển</a:t>
            </a:r>
            <a:r>
              <a:rPr lang="en-US" altLang="en-US" sz="3600" b="1" dirty="0" smtClean="0">
                <a:latin typeface="Times New Roman" panose="02020603050405020304" pitchFamily="18" charset="0"/>
                <a:ea typeface="ＭＳ Ｐゴシック" panose="020B0600070205080204" pitchFamily="34" charset="-128"/>
              </a:rPr>
              <a:t> </a:t>
            </a:r>
            <a:r>
              <a:rPr lang="en-US" altLang="en-US" sz="3600" b="1" dirty="0" err="1" smtClean="0">
                <a:latin typeface="Times New Roman" panose="02020603050405020304" pitchFamily="18" charset="0"/>
                <a:ea typeface="ＭＳ Ｐゴシック" panose="020B0600070205080204" pitchFamily="34" charset="-128"/>
              </a:rPr>
              <a:t>và</a:t>
            </a:r>
            <a:r>
              <a:rPr lang="en-US" altLang="en-US" sz="3600" b="1" dirty="0" smtClean="0">
                <a:latin typeface="Times New Roman" panose="02020603050405020304" pitchFamily="18" charset="0"/>
                <a:ea typeface="ＭＳ Ｐゴシック" panose="020B0600070205080204" pitchFamily="34" charset="-128"/>
              </a:rPr>
              <a:t> </a:t>
            </a:r>
            <a:r>
              <a:rPr lang="en-US" altLang="en-US" sz="3600" b="1" dirty="0" err="1" smtClean="0">
                <a:latin typeface="Times New Roman" panose="02020603050405020304" pitchFamily="18" charset="0"/>
                <a:ea typeface="ＭＳ Ｐゴシック" panose="020B0600070205080204" pitchFamily="34" charset="-128"/>
              </a:rPr>
              <a:t>thể</a:t>
            </a:r>
            <a:r>
              <a:rPr lang="en-US" altLang="en-US" sz="3600" b="1" dirty="0" smtClean="0">
                <a:latin typeface="Times New Roman" panose="02020603050405020304" pitchFamily="18" charset="0"/>
                <a:ea typeface="ＭＳ Ｐゴシック" panose="020B0600070205080204" pitchFamily="34" charset="-128"/>
              </a:rPr>
              <a:t> </a:t>
            </a:r>
            <a:r>
              <a:rPr lang="en-US" altLang="en-US" sz="3600" b="1" dirty="0" err="1" smtClean="0">
                <a:latin typeface="Times New Roman" panose="02020603050405020304" pitchFamily="18" charset="0"/>
                <a:ea typeface="ＭＳ Ｐゴシック" panose="020B0600070205080204" pitchFamily="34" charset="-128"/>
              </a:rPr>
              <a:t>chế</a:t>
            </a:r>
            <a:r>
              <a:rPr lang="en-US" altLang="en-US" sz="3600" b="1" dirty="0" smtClean="0">
                <a:latin typeface="Times New Roman" panose="02020603050405020304" pitchFamily="18" charset="0"/>
                <a:ea typeface="ＭＳ Ｐゴシック" panose="020B0600070205080204" pitchFamily="34" charset="-128"/>
              </a:rPr>
              <a:t> </a:t>
            </a:r>
          </a:p>
        </p:txBody>
      </p:sp>
      <p:sp>
        <p:nvSpPr>
          <p:cNvPr id="50179" name="Content Placeholder 2"/>
          <p:cNvSpPr>
            <a:spLocks noGrp="1"/>
          </p:cNvSpPr>
          <p:nvPr>
            <p:ph idx="1"/>
          </p:nvPr>
        </p:nvSpPr>
        <p:spPr/>
        <p:txBody>
          <a:bodyPr/>
          <a:lstStyle/>
          <a:p>
            <a:pPr eaLnBrk="1" hangingPunct="1">
              <a:buFont typeface="Georgia" panose="02040502050405020303" pitchFamily="18" charset="0"/>
              <a:buNone/>
            </a:pPr>
            <a:endParaRPr lang="en-US" altLang="en-US" sz="1600" dirty="0" smtClean="0">
              <a:latin typeface="Times New Roman" panose="02020603050405020304" pitchFamily="18" charset="0"/>
              <a:ea typeface="ＭＳ Ｐゴシック" panose="020B0600070205080204" pitchFamily="34" charset="-128"/>
            </a:endParaRPr>
          </a:p>
          <a:p>
            <a:pPr eaLnBrk="1" hangingPunct="1">
              <a:buFont typeface="Georgia" panose="02040502050405020303" pitchFamily="18" charset="0"/>
              <a:buNone/>
            </a:pPr>
            <a:r>
              <a:rPr lang="en-US" altLang="en-US" sz="2400" dirty="0" smtClean="0">
                <a:latin typeface="Times New Roman" panose="02020603050405020304" pitchFamily="18" charset="0"/>
                <a:ea typeface="ＭＳ Ｐゴシック" panose="020B0600070205080204" pitchFamily="34" charset="-128"/>
              </a:rPr>
              <a:t>  </a:t>
            </a:r>
            <a:r>
              <a:rPr lang="en-US" altLang="en-US" sz="1600" dirty="0" smtClean="0">
                <a:latin typeface="Times New Roman" panose="02020603050405020304" pitchFamily="18" charset="0"/>
                <a:ea typeface="ＭＳ Ｐゴシック" panose="020B0600070205080204" pitchFamily="34" charset="-128"/>
              </a:rPr>
              <a:t>GDP </a:t>
            </a:r>
            <a:r>
              <a:rPr lang="en-US" altLang="en-US" sz="1600" dirty="0" err="1" smtClean="0">
                <a:latin typeface="Times New Roman" panose="02020603050405020304" pitchFamily="18" charset="0"/>
                <a:ea typeface="ＭＳ Ｐゴシック" panose="020B0600070205080204" pitchFamily="34" charset="-128"/>
              </a:rPr>
              <a:t>bình</a:t>
            </a:r>
            <a:r>
              <a:rPr lang="en-US" altLang="en-US" sz="1600" dirty="0" smtClean="0">
                <a:latin typeface="Times New Roman" panose="02020603050405020304" pitchFamily="18" charset="0"/>
                <a:ea typeface="ＭＳ Ｐゴシック" panose="020B0600070205080204" pitchFamily="34" charset="-128"/>
              </a:rPr>
              <a:t> </a:t>
            </a:r>
            <a:r>
              <a:rPr lang="en-US" altLang="en-US" sz="1600" dirty="0" err="1" smtClean="0">
                <a:latin typeface="Times New Roman" panose="02020603050405020304" pitchFamily="18" charset="0"/>
                <a:ea typeface="ＭＳ Ｐゴシック" panose="020B0600070205080204" pitchFamily="34" charset="-128"/>
              </a:rPr>
              <a:t>quân</a:t>
            </a:r>
            <a:r>
              <a:rPr lang="en-US" altLang="en-US" sz="1600" dirty="0" smtClean="0">
                <a:latin typeface="Times New Roman" panose="02020603050405020304" pitchFamily="18" charset="0"/>
                <a:ea typeface="ＭＳ Ｐゴシック" panose="020B0600070205080204" pitchFamily="34" charset="-128"/>
              </a:rPr>
              <a:t> </a:t>
            </a:r>
            <a:r>
              <a:rPr lang="en-US" altLang="en-US" sz="1600" dirty="0" err="1" smtClean="0">
                <a:latin typeface="Times New Roman" panose="02020603050405020304" pitchFamily="18" charset="0"/>
                <a:ea typeface="ＭＳ Ｐゴシック" panose="020B0600070205080204" pitchFamily="34" charset="-128"/>
              </a:rPr>
              <a:t>đầu</a:t>
            </a:r>
            <a:r>
              <a:rPr lang="en-US" altLang="en-US" sz="1600" dirty="0" smtClean="0">
                <a:latin typeface="Times New Roman" panose="02020603050405020304" pitchFamily="18" charset="0"/>
                <a:ea typeface="ＭＳ Ｐゴシック" panose="020B0600070205080204" pitchFamily="34" charset="-128"/>
              </a:rPr>
              <a:t> </a:t>
            </a:r>
            <a:r>
              <a:rPr lang="en-US" altLang="en-US" sz="1600" dirty="0" err="1" smtClean="0">
                <a:latin typeface="Times New Roman" panose="02020603050405020304" pitchFamily="18" charset="0"/>
                <a:ea typeface="ＭＳ Ｐゴシック" panose="020B0600070205080204" pitchFamily="34" charset="-128"/>
              </a:rPr>
              <a:t>người</a:t>
            </a:r>
            <a:endParaRPr lang="en-US" altLang="en-US" sz="1600" dirty="0">
              <a:latin typeface="Times New Roman" panose="02020603050405020304" pitchFamily="18" charset="0"/>
              <a:ea typeface="ＭＳ Ｐゴシック" panose="020B0600070205080204" pitchFamily="34" charset="-128"/>
            </a:endParaRPr>
          </a:p>
          <a:p>
            <a:pPr eaLnBrk="1" hangingPunct="1">
              <a:buFont typeface="Georgia" panose="02040502050405020303" pitchFamily="18" charset="0"/>
              <a:buNone/>
            </a:pPr>
            <a:endParaRPr lang="en-US" altLang="en-US" sz="2400" dirty="0" smtClean="0">
              <a:latin typeface="Times New Roman" panose="02020603050405020304" pitchFamily="18" charset="0"/>
              <a:ea typeface="ＭＳ Ｐゴシック" panose="020B0600070205080204" pitchFamily="34" charset="-128"/>
            </a:endParaRPr>
          </a:p>
        </p:txBody>
      </p:sp>
      <p:cxnSp>
        <p:nvCxnSpPr>
          <p:cNvPr id="6" name="Straight Arrow Connector 5"/>
          <p:cNvCxnSpPr>
            <a:cxnSpLocks noChangeShapeType="1"/>
          </p:cNvCxnSpPr>
          <p:nvPr/>
        </p:nvCxnSpPr>
        <p:spPr bwMode="auto">
          <a:xfrm rot="5400000" flipH="1" flipV="1">
            <a:off x="-304799" y="4037012"/>
            <a:ext cx="3352800" cy="3175"/>
          </a:xfrm>
          <a:prstGeom prst="straightConnector1">
            <a:avLst/>
          </a:prstGeom>
          <a:noFill/>
          <a:ln w="63500">
            <a:solidFill>
              <a:schemeClr val="tx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 name="Straight Arrow Connector 8"/>
          <p:cNvCxnSpPr>
            <a:cxnSpLocks noChangeShapeType="1"/>
          </p:cNvCxnSpPr>
          <p:nvPr/>
        </p:nvCxnSpPr>
        <p:spPr bwMode="auto">
          <a:xfrm>
            <a:off x="1373188" y="5715000"/>
            <a:ext cx="6246812" cy="1588"/>
          </a:xfrm>
          <a:prstGeom prst="straightConnector1">
            <a:avLst/>
          </a:prstGeom>
          <a:noFill/>
          <a:ln w="63500">
            <a:solidFill>
              <a:schemeClr val="tx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3" name="Straight Connector 12"/>
          <p:cNvCxnSpPr>
            <a:cxnSpLocks noChangeShapeType="1"/>
          </p:cNvCxnSpPr>
          <p:nvPr/>
        </p:nvCxnSpPr>
        <p:spPr bwMode="auto">
          <a:xfrm>
            <a:off x="1373188" y="4800600"/>
            <a:ext cx="2208212" cy="1588"/>
          </a:xfrm>
          <a:prstGeom prst="line">
            <a:avLst/>
          </a:prstGeom>
          <a:noFill/>
          <a:ln w="38100">
            <a:solidFill>
              <a:schemeClr val="tx1"/>
            </a:solidFill>
            <a:round/>
            <a:headEnd type="oval" w="med" len="med"/>
            <a:tailEnd type="oval"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Connector 14"/>
          <p:cNvCxnSpPr>
            <a:cxnSpLocks noChangeShapeType="1"/>
          </p:cNvCxnSpPr>
          <p:nvPr/>
        </p:nvCxnSpPr>
        <p:spPr bwMode="auto">
          <a:xfrm rot="5400000" flipH="1" flipV="1">
            <a:off x="3580606" y="4191794"/>
            <a:ext cx="611188" cy="609600"/>
          </a:xfrm>
          <a:prstGeom prst="line">
            <a:avLst/>
          </a:prstGeom>
          <a:noFill/>
          <a:ln w="38100">
            <a:solidFill>
              <a:schemeClr val="tx1"/>
            </a:solidFill>
            <a:round/>
            <a:headEnd type="oval" w="med" len="med"/>
            <a:tailEnd type="oval"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7" name="Straight Connector 16"/>
          <p:cNvCxnSpPr>
            <a:cxnSpLocks noChangeShapeType="1"/>
          </p:cNvCxnSpPr>
          <p:nvPr/>
        </p:nvCxnSpPr>
        <p:spPr bwMode="auto">
          <a:xfrm rot="5400000" flipH="1" flipV="1">
            <a:off x="4191000" y="2819400"/>
            <a:ext cx="1371600" cy="1371600"/>
          </a:xfrm>
          <a:prstGeom prst="line">
            <a:avLst/>
          </a:prstGeom>
          <a:noFill/>
          <a:ln w="38100">
            <a:solidFill>
              <a:schemeClr val="tx1"/>
            </a:solidFill>
            <a:round/>
            <a:headEnd type="oval" w="med" len="med"/>
            <a:tailEnd type="oval"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9" name="Straight Connector 18"/>
          <p:cNvCxnSpPr>
            <a:cxnSpLocks noChangeShapeType="1"/>
          </p:cNvCxnSpPr>
          <p:nvPr/>
        </p:nvCxnSpPr>
        <p:spPr bwMode="auto">
          <a:xfrm>
            <a:off x="4191000" y="4191000"/>
            <a:ext cx="1905000" cy="1588"/>
          </a:xfrm>
          <a:prstGeom prst="line">
            <a:avLst/>
          </a:prstGeom>
          <a:noFill/>
          <a:ln w="38100">
            <a:solidFill>
              <a:schemeClr val="tx1"/>
            </a:solidFill>
            <a:round/>
            <a:headEnd type="oval" w="med" len="med"/>
            <a:tailEnd type="oval"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1" name="Straight Connector 20"/>
          <p:cNvCxnSpPr>
            <a:cxnSpLocks noChangeShapeType="1"/>
          </p:cNvCxnSpPr>
          <p:nvPr/>
        </p:nvCxnSpPr>
        <p:spPr bwMode="auto">
          <a:xfrm rot="5400000">
            <a:off x="3163094" y="5217319"/>
            <a:ext cx="836613" cy="3175"/>
          </a:xfrm>
          <a:prstGeom prst="line">
            <a:avLst/>
          </a:prstGeom>
          <a:noFill/>
          <a:ln w="31750">
            <a:solidFill>
              <a:schemeClr val="tx1"/>
            </a:solidFill>
            <a:prstDash val="dash"/>
            <a:round/>
            <a:headEnd type="oval" w="med" len="med"/>
            <a:tailEnd type="oval"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3" name="Straight Connector 22"/>
          <p:cNvCxnSpPr>
            <a:cxnSpLocks noChangeShapeType="1"/>
          </p:cNvCxnSpPr>
          <p:nvPr/>
        </p:nvCxnSpPr>
        <p:spPr bwMode="auto">
          <a:xfrm rot="5400000">
            <a:off x="3467101" y="4913312"/>
            <a:ext cx="1447800" cy="3175"/>
          </a:xfrm>
          <a:prstGeom prst="line">
            <a:avLst/>
          </a:prstGeom>
          <a:noFill/>
          <a:ln w="31750">
            <a:solidFill>
              <a:schemeClr val="tx1"/>
            </a:solidFill>
            <a:prstDash val="dash"/>
            <a:round/>
            <a:headEnd type="oval" w="med" len="med"/>
            <a:tailEnd type="oval"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50188" name="TextBox 13"/>
          <p:cNvSpPr txBox="1">
            <a:spLocks noChangeArrowheads="1"/>
          </p:cNvSpPr>
          <p:nvPr/>
        </p:nvSpPr>
        <p:spPr bwMode="auto">
          <a:xfrm>
            <a:off x="5105400" y="571658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50189" name="TextBox 15"/>
          <p:cNvSpPr txBox="1">
            <a:spLocks noChangeArrowheads="1"/>
          </p:cNvSpPr>
          <p:nvPr/>
        </p:nvSpPr>
        <p:spPr bwMode="auto">
          <a:xfrm>
            <a:off x="-838200" y="1066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sz="1800"/>
          </a:p>
        </p:txBody>
      </p:sp>
      <p:sp>
        <p:nvSpPr>
          <p:cNvPr id="50190" name="TextBox 17"/>
          <p:cNvSpPr txBox="1">
            <a:spLocks noChangeArrowheads="1"/>
          </p:cNvSpPr>
          <p:nvPr/>
        </p:nvSpPr>
        <p:spPr bwMode="auto">
          <a:xfrm>
            <a:off x="1758236" y="4430713"/>
            <a:ext cx="16748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dirty="0">
                <a:latin typeface="Times New Roman" panose="02020603050405020304" pitchFamily="18" charset="0"/>
              </a:rPr>
              <a:t>Traditional society </a:t>
            </a:r>
          </a:p>
        </p:txBody>
      </p:sp>
      <p:cxnSp>
        <p:nvCxnSpPr>
          <p:cNvPr id="22" name="Straight Arrow Connector 21"/>
          <p:cNvCxnSpPr>
            <a:cxnSpLocks noChangeShapeType="1"/>
          </p:cNvCxnSpPr>
          <p:nvPr/>
        </p:nvCxnSpPr>
        <p:spPr bwMode="auto">
          <a:xfrm rot="16200000" flipV="1">
            <a:off x="3309144" y="3994944"/>
            <a:ext cx="620712" cy="381000"/>
          </a:xfrm>
          <a:prstGeom prst="straightConnector1">
            <a:avLst/>
          </a:prstGeom>
          <a:noFill/>
          <a:ln w="25400">
            <a:solidFill>
              <a:schemeClr val="accent1"/>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50192" name="TextBox 25"/>
          <p:cNvSpPr txBox="1">
            <a:spLocks noChangeArrowheads="1"/>
          </p:cNvSpPr>
          <p:nvPr/>
        </p:nvSpPr>
        <p:spPr bwMode="auto">
          <a:xfrm>
            <a:off x="2286002" y="3609975"/>
            <a:ext cx="213359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400" dirty="0">
                <a:latin typeface="Times New Roman" panose="02020603050405020304" pitchFamily="18" charset="0"/>
              </a:rPr>
              <a:t>Primary market economy</a:t>
            </a:r>
          </a:p>
        </p:txBody>
      </p:sp>
      <p:sp>
        <p:nvSpPr>
          <p:cNvPr id="50193" name="TextBox 26"/>
          <p:cNvSpPr txBox="1">
            <a:spLocks noChangeArrowheads="1"/>
          </p:cNvSpPr>
          <p:nvPr/>
        </p:nvSpPr>
        <p:spPr bwMode="auto">
          <a:xfrm>
            <a:off x="4419600" y="2286000"/>
            <a:ext cx="2438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dirty="0">
                <a:latin typeface="Times New Roman" panose="02020603050405020304" pitchFamily="18" charset="0"/>
              </a:rPr>
              <a:t>Sustainable development (Korea, Singapore)  </a:t>
            </a:r>
          </a:p>
        </p:txBody>
      </p:sp>
      <p:sp>
        <p:nvSpPr>
          <p:cNvPr id="50194" name="TextBox 27"/>
          <p:cNvSpPr txBox="1">
            <a:spLocks noChangeArrowheads="1"/>
          </p:cNvSpPr>
          <p:nvPr/>
        </p:nvSpPr>
        <p:spPr bwMode="auto">
          <a:xfrm>
            <a:off x="6018211" y="3840193"/>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1400" dirty="0">
                <a:latin typeface="Times New Roman" panose="02020603050405020304" pitchFamily="18" charset="0"/>
              </a:rPr>
              <a:t>Unsustainable development (Philippines, Indonesia)</a:t>
            </a:r>
          </a:p>
        </p:txBody>
      </p:sp>
      <p:sp>
        <p:nvSpPr>
          <p:cNvPr id="50195" name="TextBox 28"/>
          <p:cNvSpPr txBox="1">
            <a:spLocks noChangeArrowheads="1"/>
          </p:cNvSpPr>
          <p:nvPr/>
        </p:nvSpPr>
        <p:spPr bwMode="auto">
          <a:xfrm>
            <a:off x="6858000" y="5181600"/>
            <a:ext cx="1143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600" dirty="0" err="1" smtClean="0">
                <a:latin typeface="Times New Roman" panose="02020603050405020304" pitchFamily="18" charset="0"/>
              </a:rPr>
              <a:t>Thời</a:t>
            </a:r>
            <a:r>
              <a:rPr lang="en-US" altLang="en-US" sz="1600" dirty="0" smtClean="0">
                <a:latin typeface="Times New Roman" panose="02020603050405020304" pitchFamily="18" charset="0"/>
              </a:rPr>
              <a:t> </a:t>
            </a:r>
            <a:r>
              <a:rPr lang="en-US" altLang="en-US" sz="1600" dirty="0" err="1" smtClean="0">
                <a:latin typeface="Times New Roman" panose="02020603050405020304" pitchFamily="18" charset="0"/>
              </a:rPr>
              <a:t>gian</a:t>
            </a:r>
            <a:endParaRPr lang="en-US" altLang="en-US" sz="1600" dirty="0">
              <a:latin typeface="Times New Roman" panose="02020603050405020304" pitchFamily="18" charset="0"/>
            </a:endParaRPr>
          </a:p>
        </p:txBody>
      </p:sp>
      <p:sp>
        <p:nvSpPr>
          <p:cNvPr id="2" name="Date Placeholder 1"/>
          <p:cNvSpPr>
            <a:spLocks noGrp="1"/>
          </p:cNvSpPr>
          <p:nvPr>
            <p:ph type="dt" sz="half" idx="10"/>
          </p:nvPr>
        </p:nvSpPr>
        <p:spPr/>
        <p:txBody>
          <a:bodyPr/>
          <a:lstStyle/>
          <a:p>
            <a:r>
              <a:rPr lang="en-US" smtClean="0"/>
              <a:t>20/10/2025</a:t>
            </a:r>
            <a:endParaRPr lang="en-US"/>
          </a:p>
        </p:txBody>
      </p:sp>
      <p:sp>
        <p:nvSpPr>
          <p:cNvPr id="3" name="Slide Number Placeholder 2"/>
          <p:cNvSpPr>
            <a:spLocks noGrp="1"/>
          </p:cNvSpPr>
          <p:nvPr>
            <p:ph type="sldNum" sz="quarter" idx="12"/>
          </p:nvPr>
        </p:nvSpPr>
        <p:spPr/>
        <p:txBody>
          <a:bodyPr/>
          <a:lstStyle/>
          <a:p>
            <a:fld id="{57735496-F72B-4276-AF3F-BDFBC2A621AD}" type="slidenum">
              <a:rPr lang="en-US" smtClean="0"/>
              <a:pPr/>
              <a:t>18</a:t>
            </a:fld>
            <a:endParaRPr lang="en-US"/>
          </a:p>
        </p:txBody>
      </p:sp>
    </p:spTree>
    <p:extLst>
      <p:ext uri="{BB962C8B-B14F-4D97-AF65-F5344CB8AC3E}">
        <p14:creationId xmlns:p14="http://schemas.microsoft.com/office/powerpoint/2010/main" val="39426462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l"/>
            <a:r>
              <a:rPr lang="en-US" sz="3600" b="1" i="1" dirty="0" smtClean="0">
                <a:solidFill>
                  <a:srgbClr val="002060"/>
                </a:solidFill>
                <a:latin typeface="Times New Roman" pitchFamily="18" charset="0"/>
                <a:cs typeface="Times New Roman" pitchFamily="18" charset="0"/>
              </a:rPr>
              <a:t>7.4.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đề</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thể</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chế</a:t>
            </a:r>
            <a:r>
              <a:rPr lang="en-US" sz="3600" b="1" i="1" dirty="0">
                <a:solidFill>
                  <a:srgbClr val="002060"/>
                </a:solidFill>
                <a:latin typeface="Times New Roman" pitchFamily="18" charset="0"/>
                <a:cs typeface="Times New Roman" pitchFamily="18" charset="0"/>
              </a:rPr>
              <a:t> ở </a:t>
            </a:r>
            <a:r>
              <a:rPr lang="en-US" sz="3600" b="1" i="1" dirty="0" err="1">
                <a:solidFill>
                  <a:srgbClr val="002060"/>
                </a:solidFill>
                <a:latin typeface="Times New Roman" pitchFamily="18" charset="0"/>
                <a:cs typeface="Times New Roman" pitchFamily="18" charset="0"/>
              </a:rPr>
              <a:t>Việt</a:t>
            </a:r>
            <a:r>
              <a:rPr lang="en-US" sz="3600" b="1" i="1" dirty="0">
                <a:solidFill>
                  <a:srgbClr val="002060"/>
                </a:solidFill>
                <a:latin typeface="Times New Roman" pitchFamily="18" charset="0"/>
                <a:cs typeface="Times New Roman" pitchFamily="18" charset="0"/>
              </a:rPr>
              <a:t> </a:t>
            </a:r>
            <a:r>
              <a:rPr lang="en-US" sz="3600" b="1" i="1" dirty="0" smtClean="0">
                <a:solidFill>
                  <a:srgbClr val="002060"/>
                </a:solidFill>
                <a:latin typeface="Times New Roman" pitchFamily="18" charset="0"/>
                <a:cs typeface="Times New Roman" pitchFamily="18" charset="0"/>
              </a:rPr>
              <a:t>Nam</a:t>
            </a:r>
            <a:endParaRPr lang="en-US" sz="3600" b="1" i="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600200"/>
            <a:ext cx="8534400" cy="4754563"/>
          </a:xfrm>
        </p:spPr>
        <p:txBody>
          <a:bodyPr>
            <a:normAutofit fontScale="92500"/>
          </a:bodyPr>
          <a:lstStyle/>
          <a:p>
            <a:pPr marL="0" indent="0">
              <a:buNone/>
            </a:pPr>
            <a:r>
              <a:rPr lang="vi-VN" b="1" i="1" dirty="0">
                <a:solidFill>
                  <a:srgbClr val="002060"/>
                </a:solidFill>
                <a:latin typeface="Times New Roman" pitchFamily="18" charset="0"/>
                <a:cs typeface="Times New Roman" pitchFamily="18" charset="0"/>
              </a:rPr>
              <a:t>Vậy như thế nào là một thể chế chất lượng cao hay thể chế thông minh</a:t>
            </a:r>
            <a:r>
              <a:rPr lang="vi-VN" b="1" i="1" dirty="0" smtClean="0">
                <a:solidFill>
                  <a:srgbClr val="002060"/>
                </a:solidFill>
                <a:latin typeface="Times New Roman" pitchFamily="18" charset="0"/>
                <a:cs typeface="Times New Roman" pitchFamily="18" charset="0"/>
              </a:rPr>
              <a:t>?</a:t>
            </a:r>
            <a:endParaRPr lang="en-US" b="1" i="1" dirty="0" smtClean="0">
              <a:solidFill>
                <a:srgbClr val="002060"/>
              </a:solidFill>
              <a:latin typeface="Times New Roman" pitchFamily="18" charset="0"/>
              <a:cs typeface="Times New Roman" pitchFamily="18" charset="0"/>
            </a:endParaRPr>
          </a:p>
          <a:p>
            <a:pPr marL="0" indent="0">
              <a:buNone/>
            </a:pPr>
            <a:endParaRPr lang="en-US" sz="2200" dirty="0" smtClean="0">
              <a:latin typeface="Times New Roman" pitchFamily="18" charset="0"/>
              <a:cs typeface="Times New Roman" pitchFamily="18" charset="0"/>
            </a:endParaRPr>
          </a:p>
          <a:p>
            <a:r>
              <a:rPr lang="en-US" sz="2600" dirty="0" err="1" smtClean="0">
                <a:latin typeface="Times New Roman" pitchFamily="18" charset="0"/>
                <a:cs typeface="Times New Roman" pitchFamily="18" charset="0"/>
              </a:rPr>
              <a:t>Tính</a:t>
            </a:r>
            <a:r>
              <a:rPr lang="en-US" sz="2600" dirty="0" smtClean="0">
                <a:latin typeface="Times New Roman" pitchFamily="18" charset="0"/>
                <a:cs typeface="Times New Roman" pitchFamily="18" charset="0"/>
              </a:rPr>
              <a:t> </a:t>
            </a:r>
            <a:r>
              <a:rPr lang="en-US" sz="2600" dirty="0">
                <a:latin typeface="Times New Roman" pitchFamily="18" charset="0"/>
                <a:cs typeface="Times New Roman" pitchFamily="18" charset="0"/>
              </a:rPr>
              <a:t>minh </a:t>
            </a:r>
            <a:r>
              <a:rPr lang="en-US" sz="2600" dirty="0" err="1">
                <a:latin typeface="Times New Roman" pitchFamily="18" charset="0"/>
                <a:cs typeface="Times New Roman" pitchFamily="18" charset="0"/>
              </a:rPr>
              <a:t>bạch</a:t>
            </a:r>
            <a:r>
              <a:rPr lang="en-US" sz="2600" dirty="0">
                <a:latin typeface="Times New Roman" pitchFamily="18" charset="0"/>
                <a:cs typeface="Times New Roman" pitchFamily="18" charset="0"/>
              </a:rPr>
              <a:t>: Minh </a:t>
            </a:r>
            <a:r>
              <a:rPr lang="en-US" sz="2600" dirty="0" err="1">
                <a:latin typeface="Times New Roman" pitchFamily="18" charset="0"/>
                <a:cs typeface="Times New Roman" pitchFamily="18" charset="0"/>
              </a:rPr>
              <a:t>bạch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sẽ</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tạo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thể</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kiểm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soát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lẫn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nhau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tiến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đến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giác</a:t>
            </a:r>
            <a:r>
              <a:rPr lang="en-US" sz="2600" dirty="0" smtClean="0">
                <a:latin typeface="Times New Roman" pitchFamily="18" charset="0"/>
                <a:cs typeface="Times New Roman" pitchFamily="18" charset="0"/>
              </a:rPr>
              <a:t>.</a:t>
            </a:r>
          </a:p>
          <a:p>
            <a:r>
              <a:rPr lang="en-US" sz="2600" dirty="0" err="1">
                <a:latin typeface="Times New Roman" pitchFamily="18" charset="0"/>
                <a:cs typeface="Times New Roman" pitchFamily="18" charset="0"/>
              </a:rPr>
              <a:t>Tính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dự</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báo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trình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đầu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tư</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mới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tái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đầu</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tư</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liên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tục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trong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nền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kinh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đòi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hỏi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phải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có</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một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cơ</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giám</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sát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rủi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hạn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chế</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rủi</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ro</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và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thúc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đẩy</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doanh</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nghiệp</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phát</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triển</a:t>
            </a:r>
            <a:r>
              <a:rPr lang="en-US" sz="2600" dirty="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r>
              <a:rPr lang="en-US" sz="2600" dirty="0" err="1">
                <a:latin typeface="Times New Roman" pitchFamily="18" charset="0"/>
                <a:cs typeface="Times New Roman" pitchFamily="18" charset="0"/>
              </a:rPr>
              <a:t>Năng</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quản</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lý</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nhà</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nước</a:t>
            </a:r>
            <a:r>
              <a:rPr lang="en-US" sz="2600" dirty="0">
                <a:latin typeface="Times New Roman" pitchFamily="18" charset="0"/>
                <a:cs typeface="Times New Roman" pitchFamily="18" charset="0"/>
              </a:rPr>
              <a:t> </a:t>
            </a:r>
            <a:r>
              <a:rPr lang="en-US" sz="2600" dirty="0" smtClean="0">
                <a:latin typeface="Times New Roman" pitchFamily="18" charset="0"/>
                <a:cs typeface="Times New Roman" pitchFamily="18" charset="0"/>
              </a:rPr>
              <a:t>(</a:t>
            </a:r>
            <a:r>
              <a:rPr lang="en-US" sz="2600" dirty="0" err="1" smtClean="0">
                <a:latin typeface="Times New Roman" pitchFamily="18" charset="0"/>
                <a:cs typeface="Times New Roman" pitchFamily="18" charset="0"/>
              </a:rPr>
              <a:t>chính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sách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nên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thiết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kế</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từ</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dướ</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lên</a:t>
            </a:r>
            <a:r>
              <a:rPr lang="en-US" sz="2600" dirty="0" smtClean="0">
                <a:latin typeface="Times New Roman" pitchFamily="18" charset="0"/>
                <a:cs typeface="Times New Roman" pitchFamily="18" charset="0"/>
              </a:rPr>
              <a:t>).</a:t>
            </a:r>
          </a:p>
          <a:p>
            <a:r>
              <a:rPr lang="en-US" sz="2600" dirty="0" err="1" smtClean="0">
                <a:latin typeface="Times New Roman" pitchFamily="18" charset="0"/>
                <a:cs typeface="Times New Roman" pitchFamily="18" charset="0"/>
              </a:rPr>
              <a:t>Năng</a:t>
            </a:r>
            <a:r>
              <a:rPr lang="en-US" sz="2600" dirty="0" smtClean="0">
                <a:latin typeface="Times New Roman" pitchFamily="18" charset="0"/>
                <a:cs typeface="Times New Roman" pitchFamily="18" charset="0"/>
              </a:rPr>
              <a:t> </a:t>
            </a:r>
            <a:r>
              <a:rPr lang="en-US" sz="2600" dirty="0" err="1">
                <a:latin typeface="Times New Roman" pitchFamily="18" charset="0"/>
                <a:cs typeface="Times New Roman" pitchFamily="18" charset="0"/>
              </a:rPr>
              <a:t>lực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của</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các</a:t>
            </a:r>
            <a:r>
              <a:rPr lang="en-US" sz="2600" dirty="0">
                <a:latin typeface="Times New Roman" pitchFamily="18" charset="0"/>
                <a:cs typeface="Times New Roman" pitchFamily="18" charset="0"/>
              </a:rPr>
              <a:t> </a:t>
            </a:r>
            <a:r>
              <a:rPr lang="en-US" sz="2600" dirty="0" err="1">
                <a:latin typeface="Times New Roman" pitchFamily="18" charset="0"/>
                <a:cs typeface="Times New Roman" pitchFamily="18" charset="0"/>
              </a:rPr>
              <a:t>quan</a:t>
            </a:r>
            <a:r>
              <a:rPr lang="en-US" sz="2600" dirty="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chức</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hội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đồng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trung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lập</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tuyển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chọn</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gắt</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gao</a:t>
            </a:r>
            <a:r>
              <a:rPr lang="en-US" sz="2600" dirty="0" smtClean="0">
                <a:latin typeface="Times New Roman" pitchFamily="18" charset="0"/>
                <a:cs typeface="Times New Roman" pitchFamily="18" charset="0"/>
              </a:rPr>
              <a:t>, minh </a:t>
            </a:r>
            <a:r>
              <a:rPr lang="en-US" sz="2600" dirty="0" err="1" smtClean="0">
                <a:latin typeface="Times New Roman" pitchFamily="18" charset="0"/>
                <a:cs typeface="Times New Roman" pitchFamily="18" charset="0"/>
              </a:rPr>
              <a:t>bạch</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công</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khai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chế</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độ</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đãi</a:t>
            </a:r>
            <a:r>
              <a:rPr lang="en-US" sz="2600" dirty="0" smtClean="0">
                <a:latin typeface="Times New Roman" pitchFamily="18" charset="0"/>
                <a:cs typeface="Times New Roman" pitchFamily="18" charset="0"/>
              </a:rPr>
              <a:t> </a:t>
            </a:r>
            <a:r>
              <a:rPr lang="en-US" sz="2600" dirty="0" err="1" smtClean="0">
                <a:latin typeface="Times New Roman" pitchFamily="18" charset="0"/>
                <a:cs typeface="Times New Roman" pitchFamily="18" charset="0"/>
              </a:rPr>
              <a:t>ngộ</a:t>
            </a:r>
            <a:r>
              <a:rPr lang="en-US" sz="2600" dirty="0" smtClean="0">
                <a:latin typeface="Times New Roman" pitchFamily="18" charset="0"/>
                <a:cs typeface="Times New Roman" pitchFamily="18" charset="0"/>
              </a:rPr>
              <a:t>). </a:t>
            </a:r>
          </a:p>
          <a:p>
            <a:pPr marL="0" indent="0">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19</a:t>
            </a:fld>
            <a:endParaRPr lang="en-US"/>
          </a:p>
        </p:txBody>
      </p:sp>
    </p:spTree>
    <p:extLst>
      <p:ext uri="{BB962C8B-B14F-4D97-AF65-F5344CB8AC3E}">
        <p14:creationId xmlns:p14="http://schemas.microsoft.com/office/powerpoint/2010/main" val="3915318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l"/>
            <a:r>
              <a:rPr lang="en-US" sz="3600" b="1" i="1" dirty="0" smtClean="0">
                <a:solidFill>
                  <a:srgbClr val="002060"/>
                </a:solidFill>
                <a:latin typeface="Times New Roman" pitchFamily="18" charset="0"/>
                <a:cs typeface="Times New Roman" pitchFamily="18" charset="0"/>
              </a:rPr>
              <a:t>7.4.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đề</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thể</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chế</a:t>
            </a:r>
            <a:r>
              <a:rPr lang="en-US" sz="3600" b="1" i="1" dirty="0">
                <a:solidFill>
                  <a:srgbClr val="002060"/>
                </a:solidFill>
                <a:latin typeface="Times New Roman" pitchFamily="18" charset="0"/>
                <a:cs typeface="Times New Roman" pitchFamily="18" charset="0"/>
              </a:rPr>
              <a:t> ở </a:t>
            </a:r>
            <a:r>
              <a:rPr lang="en-US" sz="3600" b="1" i="1" dirty="0" err="1">
                <a:solidFill>
                  <a:srgbClr val="002060"/>
                </a:solidFill>
                <a:latin typeface="Times New Roman" pitchFamily="18" charset="0"/>
                <a:cs typeface="Times New Roman" pitchFamily="18" charset="0"/>
              </a:rPr>
              <a:t>Việt</a:t>
            </a:r>
            <a:r>
              <a:rPr lang="en-US" sz="3600" b="1" i="1" dirty="0">
                <a:solidFill>
                  <a:srgbClr val="002060"/>
                </a:solidFill>
                <a:latin typeface="Times New Roman" pitchFamily="18" charset="0"/>
                <a:cs typeface="Times New Roman" pitchFamily="18" charset="0"/>
              </a:rPr>
              <a:t> </a:t>
            </a:r>
            <a:r>
              <a:rPr lang="en-US" sz="3600" b="1" i="1" dirty="0" smtClean="0">
                <a:solidFill>
                  <a:srgbClr val="002060"/>
                </a:solidFill>
                <a:latin typeface="Times New Roman" pitchFamily="18" charset="0"/>
                <a:cs typeface="Times New Roman" pitchFamily="18" charset="0"/>
              </a:rPr>
              <a:t>Nam</a:t>
            </a:r>
            <a:endParaRPr lang="en-US" sz="3600" b="1" i="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152400" y="1600200"/>
            <a:ext cx="8686800" cy="4754563"/>
          </a:xfrm>
        </p:spPr>
        <p:txBody>
          <a:bodyPr>
            <a:normAutofit fontScale="92500" lnSpcReduction="10000"/>
          </a:bodyPr>
          <a:lstStyle/>
          <a:p>
            <a:r>
              <a:rPr lang="en-US" dirty="0" err="1" smtClean="0">
                <a:latin typeface="Times New Roman" pitchFamily="18" charset="0"/>
                <a:cs typeface="Times New Roman" pitchFamily="18" charset="0"/>
              </a:rPr>
              <a:t>Đóng</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góp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minh </a:t>
            </a:r>
            <a:r>
              <a:rPr lang="en-US" dirty="0" err="1" smtClean="0">
                <a:latin typeface="Times New Roman" pitchFamily="18" charset="0"/>
                <a:cs typeface="Times New Roman" pitchFamily="18" charset="0"/>
              </a:rPr>
              <a:t>bạch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với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tham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nhũng</a:t>
            </a:r>
            <a:endParaRPr lang="en-US" dirty="0" smtClean="0">
              <a:latin typeface="Times New Roman" pitchFamily="18" charset="0"/>
              <a:cs typeface="Times New Roman" pitchFamily="18" charset="0"/>
            </a:endParaRPr>
          </a:p>
          <a:p>
            <a:pPr marL="0" indent="0">
              <a:buNone/>
            </a:pPr>
            <a:r>
              <a:rPr lang="en-US" sz="1900" b="1" dirty="0" err="1"/>
              <a:t>Tham</a:t>
            </a:r>
            <a:r>
              <a:rPr lang="en-US" sz="1900" b="1" dirty="0"/>
              <a:t> </a:t>
            </a:r>
            <a:r>
              <a:rPr lang="en-US" sz="1900" b="1" dirty="0" err="1"/>
              <a:t>nhũng</a:t>
            </a:r>
            <a:r>
              <a:rPr lang="en-US" sz="1900" b="1" dirty="0"/>
              <a:t> = (</a:t>
            </a:r>
            <a:r>
              <a:rPr lang="en-US" sz="1900" b="1" dirty="0" err="1"/>
              <a:t>độc</a:t>
            </a:r>
            <a:r>
              <a:rPr lang="en-US" sz="1900" b="1" dirty="0"/>
              <a:t> </a:t>
            </a:r>
            <a:r>
              <a:rPr lang="en-US" sz="1900" b="1" dirty="0" err="1"/>
              <a:t>quyền</a:t>
            </a:r>
            <a:r>
              <a:rPr lang="en-US" sz="1900" b="1" dirty="0"/>
              <a:t> + </a:t>
            </a:r>
            <a:r>
              <a:rPr lang="en-US" sz="1900" b="1" dirty="0" err="1"/>
              <a:t>cửa</a:t>
            </a:r>
            <a:r>
              <a:rPr lang="en-US" sz="1900" b="1" dirty="0"/>
              <a:t> </a:t>
            </a:r>
            <a:r>
              <a:rPr lang="en-US" sz="1900" b="1" dirty="0" err="1"/>
              <a:t>quyền</a:t>
            </a:r>
            <a:r>
              <a:rPr lang="en-US" sz="1900" b="1" dirty="0"/>
              <a:t> – minh </a:t>
            </a:r>
            <a:r>
              <a:rPr lang="en-US" sz="1900" b="1" dirty="0" err="1"/>
              <a:t>bạch</a:t>
            </a:r>
            <a:r>
              <a:rPr lang="en-US" sz="1900" b="1" dirty="0"/>
              <a:t> – </a:t>
            </a:r>
            <a:r>
              <a:rPr lang="en-US" sz="1900" b="1" dirty="0" err="1"/>
              <a:t>trách</a:t>
            </a:r>
            <a:r>
              <a:rPr lang="en-US" sz="1900" b="1" dirty="0"/>
              <a:t> </a:t>
            </a:r>
            <a:r>
              <a:rPr lang="en-US" sz="1900" b="1" dirty="0" err="1"/>
              <a:t>nhiệm</a:t>
            </a:r>
            <a:r>
              <a:rPr lang="en-US" sz="1900" b="1" dirty="0"/>
              <a:t> </a:t>
            </a:r>
            <a:r>
              <a:rPr lang="en-US" sz="1900" b="1" dirty="0" err="1"/>
              <a:t>giải</a:t>
            </a:r>
            <a:r>
              <a:rPr lang="en-US" sz="1900" b="1" dirty="0"/>
              <a:t> </a:t>
            </a:r>
            <a:r>
              <a:rPr lang="en-US" sz="1900" b="1" dirty="0" err="1"/>
              <a:t>trình</a:t>
            </a:r>
            <a:r>
              <a:rPr lang="en-US" sz="1900" b="1" dirty="0"/>
              <a:t>) * </a:t>
            </a:r>
            <a:r>
              <a:rPr lang="en-US" sz="1900" b="1" dirty="0" err="1"/>
              <a:t>thái</a:t>
            </a:r>
            <a:r>
              <a:rPr lang="en-US" sz="1900" b="1" dirty="0"/>
              <a:t> </a:t>
            </a:r>
            <a:r>
              <a:rPr lang="en-US" sz="1900" b="1" dirty="0" err="1"/>
              <a:t>độ</a:t>
            </a:r>
            <a:r>
              <a:rPr lang="en-US" sz="1900" b="1" dirty="0"/>
              <a:t> </a:t>
            </a:r>
            <a:r>
              <a:rPr lang="en-US" sz="1900" b="1" dirty="0" err="1"/>
              <a:t>đối</a:t>
            </a:r>
            <a:r>
              <a:rPr lang="en-US" sz="1900" b="1" dirty="0"/>
              <a:t> </a:t>
            </a:r>
            <a:r>
              <a:rPr lang="en-US" sz="1900" b="1" dirty="0" err="1"/>
              <a:t>với</a:t>
            </a:r>
            <a:r>
              <a:rPr lang="en-US" sz="1900" b="1" dirty="0"/>
              <a:t> </a:t>
            </a:r>
            <a:r>
              <a:rPr lang="en-US" sz="1900" b="1" dirty="0" err="1"/>
              <a:t>tham</a:t>
            </a:r>
            <a:r>
              <a:rPr lang="en-US" sz="1900" b="1" dirty="0"/>
              <a:t> </a:t>
            </a:r>
            <a:r>
              <a:rPr lang="en-US" sz="1900" b="1" dirty="0" err="1"/>
              <a:t>nhũng</a:t>
            </a:r>
            <a:endParaRPr lang="en-US" sz="1900" dirty="0" smtClean="0">
              <a:latin typeface="Times New Roman" pitchFamily="18" charset="0"/>
              <a:cs typeface="Times New Roman" pitchFamily="18" charset="0"/>
            </a:endParaRPr>
          </a:p>
          <a:p>
            <a:r>
              <a:rPr lang="en-US" dirty="0" err="1" smtClean="0">
                <a:latin typeface="Times New Roman" pitchFamily="18" charset="0"/>
                <a:cs typeface="Times New Roman" pitchFamily="18" charset="0"/>
              </a:rPr>
              <a:t>Thể</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chế</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đòi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hỏi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sự</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tham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của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liên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quan</a:t>
            </a:r>
            <a:r>
              <a:rPr lang="en-US" dirty="0" smtClean="0">
                <a:latin typeface="Times New Roman" pitchFamily="18" charset="0"/>
                <a:cs typeface="Times New Roman" pitchFamily="18" charset="0"/>
              </a:rPr>
              <a:t> (participatory institution)</a:t>
            </a:r>
          </a:p>
          <a:p>
            <a:pPr lvl="1"/>
            <a:r>
              <a:rPr lang="en-US" dirty="0" err="1" smtClean="0">
                <a:latin typeface="Times New Roman" pitchFamily="18" charset="0"/>
                <a:cs typeface="Times New Roman" pitchFamily="18" charset="0"/>
              </a:rPr>
              <a:t>Doanh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nghiệp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tham</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thiết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kế</a:t>
            </a:r>
            <a:r>
              <a:rPr lang="en-US" dirty="0" smtClean="0">
                <a:latin typeface="Times New Roman" pitchFamily="18" charset="0"/>
                <a:cs typeface="Times New Roman" pitchFamily="18" charset="0"/>
              </a:rPr>
              <a:t> </a:t>
            </a:r>
          </a:p>
          <a:p>
            <a:pPr lvl="1"/>
            <a:r>
              <a:rPr lang="en-US" dirty="0" err="1" smtClean="0">
                <a:latin typeface="Times New Roman" pitchFamily="18" charset="0"/>
                <a:cs typeface="Times New Roman" pitchFamily="18" charset="0"/>
              </a:rPr>
              <a:t>Phối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hợp</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giữa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các</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bộ</a:t>
            </a:r>
            <a:r>
              <a:rPr lang="en-US" dirty="0" smtClean="0">
                <a:latin typeface="Times New Roman" pitchFamily="18" charset="0"/>
                <a:cs typeface="Times New Roman" pitchFamily="18" charset="0"/>
              </a:rPr>
              <a:t> (inter-ministerial coordination)</a:t>
            </a:r>
          </a:p>
          <a:p>
            <a:pPr marL="0" indent="0">
              <a:buNone/>
            </a:pPr>
            <a:endParaRPr lang="en-US" dirty="0" smtClean="0">
              <a:latin typeface="Times New Roman" pitchFamily="18" charset="0"/>
              <a:cs typeface="Times New Roman" pitchFamily="18" charset="0"/>
            </a:endParaRPr>
          </a:p>
          <a:p>
            <a:r>
              <a:rPr lang="en-US" dirty="0" err="1" smtClean="0">
                <a:latin typeface="Times New Roman" pitchFamily="18" charset="0"/>
                <a:cs typeface="Times New Roman" pitchFamily="18" charset="0"/>
              </a:rPr>
              <a:t>Lãnh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đạo</a:t>
            </a:r>
            <a:endParaRPr lang="en-US" dirty="0" smtClean="0">
              <a:latin typeface="Times New Roman" pitchFamily="18" charset="0"/>
              <a:cs typeface="Times New Roman" pitchFamily="18" charset="0"/>
            </a:endParaRPr>
          </a:p>
          <a:p>
            <a:pPr lvl="1"/>
            <a:r>
              <a:rPr lang="en-US" dirty="0" err="1" smtClean="0">
                <a:latin typeface="Times New Roman" pitchFamily="18" charset="0"/>
                <a:cs typeface="Times New Roman" pitchFamily="18" charset="0"/>
              </a:rPr>
              <a:t>Cơ</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chế</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tuyển</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chọn</a:t>
            </a:r>
            <a:endParaRPr lang="en-US" dirty="0" smtClean="0">
              <a:latin typeface="Times New Roman" pitchFamily="18" charset="0"/>
              <a:cs typeface="Times New Roman" pitchFamily="18" charset="0"/>
            </a:endParaRPr>
          </a:p>
          <a:p>
            <a:pPr lvl="1"/>
            <a:r>
              <a:rPr lang="en-US" dirty="0" err="1" smtClean="0">
                <a:latin typeface="Times New Roman" pitchFamily="18" charset="0"/>
                <a:cs typeface="Times New Roman" pitchFamily="18" charset="0"/>
              </a:rPr>
              <a:t>Đãi</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ngộ</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vật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chất</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và</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tinh</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thần</a:t>
            </a: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20</a:t>
            </a:fld>
            <a:endParaRPr lang="en-US"/>
          </a:p>
        </p:txBody>
      </p:sp>
    </p:spTree>
    <p:extLst>
      <p:ext uri="{BB962C8B-B14F-4D97-AF65-F5344CB8AC3E}">
        <p14:creationId xmlns:p14="http://schemas.microsoft.com/office/powerpoint/2010/main" val="2498828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l"/>
            <a:r>
              <a:rPr lang="en-US" sz="3600" b="1" i="1" dirty="0" smtClean="0">
                <a:solidFill>
                  <a:srgbClr val="002060"/>
                </a:solidFill>
                <a:latin typeface="Times New Roman" pitchFamily="18" charset="0"/>
                <a:cs typeface="Times New Roman" pitchFamily="18" charset="0"/>
              </a:rPr>
              <a:t>7.4.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đề</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thể</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chế</a:t>
            </a:r>
            <a:r>
              <a:rPr lang="en-US" sz="3600" b="1" i="1" dirty="0">
                <a:solidFill>
                  <a:srgbClr val="002060"/>
                </a:solidFill>
                <a:latin typeface="Times New Roman" pitchFamily="18" charset="0"/>
                <a:cs typeface="Times New Roman" pitchFamily="18" charset="0"/>
              </a:rPr>
              <a:t> ở </a:t>
            </a:r>
            <a:r>
              <a:rPr lang="en-US" sz="3600" b="1" i="1" dirty="0" err="1">
                <a:solidFill>
                  <a:srgbClr val="002060"/>
                </a:solidFill>
                <a:latin typeface="Times New Roman" pitchFamily="18" charset="0"/>
                <a:cs typeface="Times New Roman" pitchFamily="18" charset="0"/>
              </a:rPr>
              <a:t>Việt</a:t>
            </a:r>
            <a:r>
              <a:rPr lang="en-US" sz="3600" b="1" i="1" dirty="0">
                <a:solidFill>
                  <a:srgbClr val="002060"/>
                </a:solidFill>
                <a:latin typeface="Times New Roman" pitchFamily="18" charset="0"/>
                <a:cs typeface="Times New Roman" pitchFamily="18" charset="0"/>
              </a:rPr>
              <a:t> </a:t>
            </a:r>
            <a:r>
              <a:rPr lang="en-US" sz="3600" b="1" i="1" dirty="0" smtClean="0">
                <a:solidFill>
                  <a:srgbClr val="002060"/>
                </a:solidFill>
                <a:latin typeface="Times New Roman" pitchFamily="18" charset="0"/>
                <a:cs typeface="Times New Roman" pitchFamily="18" charset="0"/>
              </a:rPr>
              <a:t>Nam</a:t>
            </a:r>
            <a:endParaRPr lang="en-US" sz="3600" b="1" i="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600200"/>
            <a:ext cx="8534400" cy="4754563"/>
          </a:xfrm>
        </p:spPr>
        <p:txBody>
          <a:bodyPr>
            <a:normAutofit/>
          </a:bodyPr>
          <a:lstStyle/>
          <a:p>
            <a:r>
              <a:rPr lang="en-US" sz="2400" dirty="0" err="1"/>
              <a:t>Các</a:t>
            </a:r>
            <a:r>
              <a:rPr lang="en-US" sz="2400" dirty="0"/>
              <a:t> </a:t>
            </a:r>
            <a:r>
              <a:rPr lang="en-US" sz="2400" dirty="0" err="1"/>
              <a:t>vị</a:t>
            </a:r>
            <a:r>
              <a:rPr lang="en-US" sz="2400" dirty="0"/>
              <a:t> </a:t>
            </a:r>
            <a:r>
              <a:rPr lang="en-US" sz="2400" dirty="0" err="1"/>
              <a:t>đứng</a:t>
            </a:r>
            <a:r>
              <a:rPr lang="en-US" sz="2400" dirty="0"/>
              <a:t> </a:t>
            </a:r>
            <a:r>
              <a:rPr lang="en-US" sz="2400" dirty="0" err="1"/>
              <a:t>đầu</a:t>
            </a:r>
            <a:r>
              <a:rPr lang="en-US" sz="2400" dirty="0"/>
              <a:t> </a:t>
            </a:r>
            <a:r>
              <a:rPr lang="en-US" sz="2400" dirty="0" err="1"/>
              <a:t>doanh</a:t>
            </a:r>
            <a:r>
              <a:rPr lang="en-US" sz="2400" dirty="0"/>
              <a:t> </a:t>
            </a:r>
            <a:r>
              <a:rPr lang="en-US" sz="2400" dirty="0" err="1"/>
              <a:t>nghiệp</a:t>
            </a:r>
            <a:r>
              <a:rPr lang="en-US" sz="2400" dirty="0"/>
              <a:t> </a:t>
            </a:r>
            <a:r>
              <a:rPr lang="en-US" sz="2400" dirty="0" err="1"/>
              <a:t>nhà</a:t>
            </a:r>
            <a:r>
              <a:rPr lang="en-US" sz="2400" dirty="0"/>
              <a:t> </a:t>
            </a:r>
            <a:r>
              <a:rPr lang="en-US" sz="2400" dirty="0" err="1"/>
              <a:t>nước</a:t>
            </a:r>
            <a:r>
              <a:rPr lang="en-US" sz="2400" dirty="0"/>
              <a:t> hay </a:t>
            </a:r>
            <a:r>
              <a:rPr lang="en-US" sz="2400" dirty="0" err="1"/>
              <a:t>xí</a:t>
            </a:r>
            <a:r>
              <a:rPr lang="en-US" sz="2400" dirty="0"/>
              <a:t> </a:t>
            </a:r>
            <a:r>
              <a:rPr lang="en-US" sz="2400" dirty="0" err="1"/>
              <a:t>nghiệp</a:t>
            </a:r>
            <a:r>
              <a:rPr lang="en-US" sz="2400" dirty="0"/>
              <a:t> </a:t>
            </a:r>
            <a:r>
              <a:rPr lang="en-US" sz="2400" dirty="0" err="1"/>
              <a:t>quốc</a:t>
            </a:r>
            <a:r>
              <a:rPr lang="en-US" sz="2400" dirty="0"/>
              <a:t> </a:t>
            </a:r>
            <a:r>
              <a:rPr lang="en-US" sz="2400" dirty="0" err="1"/>
              <a:t>doanh</a:t>
            </a:r>
            <a:r>
              <a:rPr lang="en-US" sz="2400" dirty="0"/>
              <a:t>, </a:t>
            </a:r>
            <a:r>
              <a:rPr lang="en-US" sz="2400" dirty="0" err="1"/>
              <a:t>thường</a:t>
            </a:r>
            <a:r>
              <a:rPr lang="en-US" sz="2400" dirty="0"/>
              <a:t> </a:t>
            </a:r>
            <a:r>
              <a:rPr lang="en-US" sz="2400" dirty="0" err="1"/>
              <a:t>là</a:t>
            </a:r>
            <a:r>
              <a:rPr lang="en-US" sz="2400" dirty="0"/>
              <a:t> </a:t>
            </a:r>
            <a:r>
              <a:rPr lang="en-US" sz="2400" dirty="0" err="1"/>
              <a:t>các</a:t>
            </a:r>
            <a:r>
              <a:rPr lang="en-US" sz="2400" dirty="0"/>
              <a:t> </a:t>
            </a:r>
            <a:r>
              <a:rPr lang="en-US" sz="2400" dirty="0" err="1"/>
              <a:t>công</a:t>
            </a:r>
            <a:r>
              <a:rPr lang="en-US" sz="2400" dirty="0"/>
              <a:t> </a:t>
            </a:r>
            <a:r>
              <a:rPr lang="en-US" sz="2400" dirty="0" err="1"/>
              <a:t>chức</a:t>
            </a:r>
            <a:r>
              <a:rPr lang="en-US" sz="2400" dirty="0"/>
              <a:t> do </a:t>
            </a:r>
            <a:r>
              <a:rPr lang="en-US" sz="2400" dirty="0" err="1"/>
              <a:t>các</a:t>
            </a:r>
            <a:r>
              <a:rPr lang="en-US" sz="2400" dirty="0"/>
              <a:t> </a:t>
            </a:r>
            <a:r>
              <a:rPr lang="en-US" sz="2400" dirty="0" err="1"/>
              <a:t>chính</a:t>
            </a:r>
            <a:r>
              <a:rPr lang="en-US" sz="2400" dirty="0"/>
              <a:t> </a:t>
            </a:r>
            <a:r>
              <a:rPr lang="en-US" sz="2400" dirty="0" err="1"/>
              <a:t>trị</a:t>
            </a:r>
            <a:r>
              <a:rPr lang="en-US" sz="2400" dirty="0"/>
              <a:t> </a:t>
            </a:r>
            <a:r>
              <a:rPr lang="en-US" sz="2400" dirty="0" err="1"/>
              <a:t>gia</a:t>
            </a:r>
            <a:r>
              <a:rPr lang="en-US" sz="2400" dirty="0"/>
              <a:t> </a:t>
            </a:r>
            <a:r>
              <a:rPr lang="en-US" sz="2400" dirty="0" err="1"/>
              <a:t>bổ</a:t>
            </a:r>
            <a:r>
              <a:rPr lang="en-US" sz="2400" dirty="0"/>
              <a:t> </a:t>
            </a:r>
            <a:r>
              <a:rPr lang="en-US" sz="2400" dirty="0" err="1" smtClean="0"/>
              <a:t>nhiệm</a:t>
            </a:r>
            <a:r>
              <a:rPr lang="en-US" sz="2400" dirty="0" smtClean="0"/>
              <a:t>. </a:t>
            </a:r>
            <a:r>
              <a:rPr lang="en-US" sz="2400" dirty="0" err="1" smtClean="0"/>
              <a:t>Trong</a:t>
            </a:r>
            <a:r>
              <a:rPr lang="en-US" sz="2400" dirty="0" smtClean="0"/>
              <a:t> </a:t>
            </a:r>
            <a:r>
              <a:rPr lang="en-US" sz="2400" dirty="0" err="1"/>
              <a:t>khi</a:t>
            </a:r>
            <a:r>
              <a:rPr lang="en-US" sz="2400" dirty="0"/>
              <a:t> </a:t>
            </a:r>
            <a:r>
              <a:rPr lang="en-US" sz="2400" dirty="0" err="1"/>
              <a:t>đó</a:t>
            </a:r>
            <a:r>
              <a:rPr lang="en-US" sz="2400" dirty="0"/>
              <a:t> </a:t>
            </a:r>
            <a:r>
              <a:rPr lang="en-US" sz="2400" dirty="0" err="1"/>
              <a:t>thì</a:t>
            </a:r>
            <a:r>
              <a:rPr lang="en-US" sz="2400" dirty="0"/>
              <a:t> </a:t>
            </a:r>
            <a:r>
              <a:rPr lang="en-US" sz="2400" dirty="0" err="1"/>
              <a:t>doanh</a:t>
            </a:r>
            <a:r>
              <a:rPr lang="en-US" sz="2400" dirty="0"/>
              <a:t> </a:t>
            </a:r>
            <a:r>
              <a:rPr lang="en-US" sz="2400" dirty="0" err="1"/>
              <a:t>nghiệp</a:t>
            </a:r>
            <a:r>
              <a:rPr lang="en-US" sz="2400" dirty="0"/>
              <a:t> </a:t>
            </a:r>
            <a:r>
              <a:rPr lang="en-US" sz="2400" dirty="0" err="1"/>
              <a:t>cần</a:t>
            </a:r>
            <a:r>
              <a:rPr lang="en-US" sz="2400" dirty="0"/>
              <a:t> </a:t>
            </a:r>
            <a:r>
              <a:rPr lang="en-US" sz="2400" dirty="0" err="1"/>
              <a:t>những</a:t>
            </a:r>
            <a:r>
              <a:rPr lang="en-US" sz="2400" dirty="0"/>
              <a:t> </a:t>
            </a:r>
            <a:r>
              <a:rPr lang="en-US" sz="2400" dirty="0" err="1"/>
              <a:t>cái</a:t>
            </a:r>
            <a:r>
              <a:rPr lang="en-US" sz="2400" dirty="0"/>
              <a:t> </a:t>
            </a:r>
            <a:r>
              <a:rPr lang="en-US" sz="2400" dirty="0" err="1"/>
              <a:t>đầu</a:t>
            </a:r>
            <a:r>
              <a:rPr lang="en-US" sz="2400" dirty="0"/>
              <a:t> </a:t>
            </a:r>
            <a:r>
              <a:rPr lang="en-US" sz="2400" dirty="0" err="1"/>
              <a:t>có</a:t>
            </a:r>
            <a:r>
              <a:rPr lang="en-US" sz="2400" dirty="0"/>
              <a:t> </a:t>
            </a:r>
            <a:r>
              <a:rPr lang="en-US" sz="2400" dirty="0" err="1"/>
              <a:t>tinh</a:t>
            </a:r>
            <a:r>
              <a:rPr lang="en-US" sz="2400" dirty="0"/>
              <a:t> </a:t>
            </a:r>
            <a:r>
              <a:rPr lang="en-US" sz="2400" dirty="0" err="1"/>
              <a:t>thần</a:t>
            </a:r>
            <a:r>
              <a:rPr lang="en-US" sz="2400" dirty="0"/>
              <a:t> </a:t>
            </a:r>
            <a:r>
              <a:rPr lang="en-US" sz="2400" dirty="0" err="1"/>
              <a:t>doanh</a:t>
            </a:r>
            <a:r>
              <a:rPr lang="en-US" sz="2400" dirty="0"/>
              <a:t> </a:t>
            </a:r>
            <a:r>
              <a:rPr lang="en-US" sz="2400" dirty="0" err="1"/>
              <a:t>nhân</a:t>
            </a:r>
            <a:r>
              <a:rPr lang="en-US" sz="2400" dirty="0"/>
              <a:t>, </a:t>
            </a:r>
            <a:r>
              <a:rPr lang="en-US" sz="2400" dirty="0" err="1"/>
              <a:t>có</a:t>
            </a:r>
            <a:r>
              <a:rPr lang="en-US" sz="2400" dirty="0"/>
              <a:t> </a:t>
            </a:r>
            <a:r>
              <a:rPr lang="en-US" sz="2400" dirty="0" err="1"/>
              <a:t>tầm</a:t>
            </a:r>
            <a:r>
              <a:rPr lang="en-US" sz="2400" dirty="0"/>
              <a:t> </a:t>
            </a:r>
            <a:r>
              <a:rPr lang="en-US" sz="2400" dirty="0" err="1"/>
              <a:t>nhìn</a:t>
            </a:r>
            <a:r>
              <a:rPr lang="en-US" sz="2400" dirty="0"/>
              <a:t>, </a:t>
            </a:r>
            <a:r>
              <a:rPr lang="en-US" sz="2400" dirty="0" err="1"/>
              <a:t>chấp</a:t>
            </a:r>
            <a:r>
              <a:rPr lang="en-US" sz="2400" dirty="0"/>
              <a:t> </a:t>
            </a:r>
            <a:r>
              <a:rPr lang="en-US" sz="2400" dirty="0" err="1"/>
              <a:t>nhận</a:t>
            </a:r>
            <a:r>
              <a:rPr lang="en-US" sz="2400" dirty="0"/>
              <a:t> </a:t>
            </a:r>
            <a:r>
              <a:rPr lang="en-US" sz="2400" dirty="0" err="1"/>
              <a:t>rủi</a:t>
            </a:r>
            <a:r>
              <a:rPr lang="en-US" sz="2400" dirty="0"/>
              <a:t> </a:t>
            </a:r>
            <a:r>
              <a:rPr lang="en-US" sz="2400" dirty="0" err="1"/>
              <a:t>ro</a:t>
            </a:r>
            <a:r>
              <a:rPr lang="en-US" sz="2400" dirty="0"/>
              <a:t> </a:t>
            </a:r>
            <a:r>
              <a:rPr lang="en-US" sz="2400" dirty="0" err="1"/>
              <a:t>và</a:t>
            </a:r>
            <a:r>
              <a:rPr lang="en-US" sz="2400" dirty="0"/>
              <a:t> </a:t>
            </a:r>
            <a:r>
              <a:rPr lang="en-US" sz="2400" dirty="0" err="1"/>
              <a:t>thay</a:t>
            </a:r>
            <a:r>
              <a:rPr lang="en-US" sz="2400" dirty="0"/>
              <a:t> </a:t>
            </a:r>
            <a:r>
              <a:rPr lang="en-US" sz="2400" dirty="0" err="1"/>
              <a:t>đổi</a:t>
            </a:r>
            <a:r>
              <a:rPr lang="en-US" sz="2400" dirty="0"/>
              <a:t> </a:t>
            </a:r>
            <a:r>
              <a:rPr lang="en-US" sz="2400" dirty="0" err="1"/>
              <a:t>thích</a:t>
            </a:r>
            <a:r>
              <a:rPr lang="en-US" sz="2400" dirty="0"/>
              <a:t> </a:t>
            </a:r>
            <a:r>
              <a:rPr lang="en-US" sz="2400" dirty="0" err="1"/>
              <a:t>ứng</a:t>
            </a:r>
            <a:r>
              <a:rPr lang="en-US" sz="2400" dirty="0"/>
              <a:t> </a:t>
            </a:r>
            <a:r>
              <a:rPr lang="en-US" sz="2400" dirty="0" err="1"/>
              <a:t>với</a:t>
            </a:r>
            <a:r>
              <a:rPr lang="en-US" sz="2400" dirty="0"/>
              <a:t> </a:t>
            </a:r>
            <a:r>
              <a:rPr lang="en-US" sz="2400" dirty="0" err="1"/>
              <a:t>cạnh</a:t>
            </a:r>
            <a:r>
              <a:rPr lang="en-US" sz="2400" dirty="0"/>
              <a:t> </a:t>
            </a:r>
            <a:r>
              <a:rPr lang="en-US" sz="2400" dirty="0" err="1"/>
              <a:t>tranh</a:t>
            </a:r>
            <a:r>
              <a:rPr lang="en-US" sz="2400" dirty="0"/>
              <a:t>, </a:t>
            </a:r>
            <a:r>
              <a:rPr lang="en-US" sz="2400" dirty="0" err="1"/>
              <a:t>hội</a:t>
            </a:r>
            <a:r>
              <a:rPr lang="en-US" sz="2400" dirty="0"/>
              <a:t> </a:t>
            </a:r>
            <a:r>
              <a:rPr lang="en-US" sz="2400" dirty="0" err="1"/>
              <a:t>nhập</a:t>
            </a:r>
            <a:r>
              <a:rPr lang="en-US" sz="2400" dirty="0"/>
              <a:t> </a:t>
            </a:r>
            <a:r>
              <a:rPr lang="en-US" sz="2400" dirty="0" err="1"/>
              <a:t>và</a:t>
            </a:r>
            <a:r>
              <a:rPr lang="en-US" sz="2400" dirty="0"/>
              <a:t> </a:t>
            </a:r>
            <a:r>
              <a:rPr lang="en-US" sz="2400" dirty="0" err="1"/>
              <a:t>toàn</a:t>
            </a:r>
            <a:r>
              <a:rPr lang="en-US" sz="2400" dirty="0"/>
              <a:t> </a:t>
            </a:r>
            <a:r>
              <a:rPr lang="en-US" sz="2400" dirty="0" err="1"/>
              <a:t>cầu</a:t>
            </a:r>
            <a:r>
              <a:rPr lang="en-US" sz="2400" dirty="0"/>
              <a:t> </a:t>
            </a:r>
            <a:r>
              <a:rPr lang="en-US" sz="2400" dirty="0" err="1"/>
              <a:t>hóa</a:t>
            </a:r>
            <a:r>
              <a:rPr lang="en-US" sz="2400" dirty="0"/>
              <a:t>; </a:t>
            </a:r>
            <a:endParaRPr lang="en-US" sz="2400" dirty="0" smtClean="0"/>
          </a:p>
          <a:p>
            <a:r>
              <a:rPr lang="en-US" sz="2400" dirty="0" err="1"/>
              <a:t>Cần</a:t>
            </a:r>
            <a:r>
              <a:rPr lang="en-US" sz="2400" dirty="0"/>
              <a:t> </a:t>
            </a:r>
            <a:r>
              <a:rPr lang="en-US" sz="2400" dirty="0" err="1"/>
              <a:t>phân</a:t>
            </a:r>
            <a:r>
              <a:rPr lang="en-US" sz="2400" dirty="0"/>
              <a:t> </a:t>
            </a:r>
            <a:r>
              <a:rPr lang="en-US" sz="2400" dirty="0" err="1"/>
              <a:t>định</a:t>
            </a:r>
            <a:r>
              <a:rPr lang="en-US" sz="2400" dirty="0"/>
              <a:t> </a:t>
            </a:r>
            <a:r>
              <a:rPr lang="en-US" sz="2400" dirty="0" err="1"/>
              <a:t>rõ</a:t>
            </a:r>
            <a:r>
              <a:rPr lang="en-US" sz="2400" dirty="0"/>
              <a:t> </a:t>
            </a:r>
            <a:r>
              <a:rPr lang="en-US" sz="2400" dirty="0" err="1"/>
              <a:t>người</a:t>
            </a:r>
            <a:r>
              <a:rPr lang="en-US" sz="2400" dirty="0"/>
              <a:t> </a:t>
            </a:r>
            <a:r>
              <a:rPr lang="en-US" sz="2400" dirty="0" err="1"/>
              <a:t>làm</a:t>
            </a:r>
            <a:r>
              <a:rPr lang="en-US" sz="2400" dirty="0"/>
              <a:t> </a:t>
            </a:r>
            <a:r>
              <a:rPr lang="en-US" sz="2400" dirty="0" err="1"/>
              <a:t>chức</a:t>
            </a:r>
            <a:r>
              <a:rPr lang="en-US" sz="2400" dirty="0"/>
              <a:t> </a:t>
            </a:r>
            <a:r>
              <a:rPr lang="en-US" sz="2400" dirty="0" err="1"/>
              <a:t>năng</a:t>
            </a:r>
            <a:r>
              <a:rPr lang="en-US" sz="2400" dirty="0"/>
              <a:t> </a:t>
            </a:r>
            <a:r>
              <a:rPr lang="en-US" sz="2400" dirty="0" err="1"/>
              <a:t>hành</a:t>
            </a:r>
            <a:r>
              <a:rPr lang="en-US" sz="2400" dirty="0"/>
              <a:t> </a:t>
            </a:r>
            <a:r>
              <a:rPr lang="en-US" sz="2400" dirty="0" err="1"/>
              <a:t>chính</a:t>
            </a:r>
            <a:r>
              <a:rPr lang="en-US" sz="2400" dirty="0"/>
              <a:t>, </a:t>
            </a:r>
            <a:r>
              <a:rPr lang="en-US" sz="2400" dirty="0" err="1"/>
              <a:t>người</a:t>
            </a:r>
            <a:r>
              <a:rPr lang="en-US" sz="2400" dirty="0"/>
              <a:t> </a:t>
            </a:r>
            <a:r>
              <a:rPr lang="en-US" sz="2400" dirty="0" err="1"/>
              <a:t>làm</a:t>
            </a:r>
            <a:r>
              <a:rPr lang="en-US" sz="2400" dirty="0"/>
              <a:t> </a:t>
            </a:r>
            <a:r>
              <a:rPr lang="en-US" sz="2400" dirty="0" err="1"/>
              <a:t>chức</a:t>
            </a:r>
            <a:r>
              <a:rPr lang="en-US" sz="2400" dirty="0"/>
              <a:t> </a:t>
            </a:r>
            <a:r>
              <a:rPr lang="en-US" sz="2400" dirty="0" err="1"/>
              <a:t>năng</a:t>
            </a:r>
            <a:r>
              <a:rPr lang="en-US" sz="2400" dirty="0"/>
              <a:t> </a:t>
            </a:r>
            <a:r>
              <a:rPr lang="en-US" sz="2400" dirty="0" err="1"/>
              <a:t>chính</a:t>
            </a:r>
            <a:r>
              <a:rPr lang="en-US" sz="2400" dirty="0"/>
              <a:t> </a:t>
            </a:r>
            <a:r>
              <a:rPr lang="en-US" sz="2400" dirty="0" err="1"/>
              <a:t>trị</a:t>
            </a:r>
            <a:r>
              <a:rPr lang="en-US" sz="2400" dirty="0"/>
              <a:t> </a:t>
            </a:r>
            <a:r>
              <a:rPr lang="en-US" sz="2400" dirty="0" err="1"/>
              <a:t>và</a:t>
            </a:r>
            <a:r>
              <a:rPr lang="en-US" sz="2400" dirty="0"/>
              <a:t> </a:t>
            </a:r>
            <a:r>
              <a:rPr lang="en-US" sz="2400" dirty="0" err="1"/>
              <a:t>người</a:t>
            </a:r>
            <a:r>
              <a:rPr lang="en-US" sz="2400" dirty="0"/>
              <a:t> </a:t>
            </a:r>
            <a:r>
              <a:rPr lang="en-US" sz="2400" dirty="0" err="1"/>
              <a:t>làm</a:t>
            </a:r>
            <a:r>
              <a:rPr lang="en-US" sz="2400" dirty="0"/>
              <a:t> </a:t>
            </a:r>
            <a:r>
              <a:rPr lang="en-US" sz="2400" dirty="0" err="1"/>
              <a:t>chức</a:t>
            </a:r>
            <a:r>
              <a:rPr lang="en-US" sz="2400" dirty="0"/>
              <a:t> </a:t>
            </a:r>
            <a:r>
              <a:rPr lang="en-US" sz="2400" dirty="0" err="1"/>
              <a:t>năng</a:t>
            </a:r>
            <a:r>
              <a:rPr lang="en-US" sz="2400" dirty="0"/>
              <a:t> </a:t>
            </a:r>
            <a:r>
              <a:rPr lang="en-US" sz="2400" dirty="0" err="1"/>
              <a:t>doanh</a:t>
            </a:r>
            <a:r>
              <a:rPr lang="en-US" sz="2400" dirty="0"/>
              <a:t> </a:t>
            </a:r>
            <a:r>
              <a:rPr lang="en-US" sz="2400" dirty="0" err="1" smtClean="0"/>
              <a:t>nghiệp</a:t>
            </a:r>
            <a:r>
              <a:rPr lang="en-US" sz="2400" dirty="0" smtClean="0"/>
              <a:t>;</a:t>
            </a:r>
          </a:p>
          <a:p>
            <a:r>
              <a:rPr lang="en-US" sz="2400" dirty="0" err="1"/>
              <a:t>Tránh</a:t>
            </a:r>
            <a:r>
              <a:rPr lang="en-US" sz="2400" dirty="0"/>
              <a:t> </a:t>
            </a:r>
            <a:r>
              <a:rPr lang="en-US" sz="2400" dirty="0" err="1"/>
              <a:t>quy</a:t>
            </a:r>
            <a:r>
              <a:rPr lang="en-US" sz="2400" dirty="0"/>
              <a:t> </a:t>
            </a:r>
            <a:r>
              <a:rPr lang="en-US" sz="2400" dirty="0" err="1"/>
              <a:t>hoạch</a:t>
            </a:r>
            <a:r>
              <a:rPr lang="en-US" sz="2400" dirty="0"/>
              <a:t> </a:t>
            </a:r>
            <a:r>
              <a:rPr lang="en-US" sz="2400" dirty="0" err="1"/>
              <a:t>cán</a:t>
            </a:r>
            <a:r>
              <a:rPr lang="en-US" sz="2400" dirty="0"/>
              <a:t> </a:t>
            </a:r>
            <a:r>
              <a:rPr lang="en-US" sz="2400" dirty="0" err="1"/>
              <a:t>bộ</a:t>
            </a:r>
            <a:r>
              <a:rPr lang="en-US" sz="2400" dirty="0"/>
              <a:t> </a:t>
            </a:r>
            <a:r>
              <a:rPr lang="en-US" sz="2400" dirty="0" err="1"/>
              <a:t>trước</a:t>
            </a:r>
            <a:r>
              <a:rPr lang="en-US" sz="2400" dirty="0"/>
              <a:t> </a:t>
            </a:r>
            <a:r>
              <a:rPr lang="en-US" sz="2400" dirty="0" err="1"/>
              <a:t>vì</a:t>
            </a:r>
            <a:r>
              <a:rPr lang="en-US" sz="2400" dirty="0"/>
              <a:t> </a:t>
            </a:r>
            <a:r>
              <a:rPr lang="en-US" sz="2400" dirty="0" err="1"/>
              <a:t>tạo</a:t>
            </a:r>
            <a:r>
              <a:rPr lang="en-US" sz="2400" dirty="0"/>
              <a:t> </a:t>
            </a:r>
            <a:r>
              <a:rPr lang="en-US" sz="2400" dirty="0" err="1"/>
              <a:t>tâm</a:t>
            </a:r>
            <a:r>
              <a:rPr lang="en-US" sz="2400" dirty="0"/>
              <a:t> </a:t>
            </a:r>
            <a:r>
              <a:rPr lang="en-US" sz="2400" dirty="0" err="1"/>
              <a:t>lý</a:t>
            </a:r>
            <a:r>
              <a:rPr lang="en-US" sz="2400" dirty="0"/>
              <a:t> ỷ </a:t>
            </a:r>
            <a:r>
              <a:rPr lang="en-US" sz="2400" dirty="0" err="1"/>
              <a:t>lại</a:t>
            </a:r>
            <a:r>
              <a:rPr lang="en-US" sz="2400" dirty="0"/>
              <a:t>, </a:t>
            </a:r>
            <a:r>
              <a:rPr lang="en-US" sz="2400" dirty="0" err="1"/>
              <a:t>tạo</a:t>
            </a:r>
            <a:r>
              <a:rPr lang="en-US" sz="2400" dirty="0"/>
              <a:t> </a:t>
            </a:r>
            <a:r>
              <a:rPr lang="en-US" sz="2400" dirty="0" err="1"/>
              <a:t>thị</a:t>
            </a:r>
            <a:r>
              <a:rPr lang="en-US" sz="2400" dirty="0"/>
              <a:t> </a:t>
            </a:r>
            <a:r>
              <a:rPr lang="en-US" sz="2400" dirty="0" err="1"/>
              <a:t>trường</a:t>
            </a:r>
            <a:r>
              <a:rPr lang="en-US" sz="2400" dirty="0"/>
              <a:t> </a:t>
            </a:r>
            <a:r>
              <a:rPr lang="en-US" sz="2400" dirty="0" err="1"/>
              <a:t>ngầm</a:t>
            </a:r>
            <a:r>
              <a:rPr lang="en-US" sz="2400" dirty="0"/>
              <a:t> </a:t>
            </a:r>
            <a:r>
              <a:rPr lang="en-US" sz="2400" dirty="0" err="1"/>
              <a:t>quyền</a:t>
            </a:r>
            <a:r>
              <a:rPr lang="en-US" sz="2400" dirty="0"/>
              <a:t> </a:t>
            </a:r>
            <a:r>
              <a:rPr lang="en-US" sz="2400" dirty="0" err="1"/>
              <a:t>chọn</a:t>
            </a:r>
            <a:r>
              <a:rPr lang="en-US" sz="2400" dirty="0"/>
              <a:t> </a:t>
            </a:r>
            <a:r>
              <a:rPr lang="en-US" sz="2400" dirty="0" err="1"/>
              <a:t>về</a:t>
            </a:r>
            <a:r>
              <a:rPr lang="en-US" sz="2400" dirty="0"/>
              <a:t> </a:t>
            </a:r>
            <a:r>
              <a:rPr lang="en-US" sz="2400" dirty="0" err="1"/>
              <a:t>lao</a:t>
            </a:r>
            <a:r>
              <a:rPr lang="en-US" sz="2400" dirty="0"/>
              <a:t> </a:t>
            </a:r>
            <a:r>
              <a:rPr lang="en-US" sz="2400" dirty="0" err="1"/>
              <a:t>động</a:t>
            </a:r>
            <a:r>
              <a:rPr lang="en-US" sz="2400" dirty="0"/>
              <a:t> </a:t>
            </a:r>
            <a:r>
              <a:rPr lang="en-US" sz="2400" dirty="0" err="1"/>
              <a:t>cấp</a:t>
            </a:r>
            <a:r>
              <a:rPr lang="en-US" sz="2400" dirty="0"/>
              <a:t> </a:t>
            </a:r>
            <a:r>
              <a:rPr lang="en-US" sz="2400" dirty="0" err="1"/>
              <a:t>cao</a:t>
            </a:r>
            <a:r>
              <a:rPr lang="en-US" sz="2400" dirty="0"/>
              <a:t>, </a:t>
            </a:r>
            <a:r>
              <a:rPr lang="en-US" sz="2400" dirty="0" err="1"/>
              <a:t>cũng</a:t>
            </a:r>
            <a:r>
              <a:rPr lang="en-US" sz="2400" dirty="0"/>
              <a:t> </a:t>
            </a:r>
            <a:r>
              <a:rPr lang="en-US" sz="2400" dirty="0" err="1"/>
              <a:t>như</a:t>
            </a:r>
            <a:r>
              <a:rPr lang="en-US" sz="2400" dirty="0"/>
              <a:t> </a:t>
            </a:r>
            <a:r>
              <a:rPr lang="en-US" sz="2400" dirty="0" err="1"/>
              <a:t>ảnh</a:t>
            </a:r>
            <a:r>
              <a:rPr lang="en-US" sz="2400" dirty="0"/>
              <a:t> </a:t>
            </a:r>
            <a:r>
              <a:rPr lang="en-US" sz="2400" dirty="0" err="1"/>
              <a:t>hưởng</a:t>
            </a:r>
            <a:r>
              <a:rPr lang="en-US" sz="2400" dirty="0"/>
              <a:t> </a:t>
            </a:r>
            <a:r>
              <a:rPr lang="en-US" sz="2400" dirty="0" err="1"/>
              <a:t>tâm</a:t>
            </a:r>
            <a:r>
              <a:rPr lang="en-US" sz="2400" dirty="0"/>
              <a:t> </a:t>
            </a:r>
            <a:r>
              <a:rPr lang="en-US" sz="2400" dirty="0" err="1"/>
              <a:t>lý</a:t>
            </a:r>
            <a:r>
              <a:rPr lang="en-US" sz="2400" dirty="0"/>
              <a:t> </a:t>
            </a:r>
            <a:r>
              <a:rPr lang="en-US" sz="2400" dirty="0" err="1"/>
              <a:t>nặng</a:t>
            </a:r>
            <a:r>
              <a:rPr lang="en-US" sz="2400" dirty="0"/>
              <a:t> </a:t>
            </a:r>
            <a:r>
              <a:rPr lang="en-US" sz="2400" dirty="0" err="1"/>
              <a:t>nề</a:t>
            </a:r>
            <a:r>
              <a:rPr lang="en-US" sz="2400" dirty="0"/>
              <a:t> </a:t>
            </a:r>
            <a:r>
              <a:rPr lang="en-US" sz="2400" dirty="0" err="1"/>
              <a:t>cho</a:t>
            </a:r>
            <a:r>
              <a:rPr lang="en-US" sz="2400" dirty="0"/>
              <a:t> </a:t>
            </a:r>
            <a:r>
              <a:rPr lang="en-US" sz="2400" dirty="0" err="1"/>
              <a:t>các</a:t>
            </a:r>
            <a:r>
              <a:rPr lang="en-US" sz="2400" dirty="0"/>
              <a:t> </a:t>
            </a:r>
            <a:r>
              <a:rPr lang="en-US" sz="2400" dirty="0" err="1"/>
              <a:t>cố</a:t>
            </a:r>
            <a:r>
              <a:rPr lang="en-US" sz="2400" dirty="0"/>
              <a:t> </a:t>
            </a:r>
            <a:r>
              <a:rPr lang="en-US" sz="2400" dirty="0" err="1"/>
              <a:t>gắng</a:t>
            </a:r>
            <a:r>
              <a:rPr lang="en-US" sz="2400" dirty="0"/>
              <a:t> </a:t>
            </a:r>
            <a:r>
              <a:rPr lang="en-US" sz="2400" dirty="0" err="1"/>
              <a:t>của</a:t>
            </a:r>
            <a:r>
              <a:rPr lang="en-US" sz="2400" dirty="0"/>
              <a:t> </a:t>
            </a:r>
            <a:r>
              <a:rPr lang="en-US" sz="2400" dirty="0" err="1"/>
              <a:t>các</a:t>
            </a:r>
            <a:r>
              <a:rPr lang="en-US" sz="2400" dirty="0"/>
              <a:t> </a:t>
            </a:r>
            <a:r>
              <a:rPr lang="en-US" sz="2400" dirty="0" err="1"/>
              <a:t>thành</a:t>
            </a:r>
            <a:r>
              <a:rPr lang="en-US" sz="2400" dirty="0"/>
              <a:t> </a:t>
            </a:r>
            <a:r>
              <a:rPr lang="en-US" sz="2400" dirty="0" err="1"/>
              <a:t>phần</a:t>
            </a:r>
            <a:r>
              <a:rPr lang="en-US" sz="2400" dirty="0"/>
              <a:t> </a:t>
            </a:r>
            <a:r>
              <a:rPr lang="en-US" sz="2400" dirty="0" err="1"/>
              <a:t>khác</a:t>
            </a:r>
            <a:r>
              <a:rPr lang="en-US" sz="2400" dirty="0"/>
              <a:t>, </a:t>
            </a:r>
            <a:r>
              <a:rPr lang="en-US" sz="2400" dirty="0" err="1"/>
              <a:t>không</a:t>
            </a:r>
            <a:r>
              <a:rPr lang="en-US" sz="2400" dirty="0"/>
              <a:t> </a:t>
            </a:r>
            <a:r>
              <a:rPr lang="en-US" sz="2400" dirty="0" err="1"/>
              <a:t>được</a:t>
            </a:r>
            <a:r>
              <a:rPr lang="en-US" sz="2400" dirty="0"/>
              <a:t> </a:t>
            </a:r>
            <a:r>
              <a:rPr lang="en-US" sz="2400" dirty="0" err="1"/>
              <a:t>quy</a:t>
            </a:r>
            <a:r>
              <a:rPr lang="en-US" sz="2400" dirty="0"/>
              <a:t> </a:t>
            </a:r>
            <a:r>
              <a:rPr lang="en-US" sz="2400" dirty="0" err="1"/>
              <a:t>hoạch</a:t>
            </a:r>
            <a:r>
              <a:rPr lang="en-US" sz="2400" dirty="0"/>
              <a:t>, </a:t>
            </a:r>
            <a:r>
              <a:rPr lang="en-US" sz="2400" dirty="0" err="1"/>
              <a:t>đang</a:t>
            </a:r>
            <a:r>
              <a:rPr lang="en-US" sz="2400" dirty="0"/>
              <a:t> </a:t>
            </a:r>
            <a:r>
              <a:rPr lang="en-US" sz="2400" dirty="0" err="1"/>
              <a:t>học</a:t>
            </a:r>
            <a:r>
              <a:rPr lang="en-US" sz="2400" dirty="0"/>
              <a:t> </a:t>
            </a:r>
            <a:r>
              <a:rPr lang="en-US" sz="2400" dirty="0" err="1"/>
              <a:t>tập</a:t>
            </a:r>
            <a:r>
              <a:rPr lang="en-US" sz="2400" dirty="0"/>
              <a:t> </a:t>
            </a:r>
            <a:r>
              <a:rPr lang="en-US" sz="2400" dirty="0" err="1"/>
              <a:t>và</a:t>
            </a:r>
            <a:r>
              <a:rPr lang="en-US" sz="2400" dirty="0"/>
              <a:t> </a:t>
            </a:r>
            <a:r>
              <a:rPr lang="en-US" sz="2400" dirty="0" err="1"/>
              <a:t>nghiên</a:t>
            </a:r>
            <a:r>
              <a:rPr lang="en-US" sz="2400" dirty="0"/>
              <a:t> </a:t>
            </a:r>
            <a:r>
              <a:rPr lang="en-US" sz="2400" dirty="0" err="1"/>
              <a:t>cứu</a:t>
            </a:r>
            <a:r>
              <a:rPr lang="en-US" sz="2400" dirty="0"/>
              <a:t> </a:t>
            </a:r>
            <a:r>
              <a:rPr lang="en-US" sz="2400" dirty="0" err="1"/>
              <a:t>miệt</a:t>
            </a:r>
            <a:r>
              <a:rPr lang="en-US" sz="2400" dirty="0"/>
              <a:t> </a:t>
            </a:r>
            <a:r>
              <a:rPr lang="en-US" sz="2400" dirty="0" err="1"/>
              <a:t>mài</a:t>
            </a:r>
            <a:r>
              <a:rPr lang="en-US" sz="2400" dirty="0"/>
              <a:t> ở </a:t>
            </a:r>
            <a:r>
              <a:rPr lang="en-US" sz="2400" dirty="0" err="1"/>
              <a:t>các</a:t>
            </a:r>
            <a:r>
              <a:rPr lang="en-US" sz="2400" dirty="0"/>
              <a:t> </a:t>
            </a:r>
            <a:r>
              <a:rPr lang="en-US" sz="2400" dirty="0" err="1"/>
              <a:t>nước</a:t>
            </a:r>
            <a:r>
              <a:rPr lang="en-US" sz="2400" dirty="0"/>
              <a:t> </a:t>
            </a:r>
            <a:r>
              <a:rPr lang="en-US" sz="2400" dirty="0" err="1"/>
              <a:t>về</a:t>
            </a:r>
            <a:r>
              <a:rPr lang="en-US" sz="2400" dirty="0"/>
              <a:t>;</a:t>
            </a:r>
          </a:p>
          <a:p>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21</a:t>
            </a:fld>
            <a:endParaRPr lang="en-US"/>
          </a:p>
        </p:txBody>
      </p:sp>
    </p:spTree>
    <p:extLst>
      <p:ext uri="{BB962C8B-B14F-4D97-AF65-F5344CB8AC3E}">
        <p14:creationId xmlns:p14="http://schemas.microsoft.com/office/powerpoint/2010/main" val="3585368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l"/>
            <a:r>
              <a:rPr lang="en-US" sz="3600" b="1" i="1" dirty="0" smtClean="0">
                <a:solidFill>
                  <a:srgbClr val="002060"/>
                </a:solidFill>
                <a:latin typeface="Times New Roman" pitchFamily="18" charset="0"/>
                <a:cs typeface="Times New Roman" pitchFamily="18" charset="0"/>
              </a:rPr>
              <a:t>7.4.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đề</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thể</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chế</a:t>
            </a:r>
            <a:r>
              <a:rPr lang="en-US" sz="3600" b="1" i="1" dirty="0">
                <a:solidFill>
                  <a:srgbClr val="002060"/>
                </a:solidFill>
                <a:latin typeface="Times New Roman" pitchFamily="18" charset="0"/>
                <a:cs typeface="Times New Roman" pitchFamily="18" charset="0"/>
              </a:rPr>
              <a:t> ở </a:t>
            </a:r>
            <a:r>
              <a:rPr lang="en-US" sz="3600" b="1" i="1" dirty="0" err="1">
                <a:solidFill>
                  <a:srgbClr val="002060"/>
                </a:solidFill>
                <a:latin typeface="Times New Roman" pitchFamily="18" charset="0"/>
                <a:cs typeface="Times New Roman" pitchFamily="18" charset="0"/>
              </a:rPr>
              <a:t>Việt</a:t>
            </a:r>
            <a:r>
              <a:rPr lang="en-US" sz="3600" b="1" i="1" dirty="0">
                <a:solidFill>
                  <a:srgbClr val="002060"/>
                </a:solidFill>
                <a:latin typeface="Times New Roman" pitchFamily="18" charset="0"/>
                <a:cs typeface="Times New Roman" pitchFamily="18" charset="0"/>
              </a:rPr>
              <a:t> </a:t>
            </a:r>
            <a:r>
              <a:rPr lang="en-US" sz="3600" b="1" i="1" dirty="0" smtClean="0">
                <a:solidFill>
                  <a:srgbClr val="002060"/>
                </a:solidFill>
                <a:latin typeface="Times New Roman" pitchFamily="18" charset="0"/>
                <a:cs typeface="Times New Roman" pitchFamily="18" charset="0"/>
              </a:rPr>
              <a:t>Nam</a:t>
            </a:r>
            <a:endParaRPr lang="en-US" sz="3600" b="1" i="1" dirty="0">
              <a:solidFill>
                <a:srgbClr val="002060"/>
              </a:solidFill>
              <a:latin typeface="Times New Roman" pitchFamily="18" charset="0"/>
              <a:cs typeface="Times New Roman" pitchFamily="18" charset="0"/>
            </a:endParaRPr>
          </a:p>
        </p:txBody>
      </p:sp>
      <p:sp>
        <p:nvSpPr>
          <p:cNvPr id="3" name="Content Placeholder 2"/>
          <p:cNvSpPr>
            <a:spLocks noGrp="1"/>
          </p:cNvSpPr>
          <p:nvPr>
            <p:ph idx="1"/>
          </p:nvPr>
        </p:nvSpPr>
        <p:spPr>
          <a:xfrm>
            <a:off x="304800" y="1417638"/>
            <a:ext cx="8534400" cy="4937125"/>
          </a:xfrm>
        </p:spPr>
        <p:txBody>
          <a:bodyPr>
            <a:normAutofit/>
          </a:bodyPr>
          <a:lstStyle/>
          <a:p>
            <a:r>
              <a:rPr lang="en-US" sz="2400" dirty="0" err="1"/>
              <a:t>Cần</a:t>
            </a:r>
            <a:r>
              <a:rPr lang="en-US" sz="2400" dirty="0"/>
              <a:t> </a:t>
            </a:r>
            <a:r>
              <a:rPr lang="en-US" sz="2400" dirty="0" err="1"/>
              <a:t>phân</a:t>
            </a:r>
            <a:r>
              <a:rPr lang="en-US" sz="2400" dirty="0"/>
              <a:t> </a:t>
            </a:r>
            <a:r>
              <a:rPr lang="en-US" sz="2400" dirty="0" err="1"/>
              <a:t>định</a:t>
            </a:r>
            <a:r>
              <a:rPr lang="en-US" sz="2400" dirty="0"/>
              <a:t> </a:t>
            </a:r>
            <a:r>
              <a:rPr lang="en-US" sz="2400" dirty="0" err="1"/>
              <a:t>rõ</a:t>
            </a:r>
            <a:r>
              <a:rPr lang="en-US" sz="2400" dirty="0"/>
              <a:t> </a:t>
            </a:r>
            <a:r>
              <a:rPr lang="en-US" sz="2400" dirty="0" err="1"/>
              <a:t>quyền</a:t>
            </a:r>
            <a:r>
              <a:rPr lang="en-US" sz="2400" dirty="0"/>
              <a:t> </a:t>
            </a:r>
            <a:r>
              <a:rPr lang="en-US" sz="2400" dirty="0" err="1"/>
              <a:t>hạn</a:t>
            </a:r>
            <a:r>
              <a:rPr lang="en-US" sz="2400" dirty="0"/>
              <a:t> </a:t>
            </a:r>
            <a:r>
              <a:rPr lang="en-US" sz="2400" dirty="0" err="1"/>
              <a:t>và</a:t>
            </a:r>
            <a:r>
              <a:rPr lang="en-US" sz="2400" dirty="0"/>
              <a:t> </a:t>
            </a:r>
            <a:r>
              <a:rPr lang="en-US" sz="2400" dirty="0" err="1"/>
              <a:t>chức</a:t>
            </a:r>
            <a:r>
              <a:rPr lang="en-US" sz="2400" dirty="0"/>
              <a:t> </a:t>
            </a:r>
            <a:r>
              <a:rPr lang="en-US" sz="2400" dirty="0" err="1"/>
              <a:t>năng</a:t>
            </a:r>
            <a:r>
              <a:rPr lang="en-US" sz="2400" dirty="0"/>
              <a:t> </a:t>
            </a:r>
            <a:r>
              <a:rPr lang="en-US" sz="2400" dirty="0" err="1"/>
              <a:t>giữa</a:t>
            </a:r>
            <a:r>
              <a:rPr lang="en-US" sz="2400" dirty="0"/>
              <a:t> </a:t>
            </a:r>
            <a:r>
              <a:rPr lang="en-US" sz="2400" dirty="0" err="1"/>
              <a:t>năm</a:t>
            </a:r>
            <a:r>
              <a:rPr lang="en-US" sz="2400" dirty="0"/>
              <a:t> </a:t>
            </a:r>
            <a:r>
              <a:rPr lang="en-US" sz="2400" dirty="0" err="1"/>
              <a:t>bộ</a:t>
            </a:r>
            <a:r>
              <a:rPr lang="en-US" sz="2400" dirty="0"/>
              <a:t> </a:t>
            </a:r>
            <a:r>
              <a:rPr lang="en-US" sz="2400" dirty="0" err="1"/>
              <a:t>phận</a:t>
            </a:r>
            <a:r>
              <a:rPr lang="en-US" sz="2400" dirty="0"/>
              <a:t> </a:t>
            </a:r>
            <a:r>
              <a:rPr lang="en-US" sz="2400" dirty="0" err="1"/>
              <a:t>trong</a:t>
            </a:r>
            <a:r>
              <a:rPr lang="en-US" sz="2400" dirty="0"/>
              <a:t> </a:t>
            </a:r>
            <a:r>
              <a:rPr lang="en-US" sz="2400" dirty="0" err="1"/>
              <a:t>nền</a:t>
            </a:r>
            <a:r>
              <a:rPr lang="en-US" sz="2400" dirty="0"/>
              <a:t> </a:t>
            </a:r>
            <a:r>
              <a:rPr lang="en-US" sz="2400" dirty="0" err="1"/>
              <a:t>kinh</a:t>
            </a:r>
            <a:r>
              <a:rPr lang="en-US" sz="2400" dirty="0"/>
              <a:t> </a:t>
            </a:r>
            <a:r>
              <a:rPr lang="en-US" sz="2400" dirty="0" err="1"/>
              <a:t>tế</a:t>
            </a:r>
            <a:r>
              <a:rPr lang="en-US" sz="2400" dirty="0"/>
              <a:t>: </a:t>
            </a:r>
            <a:r>
              <a:rPr lang="en-US" sz="2400" dirty="0" err="1"/>
              <a:t>Đảng</a:t>
            </a:r>
            <a:r>
              <a:rPr lang="en-US" sz="2400" dirty="0"/>
              <a:t>, </a:t>
            </a:r>
            <a:r>
              <a:rPr lang="en-US" sz="2400" dirty="0" err="1"/>
              <a:t>doanh</a:t>
            </a:r>
            <a:r>
              <a:rPr lang="en-US" sz="2400" dirty="0"/>
              <a:t> </a:t>
            </a:r>
            <a:r>
              <a:rPr lang="en-US" sz="2400" dirty="0" err="1"/>
              <a:t>nghiệp</a:t>
            </a:r>
            <a:r>
              <a:rPr lang="en-US" sz="2400" dirty="0"/>
              <a:t>, </a:t>
            </a:r>
            <a:r>
              <a:rPr lang="en-US" sz="2400" dirty="0" err="1"/>
              <a:t>chính</a:t>
            </a:r>
            <a:r>
              <a:rPr lang="en-US" sz="2400" dirty="0"/>
              <a:t> </a:t>
            </a:r>
            <a:r>
              <a:rPr lang="en-US" sz="2400" dirty="0" err="1"/>
              <a:t>phủ</a:t>
            </a:r>
            <a:r>
              <a:rPr lang="en-US" sz="2400" dirty="0"/>
              <a:t>, </a:t>
            </a:r>
            <a:r>
              <a:rPr lang="en-US" sz="2400" dirty="0" err="1"/>
              <a:t>ngân</a:t>
            </a:r>
            <a:r>
              <a:rPr lang="en-US" sz="2400" dirty="0"/>
              <a:t> </a:t>
            </a:r>
            <a:r>
              <a:rPr lang="en-US" sz="2400" dirty="0" err="1"/>
              <a:t>hàng</a:t>
            </a:r>
            <a:r>
              <a:rPr lang="en-US" sz="2400" dirty="0"/>
              <a:t> </a:t>
            </a:r>
            <a:r>
              <a:rPr lang="en-US" sz="2400" dirty="0" err="1"/>
              <a:t>và</a:t>
            </a:r>
            <a:r>
              <a:rPr lang="en-US" sz="2400" dirty="0"/>
              <a:t> </a:t>
            </a:r>
            <a:r>
              <a:rPr lang="en-US" sz="2400" dirty="0" err="1"/>
              <a:t>quân</a:t>
            </a:r>
            <a:r>
              <a:rPr lang="en-US" sz="2400" dirty="0"/>
              <a:t> </a:t>
            </a:r>
            <a:r>
              <a:rPr lang="en-US" sz="2400" dirty="0" err="1"/>
              <a:t>đội</a:t>
            </a:r>
            <a:r>
              <a:rPr lang="en-US" sz="2400" dirty="0"/>
              <a:t>. </a:t>
            </a:r>
            <a:r>
              <a:rPr lang="en-US" sz="2400" dirty="0" err="1"/>
              <a:t>Nếu</a:t>
            </a:r>
            <a:r>
              <a:rPr lang="en-US" sz="2400" dirty="0"/>
              <a:t> </a:t>
            </a:r>
            <a:r>
              <a:rPr lang="en-US" sz="2400" dirty="0" err="1"/>
              <a:t>các</a:t>
            </a:r>
            <a:r>
              <a:rPr lang="en-US" sz="2400" dirty="0"/>
              <a:t> </a:t>
            </a:r>
            <a:r>
              <a:rPr lang="en-US" sz="2400" dirty="0" err="1"/>
              <a:t>bộ</a:t>
            </a:r>
            <a:r>
              <a:rPr lang="en-US" sz="2400" dirty="0"/>
              <a:t> </a:t>
            </a:r>
            <a:r>
              <a:rPr lang="en-US" sz="2400" dirty="0" err="1"/>
              <a:t>phận</a:t>
            </a:r>
            <a:r>
              <a:rPr lang="en-US" sz="2400" dirty="0"/>
              <a:t> </a:t>
            </a:r>
            <a:r>
              <a:rPr lang="en-US" sz="2400" dirty="0" err="1"/>
              <a:t>này</a:t>
            </a:r>
            <a:r>
              <a:rPr lang="en-US" sz="2400" dirty="0"/>
              <a:t> </a:t>
            </a:r>
            <a:r>
              <a:rPr lang="en-US" sz="2400" dirty="0" err="1"/>
              <a:t>trong</a:t>
            </a:r>
            <a:r>
              <a:rPr lang="en-US" sz="2400" dirty="0"/>
              <a:t> </a:t>
            </a:r>
            <a:r>
              <a:rPr lang="en-US" sz="2400" dirty="0" err="1"/>
              <a:t>nền</a:t>
            </a:r>
            <a:r>
              <a:rPr lang="en-US" sz="2400" dirty="0"/>
              <a:t> </a:t>
            </a:r>
            <a:r>
              <a:rPr lang="en-US" sz="2400" dirty="0" err="1"/>
              <a:t>kinh</a:t>
            </a:r>
            <a:r>
              <a:rPr lang="en-US" sz="2400" dirty="0"/>
              <a:t> </a:t>
            </a:r>
            <a:r>
              <a:rPr lang="en-US" sz="2400" dirty="0" err="1"/>
              <a:t>tế</a:t>
            </a:r>
            <a:r>
              <a:rPr lang="en-US" sz="2400" dirty="0"/>
              <a:t> </a:t>
            </a:r>
            <a:r>
              <a:rPr lang="en-US" sz="2400" dirty="0" err="1"/>
              <a:t>mà</a:t>
            </a:r>
            <a:r>
              <a:rPr lang="en-US" sz="2400" dirty="0"/>
              <a:t> </a:t>
            </a:r>
            <a:r>
              <a:rPr lang="en-US" sz="2400" dirty="0" err="1"/>
              <a:t>trộn</a:t>
            </a:r>
            <a:r>
              <a:rPr lang="en-US" sz="2400" dirty="0"/>
              <a:t> </a:t>
            </a:r>
            <a:r>
              <a:rPr lang="en-US" sz="2400" dirty="0" err="1"/>
              <a:t>lẫn</a:t>
            </a:r>
            <a:r>
              <a:rPr lang="en-US" sz="2400" dirty="0"/>
              <a:t>, </a:t>
            </a:r>
            <a:r>
              <a:rPr lang="en-US" sz="2400" dirty="0" err="1"/>
              <a:t>chồng</a:t>
            </a:r>
            <a:r>
              <a:rPr lang="en-US" sz="2400" dirty="0"/>
              <a:t> </a:t>
            </a:r>
            <a:r>
              <a:rPr lang="en-US" sz="2400" dirty="0" err="1"/>
              <a:t>chéo</a:t>
            </a:r>
            <a:r>
              <a:rPr lang="en-US" sz="2400" dirty="0"/>
              <a:t> </a:t>
            </a:r>
            <a:r>
              <a:rPr lang="en-US" sz="2400" dirty="0" err="1"/>
              <a:t>với</a:t>
            </a:r>
            <a:r>
              <a:rPr lang="en-US" sz="2400" dirty="0"/>
              <a:t> </a:t>
            </a:r>
            <a:r>
              <a:rPr lang="en-US" sz="2400" dirty="0" err="1"/>
              <a:t>nhau</a:t>
            </a:r>
            <a:r>
              <a:rPr lang="en-US" sz="2400" dirty="0"/>
              <a:t> </a:t>
            </a:r>
            <a:r>
              <a:rPr lang="en-US" sz="2400" dirty="0" err="1"/>
              <a:t>thì</a:t>
            </a:r>
            <a:r>
              <a:rPr lang="en-US" sz="2400" dirty="0"/>
              <a:t> </a:t>
            </a:r>
            <a:r>
              <a:rPr lang="en-US" sz="2400" dirty="0" err="1"/>
              <a:t>phải</a:t>
            </a:r>
            <a:r>
              <a:rPr lang="en-US" sz="2400" dirty="0"/>
              <a:t> </a:t>
            </a:r>
            <a:r>
              <a:rPr lang="en-US" sz="2400" dirty="0" err="1"/>
              <a:t>trả</a:t>
            </a:r>
            <a:r>
              <a:rPr lang="en-US" sz="2400" dirty="0"/>
              <a:t> </a:t>
            </a:r>
            <a:r>
              <a:rPr lang="en-US" sz="2400" dirty="0" err="1"/>
              <a:t>giá</a:t>
            </a:r>
            <a:r>
              <a:rPr lang="en-US" sz="2400" dirty="0"/>
              <a:t> </a:t>
            </a:r>
            <a:r>
              <a:rPr lang="en-US" sz="2400" dirty="0" err="1"/>
              <a:t>cho</a:t>
            </a:r>
            <a:r>
              <a:rPr lang="en-US" sz="2400" dirty="0"/>
              <a:t> </a:t>
            </a:r>
            <a:r>
              <a:rPr lang="en-US" sz="2400" dirty="0" err="1"/>
              <a:t>nó</a:t>
            </a:r>
            <a:r>
              <a:rPr lang="en-US" sz="2400" dirty="0" smtClean="0"/>
              <a:t>. </a:t>
            </a:r>
          </a:p>
          <a:p>
            <a:r>
              <a:rPr lang="en-US" sz="2400" dirty="0" err="1" smtClean="0"/>
              <a:t>Nếu</a:t>
            </a:r>
            <a:r>
              <a:rPr lang="en-US" sz="2400" dirty="0" smtClean="0"/>
              <a:t> </a:t>
            </a:r>
            <a:r>
              <a:rPr lang="en-US" sz="2400" dirty="0" err="1"/>
              <a:t>trộn</a:t>
            </a:r>
            <a:r>
              <a:rPr lang="en-US" sz="2400" dirty="0"/>
              <a:t> </a:t>
            </a:r>
            <a:r>
              <a:rPr lang="en-US" sz="2400" dirty="0" err="1"/>
              <a:t>vào</a:t>
            </a:r>
            <a:r>
              <a:rPr lang="en-US" sz="2400" dirty="0"/>
              <a:t> </a:t>
            </a:r>
            <a:r>
              <a:rPr lang="en-US" sz="2400" dirty="0" err="1"/>
              <a:t>thì</a:t>
            </a:r>
            <a:r>
              <a:rPr lang="en-US" sz="2400" dirty="0"/>
              <a:t> </a:t>
            </a:r>
            <a:r>
              <a:rPr lang="en-US" sz="2400" dirty="0" err="1"/>
              <a:t>ai</a:t>
            </a:r>
            <a:r>
              <a:rPr lang="en-US" sz="2400" dirty="0"/>
              <a:t> </a:t>
            </a:r>
            <a:r>
              <a:rPr lang="en-US" sz="2400" dirty="0" err="1"/>
              <a:t>kiểm</a:t>
            </a:r>
            <a:r>
              <a:rPr lang="en-US" sz="2400" dirty="0"/>
              <a:t> </a:t>
            </a:r>
            <a:r>
              <a:rPr lang="en-US" sz="2400" dirty="0" err="1"/>
              <a:t>soát</a:t>
            </a:r>
            <a:r>
              <a:rPr lang="en-US" sz="2400" dirty="0"/>
              <a:t> </a:t>
            </a:r>
            <a:r>
              <a:rPr lang="en-US" sz="2400" dirty="0" err="1"/>
              <a:t>khi</a:t>
            </a:r>
            <a:r>
              <a:rPr lang="en-US" sz="2400" dirty="0"/>
              <a:t> </a:t>
            </a:r>
            <a:r>
              <a:rPr lang="en-US" sz="2400" dirty="0" err="1"/>
              <a:t>chúng</a:t>
            </a:r>
            <a:r>
              <a:rPr lang="en-US" sz="2400" dirty="0"/>
              <a:t> ta </a:t>
            </a:r>
            <a:r>
              <a:rPr lang="en-US" sz="2400" dirty="0" err="1"/>
              <a:t>không</a:t>
            </a:r>
            <a:r>
              <a:rPr lang="en-US" sz="2400" dirty="0"/>
              <a:t> tam </a:t>
            </a:r>
            <a:r>
              <a:rPr lang="en-US" sz="2400" dirty="0" err="1"/>
              <a:t>quyền</a:t>
            </a:r>
            <a:r>
              <a:rPr lang="en-US" sz="2400" dirty="0"/>
              <a:t> </a:t>
            </a:r>
            <a:r>
              <a:rPr lang="en-US" sz="2400" dirty="0" err="1"/>
              <a:t>phân</a:t>
            </a:r>
            <a:r>
              <a:rPr lang="en-US" sz="2400" dirty="0"/>
              <a:t> </a:t>
            </a:r>
            <a:r>
              <a:rPr lang="en-US" sz="2400" dirty="0" err="1"/>
              <a:t>lập</a:t>
            </a:r>
            <a:r>
              <a:rPr lang="en-US" sz="2400" dirty="0"/>
              <a:t> </a:t>
            </a:r>
            <a:r>
              <a:rPr lang="en-US" sz="2400" dirty="0" err="1"/>
              <a:t>và</a:t>
            </a:r>
            <a:r>
              <a:rPr lang="en-US" sz="2400" dirty="0"/>
              <a:t> </a:t>
            </a:r>
            <a:r>
              <a:rPr lang="en-US" sz="2400" dirty="0" err="1"/>
              <a:t>chúng</a:t>
            </a:r>
            <a:r>
              <a:rPr lang="en-US" sz="2400" dirty="0"/>
              <a:t> ta </a:t>
            </a:r>
            <a:r>
              <a:rPr lang="en-US" sz="2400" dirty="0" err="1"/>
              <a:t>cũng</a:t>
            </a:r>
            <a:r>
              <a:rPr lang="en-US" sz="2400" dirty="0"/>
              <a:t> </a:t>
            </a:r>
            <a:r>
              <a:rPr lang="en-US" sz="2400" dirty="0" err="1"/>
              <a:t>không</a:t>
            </a:r>
            <a:r>
              <a:rPr lang="en-US" sz="2400" dirty="0"/>
              <a:t> </a:t>
            </a:r>
            <a:r>
              <a:rPr lang="en-US" sz="2400" dirty="0" err="1"/>
              <a:t>có</a:t>
            </a:r>
            <a:r>
              <a:rPr lang="en-US" sz="2400" dirty="0"/>
              <a:t> </a:t>
            </a:r>
            <a:r>
              <a:rPr lang="en-US" sz="2400" dirty="0" err="1"/>
              <a:t>tòa</a:t>
            </a:r>
            <a:r>
              <a:rPr lang="en-US" sz="2400" dirty="0"/>
              <a:t> </a:t>
            </a:r>
            <a:r>
              <a:rPr lang="en-US" sz="2400" dirty="0" err="1"/>
              <a:t>án</a:t>
            </a:r>
            <a:r>
              <a:rPr lang="en-US" sz="2400" dirty="0"/>
              <a:t> </a:t>
            </a:r>
            <a:r>
              <a:rPr lang="en-US" sz="2400" dirty="0" err="1"/>
              <a:t>hiến</a:t>
            </a:r>
            <a:r>
              <a:rPr lang="en-US" sz="2400" dirty="0"/>
              <a:t> </a:t>
            </a:r>
            <a:r>
              <a:rPr lang="en-US" sz="2400" dirty="0" err="1"/>
              <a:t>pháp</a:t>
            </a:r>
            <a:r>
              <a:rPr lang="en-US" sz="2400" dirty="0" smtClean="0"/>
              <a:t>?</a:t>
            </a:r>
          </a:p>
          <a:p>
            <a:r>
              <a:rPr lang="en-US" sz="2400" dirty="0" err="1"/>
              <a:t>Trong</a:t>
            </a:r>
            <a:r>
              <a:rPr lang="en-US" sz="2400" dirty="0"/>
              <a:t> </a:t>
            </a:r>
            <a:r>
              <a:rPr lang="en-US" sz="2400" dirty="0" err="1"/>
              <a:t>một</a:t>
            </a:r>
            <a:r>
              <a:rPr lang="en-US" sz="2400" dirty="0"/>
              <a:t> </a:t>
            </a:r>
            <a:r>
              <a:rPr lang="en-US" sz="2400" dirty="0" err="1"/>
              <a:t>cơ</a:t>
            </a:r>
            <a:r>
              <a:rPr lang="en-US" sz="2400" dirty="0"/>
              <a:t> </a:t>
            </a:r>
            <a:r>
              <a:rPr lang="en-US" sz="2400" dirty="0" err="1"/>
              <a:t>chế</a:t>
            </a:r>
            <a:r>
              <a:rPr lang="en-US" sz="2400" dirty="0"/>
              <a:t>, </a:t>
            </a:r>
            <a:r>
              <a:rPr lang="en-US" sz="2400" dirty="0" err="1"/>
              <a:t>Đảng</a:t>
            </a:r>
            <a:r>
              <a:rPr lang="en-US" sz="2400" dirty="0"/>
              <a:t> </a:t>
            </a:r>
            <a:r>
              <a:rPr lang="en-US" sz="2400" dirty="0" err="1"/>
              <a:t>thì</a:t>
            </a:r>
            <a:r>
              <a:rPr lang="en-US" sz="2400" dirty="0"/>
              <a:t> </a:t>
            </a:r>
            <a:r>
              <a:rPr lang="en-US" sz="2400" dirty="0" err="1"/>
              <a:t>chỉ</a:t>
            </a:r>
            <a:r>
              <a:rPr lang="en-US" sz="2400" dirty="0"/>
              <a:t> </a:t>
            </a:r>
            <a:r>
              <a:rPr lang="en-US" sz="2400" dirty="0" err="1"/>
              <a:t>đạo</a:t>
            </a:r>
            <a:r>
              <a:rPr lang="en-US" sz="2400" dirty="0"/>
              <a:t> </a:t>
            </a:r>
            <a:r>
              <a:rPr lang="en-US" sz="2400" dirty="0" err="1"/>
              <a:t>nhưng</a:t>
            </a:r>
            <a:r>
              <a:rPr lang="en-US" sz="2400" dirty="0"/>
              <a:t> </a:t>
            </a:r>
            <a:r>
              <a:rPr lang="en-US" sz="2400" dirty="0" err="1"/>
              <a:t>không</a:t>
            </a:r>
            <a:r>
              <a:rPr lang="en-US" sz="2400" dirty="0"/>
              <a:t> </a:t>
            </a:r>
            <a:r>
              <a:rPr lang="en-US" sz="2400" dirty="0" err="1"/>
              <a:t>làm</a:t>
            </a:r>
            <a:r>
              <a:rPr lang="en-US" sz="2400" dirty="0"/>
              <a:t>, </a:t>
            </a:r>
            <a:r>
              <a:rPr lang="en-US" sz="2400" dirty="0" err="1"/>
              <a:t>chính</a:t>
            </a:r>
            <a:r>
              <a:rPr lang="en-US" sz="2400" dirty="0"/>
              <a:t> </a:t>
            </a:r>
            <a:r>
              <a:rPr lang="en-US" sz="2400" dirty="0" err="1"/>
              <a:t>quyền</a:t>
            </a:r>
            <a:r>
              <a:rPr lang="en-US" sz="2400" dirty="0"/>
              <a:t> </a:t>
            </a:r>
            <a:r>
              <a:rPr lang="en-US" sz="2400" dirty="0" err="1"/>
              <a:t>thì</a:t>
            </a:r>
            <a:r>
              <a:rPr lang="en-US" sz="2400" dirty="0"/>
              <a:t> </a:t>
            </a:r>
            <a:r>
              <a:rPr lang="en-US" sz="2400" dirty="0" err="1"/>
              <a:t>làm</a:t>
            </a:r>
            <a:r>
              <a:rPr lang="en-US" sz="2400" dirty="0"/>
              <a:t> </a:t>
            </a:r>
            <a:r>
              <a:rPr lang="en-US" sz="2400" dirty="0" err="1"/>
              <a:t>nhưng</a:t>
            </a:r>
            <a:r>
              <a:rPr lang="en-US" sz="2400" dirty="0"/>
              <a:t> </a:t>
            </a:r>
            <a:r>
              <a:rPr lang="en-US" sz="2400" dirty="0" err="1"/>
              <a:t>không</a:t>
            </a:r>
            <a:r>
              <a:rPr lang="en-US" sz="2400" dirty="0"/>
              <a:t> </a:t>
            </a:r>
            <a:r>
              <a:rPr lang="en-US" sz="2400" dirty="0" err="1"/>
              <a:t>được</a:t>
            </a:r>
            <a:r>
              <a:rPr lang="en-US" sz="2400" dirty="0"/>
              <a:t> </a:t>
            </a:r>
            <a:r>
              <a:rPr lang="en-US" sz="2400" dirty="0" err="1"/>
              <a:t>toàn</a:t>
            </a:r>
            <a:r>
              <a:rPr lang="en-US" sz="2400" dirty="0"/>
              <a:t> </a:t>
            </a:r>
            <a:r>
              <a:rPr lang="en-US" sz="2400" dirty="0" err="1"/>
              <a:t>quyền</a:t>
            </a:r>
            <a:r>
              <a:rPr lang="en-US" sz="2400" dirty="0"/>
              <a:t> </a:t>
            </a:r>
            <a:r>
              <a:rPr lang="en-US" sz="2400" dirty="0" err="1"/>
              <a:t>quyết</a:t>
            </a:r>
            <a:r>
              <a:rPr lang="en-US" sz="2400" dirty="0"/>
              <a:t> </a:t>
            </a:r>
            <a:r>
              <a:rPr lang="en-US" sz="2400" dirty="0" err="1"/>
              <a:t>định</a:t>
            </a:r>
            <a:r>
              <a:rPr lang="en-US" sz="2400" dirty="0"/>
              <a:t> </a:t>
            </a:r>
            <a:r>
              <a:rPr lang="en-US" sz="2400" dirty="0" err="1"/>
              <a:t>trong</a:t>
            </a:r>
            <a:r>
              <a:rPr lang="en-US" sz="2400" dirty="0"/>
              <a:t> </a:t>
            </a:r>
            <a:r>
              <a:rPr lang="en-US" sz="2400" dirty="0" err="1"/>
              <a:t>lãnh</a:t>
            </a:r>
            <a:r>
              <a:rPr lang="en-US" sz="2400" dirty="0"/>
              <a:t> </a:t>
            </a:r>
            <a:r>
              <a:rPr lang="en-US" sz="2400" dirty="0" err="1"/>
              <a:t>vực</a:t>
            </a:r>
            <a:r>
              <a:rPr lang="en-US" sz="2400" dirty="0"/>
              <a:t> </a:t>
            </a:r>
            <a:r>
              <a:rPr lang="en-US" sz="2400" dirty="0" err="1"/>
              <a:t>chuyên</a:t>
            </a:r>
            <a:r>
              <a:rPr lang="en-US" sz="2400" dirty="0"/>
              <a:t> </a:t>
            </a:r>
            <a:r>
              <a:rPr lang="en-US" sz="2400" dirty="0" err="1"/>
              <a:t>môn</a:t>
            </a:r>
            <a:r>
              <a:rPr lang="en-US" sz="2400" dirty="0"/>
              <a:t> </a:t>
            </a:r>
            <a:r>
              <a:rPr lang="en-US" sz="2400" dirty="0" err="1"/>
              <a:t>của</a:t>
            </a:r>
            <a:r>
              <a:rPr lang="en-US" sz="2400" dirty="0"/>
              <a:t> </a:t>
            </a:r>
            <a:r>
              <a:rPr lang="en-US" sz="2400" dirty="0" err="1"/>
              <a:t>họ</a:t>
            </a:r>
            <a:r>
              <a:rPr lang="en-US" sz="2400" dirty="0"/>
              <a:t>, </a:t>
            </a:r>
            <a:r>
              <a:rPr lang="en-US" sz="2400" dirty="0" err="1"/>
              <a:t>bộ</a:t>
            </a:r>
            <a:r>
              <a:rPr lang="en-US" sz="2400" dirty="0"/>
              <a:t> </a:t>
            </a:r>
            <a:r>
              <a:rPr lang="en-US" sz="2400" dirty="0" err="1"/>
              <a:t>máy</a:t>
            </a:r>
            <a:r>
              <a:rPr lang="en-US" sz="2400" dirty="0"/>
              <a:t> </a:t>
            </a:r>
            <a:r>
              <a:rPr lang="en-US" sz="2400" dirty="0" err="1"/>
              <a:t>thừa</a:t>
            </a:r>
            <a:r>
              <a:rPr lang="en-US" sz="2400" dirty="0"/>
              <a:t> </a:t>
            </a:r>
            <a:r>
              <a:rPr lang="en-US" sz="2400" dirty="0" err="1"/>
              <a:t>hành</a:t>
            </a:r>
            <a:r>
              <a:rPr lang="en-US" sz="2400" dirty="0"/>
              <a:t> </a:t>
            </a:r>
            <a:r>
              <a:rPr lang="en-US" sz="2400" dirty="0" err="1"/>
              <a:t>thì</a:t>
            </a:r>
            <a:r>
              <a:rPr lang="en-US" sz="2400" dirty="0"/>
              <a:t> </a:t>
            </a:r>
            <a:r>
              <a:rPr lang="en-US" sz="2400" dirty="0" err="1"/>
              <a:t>không</a:t>
            </a:r>
            <a:r>
              <a:rPr lang="en-US" sz="2400" dirty="0"/>
              <a:t> do </a:t>
            </a:r>
            <a:r>
              <a:rPr lang="en-US" sz="2400" dirty="0" err="1"/>
              <a:t>chính</a:t>
            </a:r>
            <a:r>
              <a:rPr lang="en-US" sz="2400" dirty="0"/>
              <a:t> </a:t>
            </a:r>
            <a:r>
              <a:rPr lang="en-US" sz="2400" dirty="0" err="1"/>
              <a:t>quyền</a:t>
            </a:r>
            <a:r>
              <a:rPr lang="en-US" sz="2400" dirty="0"/>
              <a:t> </a:t>
            </a:r>
            <a:r>
              <a:rPr lang="en-US" sz="2400" dirty="0" err="1"/>
              <a:t>tuyển</a:t>
            </a:r>
            <a:r>
              <a:rPr lang="en-US" sz="2400" dirty="0"/>
              <a:t> </a:t>
            </a:r>
            <a:r>
              <a:rPr lang="en-US" sz="2400" dirty="0" err="1"/>
              <a:t>chọn</a:t>
            </a:r>
            <a:r>
              <a:rPr lang="en-US" sz="2400" dirty="0"/>
              <a:t> hay </a:t>
            </a:r>
            <a:r>
              <a:rPr lang="en-US" sz="2400" dirty="0" err="1"/>
              <a:t>không</a:t>
            </a:r>
            <a:r>
              <a:rPr lang="en-US" sz="2400" dirty="0"/>
              <a:t> </a:t>
            </a:r>
            <a:r>
              <a:rPr lang="en-US" sz="2400" dirty="0" err="1"/>
              <a:t>bao</a:t>
            </a:r>
            <a:r>
              <a:rPr lang="en-US" sz="2400" dirty="0"/>
              <a:t> </a:t>
            </a:r>
            <a:r>
              <a:rPr lang="en-US" sz="2400" dirty="0" err="1"/>
              <a:t>giờ</a:t>
            </a:r>
            <a:r>
              <a:rPr lang="en-US" sz="2400" dirty="0"/>
              <a:t> </a:t>
            </a:r>
            <a:r>
              <a:rPr lang="en-US" sz="2400" dirty="0" err="1"/>
              <a:t>có</a:t>
            </a:r>
            <a:r>
              <a:rPr lang="en-US" sz="2400" dirty="0"/>
              <a:t> </a:t>
            </a:r>
            <a:r>
              <a:rPr lang="en-US" sz="2400" dirty="0" err="1"/>
              <a:t>đuổi</a:t>
            </a:r>
            <a:r>
              <a:rPr lang="en-US" sz="2400" dirty="0"/>
              <a:t> hay </a:t>
            </a:r>
            <a:r>
              <a:rPr lang="en-US" sz="2400" dirty="0" err="1"/>
              <a:t>cho</a:t>
            </a:r>
            <a:r>
              <a:rPr lang="en-US" sz="2400" dirty="0"/>
              <a:t> </a:t>
            </a:r>
            <a:r>
              <a:rPr lang="en-US" sz="2400" dirty="0" err="1"/>
              <a:t>thôi</a:t>
            </a:r>
            <a:r>
              <a:rPr lang="en-US" sz="2400" dirty="0"/>
              <a:t> </a:t>
            </a:r>
            <a:r>
              <a:rPr lang="en-US" sz="2400" dirty="0" err="1"/>
              <a:t>việc</a:t>
            </a:r>
            <a:r>
              <a:rPr lang="en-US" sz="2400" dirty="0"/>
              <a:t>, </a:t>
            </a:r>
            <a:r>
              <a:rPr lang="en-US" sz="2400" dirty="0" err="1"/>
              <a:t>thì</a:t>
            </a:r>
            <a:r>
              <a:rPr lang="en-US" sz="2400" dirty="0"/>
              <a:t> </a:t>
            </a:r>
            <a:r>
              <a:rPr lang="en-US" sz="2400" dirty="0" err="1"/>
              <a:t>nếu</a:t>
            </a:r>
            <a:r>
              <a:rPr lang="en-US" sz="2400" dirty="0"/>
              <a:t> </a:t>
            </a:r>
            <a:r>
              <a:rPr lang="en-US" sz="2400" dirty="0" err="1"/>
              <a:t>có</a:t>
            </a:r>
            <a:r>
              <a:rPr lang="en-US" sz="2400" dirty="0"/>
              <a:t> </a:t>
            </a:r>
            <a:r>
              <a:rPr lang="en-US" sz="2400" dirty="0" err="1"/>
              <a:t>vấn</a:t>
            </a:r>
            <a:r>
              <a:rPr lang="en-US" sz="2400" dirty="0"/>
              <a:t> </a:t>
            </a:r>
            <a:r>
              <a:rPr lang="en-US" sz="2400" dirty="0" err="1"/>
              <a:t>đề</a:t>
            </a:r>
            <a:r>
              <a:rPr lang="en-US" sz="2400" dirty="0"/>
              <a:t> </a:t>
            </a:r>
            <a:r>
              <a:rPr lang="en-US" sz="2400" dirty="0" err="1"/>
              <a:t>xảy</a:t>
            </a:r>
            <a:r>
              <a:rPr lang="en-US" sz="2400" dirty="0"/>
              <a:t> </a:t>
            </a:r>
            <a:r>
              <a:rPr lang="en-US" sz="2400" dirty="0" err="1"/>
              <a:t>ra</a:t>
            </a:r>
            <a:r>
              <a:rPr lang="en-US" sz="2400" dirty="0"/>
              <a:t> </a:t>
            </a:r>
            <a:r>
              <a:rPr lang="en-US" sz="2400" dirty="0" err="1"/>
              <a:t>thì</a:t>
            </a:r>
            <a:r>
              <a:rPr lang="en-US" sz="2400" dirty="0"/>
              <a:t> </a:t>
            </a:r>
            <a:r>
              <a:rPr lang="en-US" sz="2400" dirty="0" err="1"/>
              <a:t>khó</a:t>
            </a:r>
            <a:r>
              <a:rPr lang="en-US" sz="2400" dirty="0"/>
              <a:t> </a:t>
            </a:r>
            <a:r>
              <a:rPr lang="en-US" sz="2400" dirty="0" err="1"/>
              <a:t>mà</a:t>
            </a:r>
            <a:r>
              <a:rPr lang="en-US" sz="2400" dirty="0"/>
              <a:t> </a:t>
            </a:r>
            <a:r>
              <a:rPr lang="en-US" sz="2400" dirty="0" err="1"/>
              <a:t>quy</a:t>
            </a:r>
            <a:r>
              <a:rPr lang="en-US" sz="2400" dirty="0"/>
              <a:t> </a:t>
            </a:r>
            <a:r>
              <a:rPr lang="en-US" sz="2400" dirty="0" err="1"/>
              <a:t>trách</a:t>
            </a:r>
            <a:r>
              <a:rPr lang="en-US" sz="2400" dirty="0"/>
              <a:t> </a:t>
            </a:r>
            <a:r>
              <a:rPr lang="en-US" sz="2400" dirty="0" err="1"/>
              <a:t>nhiệm</a:t>
            </a:r>
            <a:r>
              <a:rPr lang="en-US" sz="2400" dirty="0"/>
              <a:t> </a:t>
            </a:r>
            <a:r>
              <a:rPr lang="en-US" sz="2400" dirty="0" err="1"/>
              <a:t>tập</a:t>
            </a:r>
            <a:r>
              <a:rPr lang="en-US" sz="2400" dirty="0"/>
              <a:t> </a:t>
            </a:r>
            <a:r>
              <a:rPr lang="en-US" sz="2400" dirty="0" err="1"/>
              <a:t>thể</a:t>
            </a:r>
            <a:r>
              <a:rPr lang="en-US" sz="2400" dirty="0"/>
              <a:t> </a:t>
            </a:r>
            <a:r>
              <a:rPr lang="en-US" sz="2400" dirty="0" err="1"/>
              <a:t>và</a:t>
            </a:r>
            <a:r>
              <a:rPr lang="en-US" sz="2400" dirty="0"/>
              <a:t> </a:t>
            </a:r>
            <a:r>
              <a:rPr lang="en-US" sz="2400" dirty="0" err="1"/>
              <a:t>càng</a:t>
            </a:r>
            <a:r>
              <a:rPr lang="en-US" sz="2400" dirty="0"/>
              <a:t> </a:t>
            </a:r>
            <a:r>
              <a:rPr lang="en-US" sz="2400" dirty="0" err="1"/>
              <a:t>không</a:t>
            </a:r>
            <a:r>
              <a:rPr lang="en-US" sz="2400" dirty="0"/>
              <a:t> </a:t>
            </a:r>
            <a:r>
              <a:rPr lang="en-US" sz="2400" dirty="0" err="1"/>
              <a:t>thể</a:t>
            </a:r>
            <a:r>
              <a:rPr lang="en-US" sz="2400" dirty="0"/>
              <a:t> </a:t>
            </a:r>
            <a:r>
              <a:rPr lang="en-US" sz="2400" dirty="0" err="1"/>
              <a:t>quy</a:t>
            </a:r>
            <a:r>
              <a:rPr lang="en-US" sz="2400" dirty="0"/>
              <a:t> </a:t>
            </a:r>
            <a:r>
              <a:rPr lang="en-US" sz="2400" dirty="0" err="1"/>
              <a:t>trách</a:t>
            </a:r>
            <a:r>
              <a:rPr lang="en-US" sz="2400" dirty="0"/>
              <a:t> </a:t>
            </a:r>
            <a:r>
              <a:rPr lang="en-US" sz="2400" dirty="0" err="1"/>
              <a:t>nhiệm</a:t>
            </a:r>
            <a:r>
              <a:rPr lang="en-US" sz="2400" dirty="0"/>
              <a:t> </a:t>
            </a:r>
            <a:r>
              <a:rPr lang="en-US" sz="2400" dirty="0" err="1"/>
              <a:t>cá</a:t>
            </a:r>
            <a:r>
              <a:rPr lang="en-US" sz="2400" dirty="0"/>
              <a:t> </a:t>
            </a:r>
            <a:r>
              <a:rPr lang="en-US" sz="2400" dirty="0" err="1"/>
              <a:t>nhân</a:t>
            </a:r>
            <a:r>
              <a:rPr lang="en-US" sz="2400" dirty="0"/>
              <a:t>. </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22</a:t>
            </a:fld>
            <a:endParaRPr lang="en-US"/>
          </a:p>
        </p:txBody>
      </p:sp>
    </p:spTree>
    <p:extLst>
      <p:ext uri="{BB962C8B-B14F-4D97-AF65-F5344CB8AC3E}">
        <p14:creationId xmlns:p14="http://schemas.microsoft.com/office/powerpoint/2010/main" val="88886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l"/>
            <a:r>
              <a:rPr lang="en-US" sz="3600" b="1" i="1" dirty="0" smtClean="0">
                <a:solidFill>
                  <a:srgbClr val="002060"/>
                </a:solidFill>
                <a:latin typeface="Times New Roman" pitchFamily="18" charset="0"/>
                <a:cs typeface="Times New Roman" pitchFamily="18" charset="0"/>
              </a:rPr>
              <a:t>7.4.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đề</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thể</a:t>
            </a:r>
            <a:r>
              <a:rPr lang="en-US" sz="3600" b="1" i="1" dirty="0">
                <a:solidFill>
                  <a:srgbClr val="002060"/>
                </a:solidFill>
                <a:latin typeface="Times New Roman" pitchFamily="18" charset="0"/>
                <a:cs typeface="Times New Roman" pitchFamily="18" charset="0"/>
              </a:rPr>
              <a:t> </a:t>
            </a:r>
            <a:r>
              <a:rPr lang="en-US" sz="3600" b="1" i="1" dirty="0" err="1">
                <a:solidFill>
                  <a:srgbClr val="002060"/>
                </a:solidFill>
                <a:latin typeface="Times New Roman" pitchFamily="18" charset="0"/>
                <a:cs typeface="Times New Roman" pitchFamily="18" charset="0"/>
              </a:rPr>
              <a:t>chế</a:t>
            </a:r>
            <a:r>
              <a:rPr lang="en-US" sz="3600" b="1" i="1" dirty="0">
                <a:solidFill>
                  <a:srgbClr val="002060"/>
                </a:solidFill>
                <a:latin typeface="Times New Roman" pitchFamily="18" charset="0"/>
                <a:cs typeface="Times New Roman" pitchFamily="18" charset="0"/>
              </a:rPr>
              <a:t> ở </a:t>
            </a:r>
            <a:r>
              <a:rPr lang="en-US" sz="3600" b="1" i="1" dirty="0" err="1">
                <a:solidFill>
                  <a:srgbClr val="002060"/>
                </a:solidFill>
                <a:latin typeface="Times New Roman" pitchFamily="18" charset="0"/>
                <a:cs typeface="Times New Roman" pitchFamily="18" charset="0"/>
              </a:rPr>
              <a:t>Việt</a:t>
            </a:r>
            <a:r>
              <a:rPr lang="en-US" sz="3600" b="1" i="1" dirty="0">
                <a:solidFill>
                  <a:srgbClr val="002060"/>
                </a:solidFill>
                <a:latin typeface="Times New Roman" pitchFamily="18" charset="0"/>
                <a:cs typeface="Times New Roman" pitchFamily="18" charset="0"/>
              </a:rPr>
              <a:t> </a:t>
            </a:r>
            <a:r>
              <a:rPr lang="en-US" sz="3600" b="1" i="1" dirty="0" smtClean="0">
                <a:solidFill>
                  <a:srgbClr val="002060"/>
                </a:solidFill>
                <a:latin typeface="Times New Roman" pitchFamily="18" charset="0"/>
                <a:cs typeface="Times New Roman" pitchFamily="18" charset="0"/>
              </a:rPr>
              <a:t>Nam</a:t>
            </a:r>
            <a:endParaRPr lang="en-US" sz="3600" b="1" i="1" dirty="0">
              <a:solidFill>
                <a:srgbClr val="002060"/>
              </a:solidFill>
              <a:latin typeface="Times New Roman" pitchFamily="18" charset="0"/>
              <a:cs typeface="Times New Roman" pitchFamily="18" charset="0"/>
            </a:endParaRPr>
          </a:p>
        </p:txBody>
      </p:sp>
      <p:pic>
        <p:nvPicPr>
          <p:cNvPr id="4" name="Content Placeholder 5"/>
          <p:cNvPicPr>
            <a:picLocks noGrp="1" noChangeAspect="1"/>
          </p:cNvPicPr>
          <p:nvPr>
            <p:ph idx="1"/>
          </p:nvPr>
        </p:nvPicPr>
        <p:blipFill>
          <a:blip r:embed="rId2"/>
          <a:srcRect l="-40915" r="-40915"/>
          <a:stretch>
            <a:fillRect/>
          </a:stretch>
        </p:blipFill>
        <p:spPr>
          <a:xfrm>
            <a:off x="914400" y="1752600"/>
            <a:ext cx="7010400" cy="4190999"/>
          </a:xfrm>
        </p:spPr>
      </p:pic>
      <p:sp>
        <p:nvSpPr>
          <p:cNvPr id="3" name="Date Placeholder 2"/>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23</a:t>
            </a:fld>
            <a:endParaRPr lang="en-US"/>
          </a:p>
        </p:txBody>
      </p:sp>
    </p:spTree>
    <p:extLst>
      <p:ext uri="{BB962C8B-B14F-4D97-AF65-F5344CB8AC3E}">
        <p14:creationId xmlns:p14="http://schemas.microsoft.com/office/powerpoint/2010/main" val="3160048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i="1" dirty="0" smtClean="0">
                <a:solidFill>
                  <a:srgbClr val="002060"/>
                </a:solidFill>
                <a:latin typeface="Times New Roman" pitchFamily="18" charset="0"/>
                <a:cs typeface="Times New Roman" pitchFamily="18" charset="0"/>
              </a:rPr>
              <a:t>7.5.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đề</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tăng</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trưởng</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cho</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người</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nghèo</a:t>
            </a:r>
            <a:endParaRPr lang="en-US" sz="3600" dirty="0">
              <a:solidFill>
                <a:srgbClr val="002060"/>
              </a:solidFill>
              <a:latin typeface="Times New Roman" pitchFamily="18" charset="0"/>
              <a:cs typeface="Times New Roman" pitchFamily="18" charset="0"/>
            </a:endParaRPr>
          </a:p>
        </p:txBody>
      </p:sp>
      <p:sp>
        <p:nvSpPr>
          <p:cNvPr id="3" name="Content Placeholder 2"/>
          <p:cNvSpPr>
            <a:spLocks noGrp="1" noRot="1" noChangeAspect="1" noMove="1" noResize="1" noEditPoints="1" noAdjustHandles="1" noChangeArrowheads="1" noChangeShapeType="1" noTextEdit="1"/>
          </p:cNvSpPr>
          <p:nvPr>
            <p:ph idx="1"/>
          </p:nvPr>
        </p:nvSpPr>
        <p:spPr>
          <a:xfrm>
            <a:off x="457200" y="1798637"/>
            <a:ext cx="8229600" cy="4525963"/>
          </a:xfrm>
          <a:blipFill rotWithShape="1">
            <a:blip r:embed="rId2"/>
            <a:stretch>
              <a:fillRect l="-667" t="-808"/>
            </a:stretch>
          </a:blipFill>
        </p:spPr>
        <p:txBody>
          <a:bodyPr/>
          <a:lstStyle/>
          <a:p>
            <a:r>
              <a:rPr lang="en-US" dirty="0">
                <a:noFill/>
                <a:latin typeface="Times New Roman" pitchFamily="18" charset="0"/>
                <a:cs typeface="Times New Roman" pitchFamily="18" charset="0"/>
              </a:rPr>
              <a:t> </a:t>
            </a:r>
          </a:p>
        </p:txBody>
      </p:sp>
      <p:sp>
        <p:nvSpPr>
          <p:cNvPr id="4" name="Date Placeholder 3"/>
          <p:cNvSpPr>
            <a:spLocks noGrp="1"/>
          </p:cNvSpPr>
          <p:nvPr>
            <p:ph type="dt" sz="half" idx="10"/>
          </p:nvPr>
        </p:nvSpPr>
        <p:spPr/>
        <p:txBody>
          <a:bodyPr/>
          <a:lstStyle/>
          <a:p>
            <a:r>
              <a:rPr lang="en-US" smtClean="0"/>
              <a:t>20/10/2025</a:t>
            </a:r>
            <a:endParaRPr lang="en-US"/>
          </a:p>
        </p:txBody>
      </p:sp>
      <p:sp>
        <p:nvSpPr>
          <p:cNvPr id="5" name="Slide Number Placeholder 4"/>
          <p:cNvSpPr>
            <a:spLocks noGrp="1"/>
          </p:cNvSpPr>
          <p:nvPr>
            <p:ph type="sldNum" sz="quarter" idx="12"/>
          </p:nvPr>
        </p:nvSpPr>
        <p:spPr/>
        <p:txBody>
          <a:bodyPr/>
          <a:lstStyle/>
          <a:p>
            <a:fld id="{57735496-F72B-4276-AF3F-BDFBC2A621AD}" type="slidenum">
              <a:rPr lang="en-US" smtClean="0"/>
              <a:pPr/>
              <a:t>24</a:t>
            </a:fld>
            <a:endParaRPr lang="en-US"/>
          </a:p>
        </p:txBody>
      </p:sp>
    </p:spTree>
    <p:extLst>
      <p:ext uri="{BB962C8B-B14F-4D97-AF65-F5344CB8AC3E}">
        <p14:creationId xmlns:p14="http://schemas.microsoft.com/office/powerpoint/2010/main" val="1473328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i="1" dirty="0" smtClean="0">
                <a:solidFill>
                  <a:srgbClr val="002060"/>
                </a:solidFill>
                <a:latin typeface="Times New Roman" pitchFamily="18" charset="0"/>
                <a:cs typeface="Times New Roman" pitchFamily="18" charset="0"/>
              </a:rPr>
              <a:t>7.5.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đề</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tăng</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trưởng</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cho</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người</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nghèo</a:t>
            </a:r>
            <a:endParaRPr lang="en-US" sz="3600" dirty="0">
              <a:solidFill>
                <a:srgbClr val="00206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p:cNvSpPr/>
          <p:nvPr/>
        </p:nvSpPr>
        <p:spPr>
          <a:xfrm>
            <a:off x="897340" y="6172200"/>
            <a:ext cx="7543800" cy="369332"/>
          </a:xfrm>
          <a:prstGeom prst="rect">
            <a:avLst/>
          </a:prstGeom>
        </p:spPr>
        <p:txBody>
          <a:bodyPr wrap="square">
            <a:spAutoFit/>
          </a:bodyPr>
          <a:lstStyle/>
          <a:p>
            <a:r>
              <a:rPr lang="en-US" dirty="0" err="1" smtClean="0">
                <a:latin typeface="Times New Roman" pitchFamily="18" charset="0"/>
                <a:cs typeface="Times New Roman" pitchFamily="18" charset="0"/>
              </a:rPr>
              <a:t>Hệ</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co </a:t>
            </a:r>
            <a:r>
              <a:rPr lang="en-US" dirty="0" err="1">
                <a:latin typeface="Times New Roman" pitchFamily="18" charset="0"/>
                <a:cs typeface="Times New Roman" pitchFamily="18" charset="0"/>
              </a:rPr>
              <a:t>giãn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tỷ</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nghèo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trưởng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(2008 – 2010)</a:t>
            </a:r>
          </a:p>
        </p:txBody>
      </p:sp>
      <p:sp>
        <p:nvSpPr>
          <p:cNvPr id="3" name="Date Placeholder 2"/>
          <p:cNvSpPr>
            <a:spLocks noGrp="1"/>
          </p:cNvSpPr>
          <p:nvPr>
            <p:ph type="dt" sz="half" idx="10"/>
          </p:nvPr>
        </p:nvSpPr>
        <p:spPr/>
        <p:txBody>
          <a:bodyPr/>
          <a:lstStyle/>
          <a:p>
            <a:r>
              <a:rPr lang="en-US" smtClean="0"/>
              <a:t>20/10/2025</a:t>
            </a:r>
            <a:endParaRPr lang="en-US"/>
          </a:p>
        </p:txBody>
      </p:sp>
      <p:sp>
        <p:nvSpPr>
          <p:cNvPr id="6" name="Slide Number Placeholder 5"/>
          <p:cNvSpPr>
            <a:spLocks noGrp="1"/>
          </p:cNvSpPr>
          <p:nvPr>
            <p:ph type="sldNum" sz="quarter" idx="12"/>
          </p:nvPr>
        </p:nvSpPr>
        <p:spPr/>
        <p:txBody>
          <a:bodyPr/>
          <a:lstStyle/>
          <a:p>
            <a:fld id="{57735496-F72B-4276-AF3F-BDFBC2A621AD}" type="slidenum">
              <a:rPr lang="en-US" smtClean="0"/>
              <a:pPr/>
              <a:t>25</a:t>
            </a:fld>
            <a:endParaRPr lang="en-US"/>
          </a:p>
        </p:txBody>
      </p:sp>
    </p:spTree>
    <p:extLst>
      <p:ext uri="{BB962C8B-B14F-4D97-AF65-F5344CB8AC3E}">
        <p14:creationId xmlns:p14="http://schemas.microsoft.com/office/powerpoint/2010/main" val="11325680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i="1" dirty="0" smtClean="0">
                <a:solidFill>
                  <a:srgbClr val="002060"/>
                </a:solidFill>
                <a:latin typeface="Times New Roman" pitchFamily="18" charset="0"/>
                <a:cs typeface="Times New Roman" pitchFamily="18" charset="0"/>
              </a:rPr>
              <a:t>7.5.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đề</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tăng</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trưởng</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cho</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người</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nghèo</a:t>
            </a:r>
            <a:endParaRPr lang="en-US" sz="3600" dirty="0">
              <a:solidFill>
                <a:srgbClr val="00206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p:cNvSpPr/>
          <p:nvPr/>
        </p:nvSpPr>
        <p:spPr>
          <a:xfrm>
            <a:off x="838200" y="5867400"/>
            <a:ext cx="7620000" cy="369332"/>
          </a:xfrm>
          <a:prstGeom prst="rect">
            <a:avLst/>
          </a:prstGeom>
        </p:spPr>
        <p:txBody>
          <a:bodyPr wrap="square">
            <a:spAutoFit/>
          </a:bodyPr>
          <a:lstStyle/>
          <a:p>
            <a:r>
              <a:rPr lang="en-US" dirty="0" err="1" smtClean="0">
                <a:latin typeface="Times New Roman" pitchFamily="18" charset="0"/>
                <a:cs typeface="Times New Roman" pitchFamily="18" charset="0"/>
              </a:rPr>
              <a:t>Hệ</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số</a:t>
            </a:r>
            <a:r>
              <a:rPr lang="en-US" dirty="0">
                <a:latin typeface="Times New Roman" pitchFamily="18" charset="0"/>
                <a:cs typeface="Times New Roman" pitchFamily="18" charset="0"/>
              </a:rPr>
              <a:t> co </a:t>
            </a:r>
            <a:r>
              <a:rPr lang="en-US" dirty="0" err="1">
                <a:latin typeface="Times New Roman" pitchFamily="18" charset="0"/>
                <a:cs typeface="Times New Roman" pitchFamily="18" charset="0"/>
              </a:rPr>
              <a:t>giãn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sâu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nghèo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theo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tăng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trưởng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(2008 – 2010)</a:t>
            </a:r>
          </a:p>
        </p:txBody>
      </p:sp>
      <p:sp>
        <p:nvSpPr>
          <p:cNvPr id="3" name="Date Placeholder 2"/>
          <p:cNvSpPr>
            <a:spLocks noGrp="1"/>
          </p:cNvSpPr>
          <p:nvPr>
            <p:ph type="dt" sz="half" idx="10"/>
          </p:nvPr>
        </p:nvSpPr>
        <p:spPr/>
        <p:txBody>
          <a:bodyPr/>
          <a:lstStyle/>
          <a:p>
            <a:r>
              <a:rPr lang="en-US" smtClean="0"/>
              <a:t>20/10/2025</a:t>
            </a:r>
            <a:endParaRPr lang="en-US"/>
          </a:p>
        </p:txBody>
      </p:sp>
      <p:sp>
        <p:nvSpPr>
          <p:cNvPr id="6" name="Slide Number Placeholder 5"/>
          <p:cNvSpPr>
            <a:spLocks noGrp="1"/>
          </p:cNvSpPr>
          <p:nvPr>
            <p:ph type="sldNum" sz="quarter" idx="12"/>
          </p:nvPr>
        </p:nvSpPr>
        <p:spPr/>
        <p:txBody>
          <a:bodyPr/>
          <a:lstStyle/>
          <a:p>
            <a:fld id="{57735496-F72B-4276-AF3F-BDFBC2A621AD}" type="slidenum">
              <a:rPr lang="en-US" smtClean="0"/>
              <a:pPr/>
              <a:t>26</a:t>
            </a:fld>
            <a:endParaRPr lang="en-US"/>
          </a:p>
        </p:txBody>
      </p:sp>
    </p:spTree>
    <p:extLst>
      <p:ext uri="{BB962C8B-B14F-4D97-AF65-F5344CB8AC3E}">
        <p14:creationId xmlns:p14="http://schemas.microsoft.com/office/powerpoint/2010/main" val="4051648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b="1" i="1" dirty="0" smtClean="0">
                <a:solidFill>
                  <a:srgbClr val="002060"/>
                </a:solidFill>
                <a:latin typeface="Times New Roman" pitchFamily="18" charset="0"/>
                <a:cs typeface="Times New Roman" pitchFamily="18" charset="0"/>
              </a:rPr>
              <a:t>7.5. </a:t>
            </a:r>
            <a:r>
              <a:rPr lang="en-US" sz="3600" b="1" i="1" dirty="0" err="1" smtClean="0">
                <a:solidFill>
                  <a:srgbClr val="002060"/>
                </a:solidFill>
                <a:latin typeface="Times New Roman" pitchFamily="18" charset="0"/>
                <a:cs typeface="Times New Roman" pitchFamily="18" charset="0"/>
              </a:rPr>
              <a:t>Vấn</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đề</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tăng</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trưởng</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cho</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người</a:t>
            </a:r>
            <a:r>
              <a:rPr lang="en-US" sz="3600" b="1" i="1" dirty="0" smtClean="0">
                <a:solidFill>
                  <a:srgbClr val="002060"/>
                </a:solidFill>
                <a:latin typeface="Times New Roman" pitchFamily="18" charset="0"/>
                <a:cs typeface="Times New Roman" pitchFamily="18" charset="0"/>
              </a:rPr>
              <a:t> </a:t>
            </a:r>
            <a:r>
              <a:rPr lang="en-US" sz="3600" b="1" i="1" dirty="0" err="1" smtClean="0">
                <a:solidFill>
                  <a:srgbClr val="002060"/>
                </a:solidFill>
                <a:latin typeface="Times New Roman" pitchFamily="18" charset="0"/>
                <a:cs typeface="Times New Roman" pitchFamily="18" charset="0"/>
              </a:rPr>
              <a:t>nghèo</a:t>
            </a:r>
            <a:endParaRPr lang="en-US" sz="3600" dirty="0">
              <a:solidFill>
                <a:srgbClr val="002060"/>
              </a:solidFill>
              <a:latin typeface="Times New Roman" pitchFamily="18" charset="0"/>
              <a:cs typeface="Times New Roman" pitchFamily="18" charset="0"/>
            </a:endParaRP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p:cNvSpPr/>
          <p:nvPr/>
        </p:nvSpPr>
        <p:spPr>
          <a:xfrm>
            <a:off x="708547" y="6007290"/>
            <a:ext cx="8056728" cy="369332"/>
          </a:xfrm>
          <a:prstGeom prst="rect">
            <a:avLst/>
          </a:prstGeom>
        </p:spPr>
        <p:txBody>
          <a:bodyPr wrap="square">
            <a:spAutoFit/>
          </a:bodyPr>
          <a:lstStyle/>
          <a:p>
            <a:r>
              <a:rPr lang="en-US" dirty="0" err="1" smtClean="0">
                <a:latin typeface="Times New Roman" pitchFamily="18" charset="0"/>
                <a:cs typeface="Times New Roman" pitchFamily="18" charset="0"/>
              </a:rPr>
              <a:t>Tăng</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trưởng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tỷ</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giảm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bình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phương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hố</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sâu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nghèo</a:t>
            </a:r>
            <a:r>
              <a:rPr lang="en-US" dirty="0">
                <a:latin typeface="Times New Roman" pitchFamily="18" charset="0"/>
                <a:cs typeface="Times New Roman" pitchFamily="18" charset="0"/>
              </a:rPr>
              <a:t> (2008 – 2010)</a:t>
            </a:r>
          </a:p>
        </p:txBody>
      </p:sp>
      <p:sp>
        <p:nvSpPr>
          <p:cNvPr id="3" name="Date Placeholder 2"/>
          <p:cNvSpPr>
            <a:spLocks noGrp="1"/>
          </p:cNvSpPr>
          <p:nvPr>
            <p:ph type="dt" sz="half" idx="10"/>
          </p:nvPr>
        </p:nvSpPr>
        <p:spPr/>
        <p:txBody>
          <a:bodyPr/>
          <a:lstStyle/>
          <a:p>
            <a:r>
              <a:rPr lang="en-US" smtClean="0"/>
              <a:t>20/10/2025</a:t>
            </a:r>
            <a:endParaRPr lang="en-US"/>
          </a:p>
        </p:txBody>
      </p:sp>
      <p:sp>
        <p:nvSpPr>
          <p:cNvPr id="6" name="Slide Number Placeholder 5"/>
          <p:cNvSpPr>
            <a:spLocks noGrp="1"/>
          </p:cNvSpPr>
          <p:nvPr>
            <p:ph type="sldNum" sz="quarter" idx="12"/>
          </p:nvPr>
        </p:nvSpPr>
        <p:spPr/>
        <p:txBody>
          <a:bodyPr/>
          <a:lstStyle/>
          <a:p>
            <a:fld id="{57735496-F72B-4276-AF3F-BDFBC2A621AD}" type="slidenum">
              <a:rPr lang="en-US" smtClean="0"/>
              <a:pPr/>
              <a:t>27</a:t>
            </a:fld>
            <a:endParaRPr lang="en-US"/>
          </a:p>
        </p:txBody>
      </p:sp>
    </p:spTree>
    <p:extLst>
      <p:ext uri="{BB962C8B-B14F-4D97-AF65-F5344CB8AC3E}">
        <p14:creationId xmlns:p14="http://schemas.microsoft.com/office/powerpoint/2010/main" val="31678849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TotalTime>
  <Words>2514</Words>
  <Application>Microsoft Office PowerPoint</Application>
  <PresentationFormat>On-screen Show (4:3)</PresentationFormat>
  <Paragraphs>373</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ＭＳ Ｐゴシック</vt:lpstr>
      <vt:lpstr>Arial</vt:lpstr>
      <vt:lpstr>Calibri</vt:lpstr>
      <vt:lpstr>Georgia</vt:lpstr>
      <vt:lpstr>Times New Roman</vt:lpstr>
      <vt:lpstr>Office Theme</vt:lpstr>
      <vt:lpstr>Amartya Sen (Nobel prize, 1998)</vt:lpstr>
      <vt:lpstr> Công nghiệp hóa: Trường hợp Việt Nam</vt:lpstr>
      <vt:lpstr>1. Chiến lược công nghiệp hóa là gì?</vt:lpstr>
      <vt:lpstr>2. Con đường thực hiện chiến lược </vt:lpstr>
      <vt:lpstr>3. Trọng tâm</vt:lpstr>
      <vt:lpstr>4. Vai trò của chính phủ </vt:lpstr>
      <vt:lpstr>5. Các nước công nghiệp hóa trên thế giới</vt:lpstr>
      <vt:lpstr>6. Đặc điểm của các nước công nghiệp hóa </vt:lpstr>
      <vt:lpstr>7. Các đánh giá về chiến lược công nghiệp hóa ở Việt Nam  </vt:lpstr>
      <vt:lpstr>7.1 Vấn đề can thiệp của chính phủ </vt:lpstr>
      <vt:lpstr>7.1 Vấn đề can thiệp của chính phủ </vt:lpstr>
      <vt:lpstr>7.1 Vấn đề can thiệp của chính phủ </vt:lpstr>
      <vt:lpstr>7.2 Vấn đề năng suất lao động trong nông nghiệp Việt Nam </vt:lpstr>
      <vt:lpstr>7.3. Vấn đề giao thông </vt:lpstr>
      <vt:lpstr>7.3. Vấn đề giao thông ở Việt Nam </vt:lpstr>
      <vt:lpstr>7.3. Vấn đề giao thông ở Việt Nam </vt:lpstr>
      <vt:lpstr>7.4 Vấn đề thể chế ở Việt Nam</vt:lpstr>
      <vt:lpstr>Giai đoạn phát triển và thể chế </vt:lpstr>
      <vt:lpstr>7.4. Vấn đề thể chế ở Việt Nam</vt:lpstr>
      <vt:lpstr>7.4. Vấn đề thể chế ở Việt Nam</vt:lpstr>
      <vt:lpstr>7.4. Vấn đề thể chế ở Việt Nam</vt:lpstr>
      <vt:lpstr>7.4. Vấn đề thể chế ở Việt Nam</vt:lpstr>
      <vt:lpstr>7.4. Vấn đề thể chế ở Việt Nam</vt:lpstr>
      <vt:lpstr>7.5. Vấn đề tăng trưởng cho người nghèo</vt:lpstr>
      <vt:lpstr>7.5. Vấn đề tăng trưởng cho người nghèo</vt:lpstr>
      <vt:lpstr>7.5. Vấn đề tăng trưởng cho người nghèo</vt:lpstr>
      <vt:lpstr>7.5. Vấn đề tăng trưởng cho người nghèo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 đường gập gềnh thực hiện chiến lược công nghiệp hóa  Việt Nam, giai đoạn 1986 – 2012</dc:title>
  <dc:creator>ACER PC</dc:creator>
  <cp:lastModifiedBy>NHB</cp:lastModifiedBy>
  <cp:revision>72</cp:revision>
  <dcterms:created xsi:type="dcterms:W3CDTF">2014-01-20T04:03:29Z</dcterms:created>
  <dcterms:modified xsi:type="dcterms:W3CDTF">2025-10-20T11:10:57Z</dcterms:modified>
</cp:coreProperties>
</file>